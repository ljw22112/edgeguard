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b70b6ab-6800-af14-522e-8ae59b2de156}">
          <p14:sldIdLst>
            <p14:sldId id="256"/>
            <p14:sldId id="257"/>
          </p14:sldIdLst>
        </p14:section>
        <p14:section name="Use case" id="{a7b35ba3-32c3-f3d0-4122-73c20cdec208}">
          <p14:sldIdLst>
            <p14:sldId id="258"/>
            <p14:sldId id="259"/>
            <p14:sldId id="260"/>
          </p14:sldIdLst>
        </p14:section>
        <p14:section name="Architecture" id="{b5bd2da9-d697-d5f6-31d7-e9f566840e7e}">
          <p14:sldIdLst>
            <p14:sldId id="261"/>
            <p14:sldId id="262"/>
            <p14:sldId id="263"/>
            <p14:sldId id="264"/>
            <p14:sldId id="265"/>
            <p14:sldId id="266"/>
            <p14:sldId id="267"/>
          </p14:sldIdLst>
        </p14:section>
        <p14:section name="Status and plan" id="{32deb244-a910-1755-49ef-825c3370d96e}">
          <p14:sldIdLst>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EdgeGuard interim report: use case, high-level oneM2M + ETSI MEC architecture, and the development plan to the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per required item: use case, architecture, current status, development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scenario. Over 2,500 forklift casualties in two years in Korea; one injury costs about USD 116k. Proximity alarms exist but produce mostly false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concrete moments define the requirements: a blind-corner crossing, a standoff with the worker in the forklift lane, and a network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requirements follow the ESTIMED themes: low latency, local processing, context awareness, service continuity, orchestration, distributed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option C of the ESTIMED continuum: oneM2M MN-CSE and the MEC app share the MEC host. Devices talk Mca to the edge CSE; the CSE notifies the MEC app; alerts go back the same way. MEC Location and RNIS reach the app as oneM2M resources through the MEC-IPE. The edge CSE registers with the cloud IN-CSE over Mcc for dashboards and other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warehouse zone has its own MEC host with an MN-CSE and the EdgeGuard MEC app. The MN-CSEs register with the IN-CSE over Mcc. Devices hand over between zones; the IN-CSE keeps their home records, the federated learning coordinator and the AI safety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device registers its own AE with its own ACP. The MEC app's decisions are oneM2M resources in its own AE, so any oneM2M app can subscribe. Planned additions target the rubric: FlexContainer, discovery, group, pollingChannel, announcement.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 services reach the application through oneM2M via the MEC-IPE. The MEC app is deployed on AdvantEDGE with a custom warehouse scenario and connected to the public ETSI MEC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each TR-0077 clause 7 gap maps to a working EdgeGuard feature, with its CI evidence. EdgeGuard is deployment option C per zone with an IN-CSE in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PoC's mobility slide, for a warehouse: the forklift drives across two zones; the MEC platform detects the zone change; the MEC-IPE writes it into oneM2M; the forklift's twin moves to zone B's MN-CSE. Signal strength of both cells comes from RNIS through the same IPE. Interactive version: docs/img/mobility_map.html.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from a position to a confirmed cue, all through oneM2M resources and subscriptions. If the MEC app goes silent, devices degrade gracefully to local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already works, with evidence. Numbers are from closed-loop simulation against our own first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original technical plan is already built and verified in CI on every commit, including all four TR-0077 clause 7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milestones to the November 20 code freeze, ordered by rubric impact. Hardware, user study and communication work run in parallel from Nov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milestone names its deliverables, the rubric criteria it targets, and an acceptance check we can demonstrate.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risks and how we contain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r>
              <a:rPr lang="en-US" sz="4800" b="1" dirty="0">
                <a:solidFill>
                  <a:schemeClr val="bg1"/>
                </a:solidFill>
              </a:rPr>
              <a:t>Title</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r>
              <a:rPr lang="en-US" sz="3000" b="1" dirty="0">
                <a:solidFill>
                  <a:schemeClr val="tx2"/>
                </a:solidFill>
              </a:rPr>
              <a:t>Title</a:t>
            </a: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EdgeGuard  ·  Interim use case and architecture report  ·  2026 oneM2M Hackathon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lIns="0" tIns="0" rIns="0" bIns="0" rtlCol="0" anchor="b"/>
          <a:lstStyle/>
          <a:p>
            <a:pPr algn="l" indent="0" marL="0">
              <a:buNone/>
            </a:pPr>
            <a:r>
              <a:rPr lang="en-US" sz="4800" b="1" dirty="0">
                <a:solidFill>
                  <a:schemeClr val="bg1"/>
                </a:solidFill>
              </a:rPr>
              <a:t>EdgeGuard</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lIns="0" tIns="0" rIns="0" bIns="0" rtlCol="0" anchor="t"/>
          <a:lstStyle/>
          <a:p>
            <a:pPr algn="l" indent="0" marL="0">
              <a:buNone/>
            </a:pPr>
            <a:r>
              <a:rPr lang="en-US" sz="2000" dirty="0">
                <a:solidFill>
                  <a:schemeClr val="bg2"/>
                </a:solidFill>
              </a:rPr>
              <a:t>Interim Use Case and Architecture Report</a:t>
            </a:r>
            <a:endParaRPr lang="en-US" sz="2000" dirty="0"/>
          </a:p>
          <a:p>
            <a:pPr algn="l" indent="0" marL="0">
              <a:buNone/>
            </a:pPr>
            <a:r>
              <a:rPr lang="en-US" sz="2000" dirty="0">
                <a:solidFill>
                  <a:schemeClr val="bg2"/>
                </a:solidFill>
              </a:rPr>
              <a:t>MEC-based worker–forklift collision prediction with oneM2M and ETSI MEC</a:t>
            </a:r>
            <a:endParaRPr lang="en-US" sz="2000" dirty="0"/>
          </a:p>
        </p:txBody>
      </p:sp>
      <p:sp>
        <p:nvSpPr>
          <p:cNvPr id="4" name="event line"/>
          <p:cNvSpPr txBox="1"/>
          <p:nvPr/>
        </p:nvSpPr>
        <p:spPr>
          <a:xfrm>
            <a:off x="731520" y="5852160"/>
            <a:ext cx="9144000" cy="365760"/>
          </a:xfrm>
          <a:prstGeom prst="rect">
            <a:avLst/>
          </a:prstGeom>
          <a:noFill/>
          <a:ln/>
        </p:spPr>
        <p:txBody>
          <a:bodyPr wrap="square" lIns="0" tIns="0" rIns="0" bIns="0" rtlCol="0" anchor="ctr"/>
          <a:lstStyle/>
          <a:p>
            <a:pPr indent="0" marL="0">
              <a:buNone/>
            </a:pPr>
            <a:r>
              <a:rPr lang="en-US" sz="1400" dirty="0">
                <a:solidFill>
                  <a:schemeClr val="accent1"/>
                </a:solidFill>
              </a:rPr>
              <a:t>2026 oneM2M International Hackathon  ·  Team EdgeGuard  ·  Sejong University  ·  October 2026</a:t>
            </a:r>
            <a:endParaRPr lang="en-US" sz="1400" dirty="0"/>
          </a:p>
        </p:txBody>
      </p:sp>
      <p:sp>
        <p:nvSpPr>
          <p:cNvPr id="5" name="cue band WAIT"/>
          <p:cNvSpPr/>
          <p:nvPr/>
        </p:nvSpPr>
        <p:spPr>
          <a:xfrm>
            <a:off x="9784080" y="0"/>
            <a:ext cx="777240" cy="6858000"/>
          </a:xfrm>
          <a:prstGeom prst="rect">
            <a:avLst/>
          </a:prstGeom>
          <a:solidFill>
            <a:schemeClr val="accent3"/>
          </a:solidFill>
          <a:ln w="12700">
            <a:solidFill>
              <a:schemeClr val="accent3"/>
            </a:solidFill>
            <a:prstDash val="solid"/>
          </a:ln>
        </p:spPr>
      </p:sp>
      <p:sp>
        <p:nvSpPr>
          <p:cNvPr id="6" name="cue label WAIT"/>
          <p:cNvSpPr txBox="1"/>
          <p:nvPr/>
        </p:nvSpPr>
        <p:spPr>
          <a:xfrm>
            <a:off x="978408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WAIT</a:t>
            </a:r>
            <a:endParaRPr lang="en-US" sz="1400" dirty="0"/>
          </a:p>
        </p:txBody>
      </p:sp>
      <p:sp>
        <p:nvSpPr>
          <p:cNvPr id="7" name="cue band ASIDE"/>
          <p:cNvSpPr/>
          <p:nvPr/>
        </p:nvSpPr>
        <p:spPr>
          <a:xfrm>
            <a:off x="10561320" y="0"/>
            <a:ext cx="777240" cy="6858000"/>
          </a:xfrm>
          <a:prstGeom prst="rect">
            <a:avLst/>
          </a:prstGeom>
          <a:solidFill>
            <a:schemeClr val="accent4"/>
          </a:solidFill>
          <a:ln w="12700">
            <a:solidFill>
              <a:schemeClr val="accent4"/>
            </a:solidFill>
            <a:prstDash val="solid"/>
          </a:ln>
        </p:spPr>
      </p:sp>
      <p:sp>
        <p:nvSpPr>
          <p:cNvPr id="8" name="cue label ASIDE"/>
          <p:cNvSpPr txBox="1"/>
          <p:nvPr/>
        </p:nvSpPr>
        <p:spPr>
          <a:xfrm>
            <a:off x="1056132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ASIDE</a:t>
            </a:r>
            <a:endParaRPr lang="en-US" sz="1400" dirty="0"/>
          </a:p>
        </p:txBody>
      </p:sp>
      <p:sp>
        <p:nvSpPr>
          <p:cNvPr id="9" name="cue band GO"/>
          <p:cNvSpPr/>
          <p:nvPr/>
        </p:nvSpPr>
        <p:spPr>
          <a:xfrm>
            <a:off x="11338560" y="0"/>
            <a:ext cx="777240" cy="6858000"/>
          </a:xfrm>
          <a:prstGeom prst="rect">
            <a:avLst/>
          </a:prstGeom>
          <a:solidFill>
            <a:schemeClr val="accent5"/>
          </a:solidFill>
          <a:ln w="12700">
            <a:solidFill>
              <a:schemeClr val="accent5"/>
            </a:solidFill>
            <a:prstDash val="solid"/>
          </a:ln>
        </p:spPr>
      </p:sp>
      <p:sp>
        <p:nvSpPr>
          <p:cNvPr id="10" name="cue label GO"/>
          <p:cNvSpPr txBox="1"/>
          <p:nvPr/>
        </p:nvSpPr>
        <p:spPr>
          <a:xfrm>
            <a:off x="1133856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GO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Summary</a:t>
            </a:r>
            <a:endParaRPr lang="en-US" sz="3000" dirty="0"/>
          </a:p>
        </p:txBody>
      </p:sp>
      <p:sp>
        <p:nvSpPr>
          <p:cNvPr id="3" name="summary card Use case"/>
          <p:cNvSpPr/>
          <p:nvPr/>
        </p:nvSpPr>
        <p:spPr>
          <a:xfrm>
            <a:off x="548640" y="1325880"/>
            <a:ext cx="5440680" cy="2286000"/>
          </a:xfrm>
          <a:prstGeom prst="roundRect">
            <a:avLst>
              <a:gd name="adj" fmla="val 3200"/>
            </a:avLst>
          </a:prstGeom>
          <a:solidFill>
            <a:schemeClr val="bg2"/>
          </a:solidFill>
          <a:ln w="12700">
            <a:solidFill>
              <a:schemeClr val="bg2"/>
            </a:solidFill>
            <a:prstDash val="solid"/>
          </a:ln>
        </p:spPr>
      </p:sp>
      <p:sp>
        <p:nvSpPr>
          <p:cNvPr id="4" name="summary head Use case"/>
          <p:cNvSpPr txBox="1"/>
          <p:nvPr/>
        </p:nvSpPr>
        <p:spPr>
          <a:xfrm>
            <a:off x="822960" y="155448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Use case</a:t>
            </a:r>
            <a:endParaRPr lang="en-US" sz="2000" dirty="0"/>
          </a:p>
        </p:txBody>
      </p:sp>
      <p:sp>
        <p:nvSpPr>
          <p:cNvPr id="5" name="summary body Use case"/>
          <p:cNvSpPr txBox="1"/>
          <p:nvPr/>
        </p:nvSpPr>
        <p:spPr>
          <a:xfrm>
            <a:off x="822960" y="2057400"/>
            <a:ext cx="4892040" cy="1371600"/>
          </a:xfrm>
          <a:prstGeom prst="rect">
            <a:avLst/>
          </a:prstGeom>
          <a:noFill/>
          <a:ln/>
        </p:spPr>
        <p:txBody>
          <a:bodyPr wrap="square" lIns="0" tIns="0" rIns="0" bIns="0" rtlCol="0" anchor="t"/>
          <a:lstStyle/>
          <a:p>
            <a:pPr indent="0" marL="0">
              <a:buNone/>
            </a:pPr>
            <a:r>
              <a:rPr lang="en-US" sz="1500" dirty="0">
                <a:solidFill>
                  <a:schemeClr val="tx1"/>
                </a:solidFill>
              </a:rPr>
              <a:t>Warehouse workers and forklifts share aisles. EdgeGuard predicts collisions 1–3 s ahead on the MEC edge and tells each worker WAIT, STEP ASIDE or GO, while the forklift slows only as much as needed.</a:t>
            </a:r>
            <a:endParaRPr lang="en-US" sz="1500" dirty="0"/>
          </a:p>
        </p:txBody>
      </p:sp>
      <p:sp>
        <p:nvSpPr>
          <p:cNvPr id="6" name="summary card Architecture"/>
          <p:cNvSpPr/>
          <p:nvPr/>
        </p:nvSpPr>
        <p:spPr>
          <a:xfrm>
            <a:off x="6172200" y="1325880"/>
            <a:ext cx="5440680" cy="2286000"/>
          </a:xfrm>
          <a:prstGeom prst="roundRect">
            <a:avLst>
              <a:gd name="adj" fmla="val 3200"/>
            </a:avLst>
          </a:prstGeom>
          <a:solidFill>
            <a:schemeClr val="bg2"/>
          </a:solidFill>
          <a:ln w="12700">
            <a:solidFill>
              <a:schemeClr val="bg2"/>
            </a:solidFill>
            <a:prstDash val="solid"/>
          </a:ln>
        </p:spPr>
      </p:sp>
      <p:sp>
        <p:nvSpPr>
          <p:cNvPr id="7" name="summary head Architecture"/>
          <p:cNvSpPr txBox="1"/>
          <p:nvPr/>
        </p:nvSpPr>
        <p:spPr>
          <a:xfrm>
            <a:off x="6446520" y="155448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Architecture</a:t>
            </a:r>
            <a:endParaRPr lang="en-US" sz="2000" dirty="0"/>
          </a:p>
        </p:txBody>
      </p:sp>
      <p:sp>
        <p:nvSpPr>
          <p:cNvPr id="8" name="summary body Architecture"/>
          <p:cNvSpPr txBox="1"/>
          <p:nvPr/>
        </p:nvSpPr>
        <p:spPr>
          <a:xfrm>
            <a:off x="6446520" y="2057400"/>
            <a:ext cx="4892040" cy="1371600"/>
          </a:xfrm>
          <a:prstGeom prst="rect">
            <a:avLst/>
          </a:prstGeom>
          <a:noFill/>
          <a:ln/>
        </p:spPr>
        <p:txBody>
          <a:bodyPr wrap="square" lIns="0" tIns="0" rIns="0" bIns="0" rtlCol="0" anchor="t"/>
          <a:lstStyle/>
          <a:p>
            <a:pPr indent="0" marL="0">
              <a:buNone/>
            </a:pPr>
            <a:r>
              <a:rPr lang="en-US" sz="1500" dirty="0">
                <a:solidFill>
                  <a:schemeClr val="tx1"/>
                </a:solidFill>
              </a:rPr>
              <a:t>Devices register their own oneM2M AEs on an edge CSE co-located with the EdgeGuard MEC app. ETSI MEC Location and RNIS reach the app as oneM2M resources through a MEC-IPE. Cloud IN-CSE via Mcc.</a:t>
            </a:r>
            <a:endParaRPr lang="en-US" sz="1500" dirty="0"/>
          </a:p>
        </p:txBody>
      </p:sp>
      <p:sp>
        <p:nvSpPr>
          <p:cNvPr id="9" name="summary card Status today"/>
          <p:cNvSpPr/>
          <p:nvPr/>
        </p:nvSpPr>
        <p:spPr>
          <a:xfrm>
            <a:off x="548640" y="3794760"/>
            <a:ext cx="5440680" cy="2286000"/>
          </a:xfrm>
          <a:prstGeom prst="roundRect">
            <a:avLst>
              <a:gd name="adj" fmla="val 3200"/>
            </a:avLst>
          </a:prstGeom>
          <a:solidFill>
            <a:schemeClr val="bg2"/>
          </a:solidFill>
          <a:ln w="12700">
            <a:solidFill>
              <a:schemeClr val="bg2"/>
            </a:solidFill>
            <a:prstDash val="solid"/>
          </a:ln>
        </p:spPr>
      </p:sp>
      <p:sp>
        <p:nvSpPr>
          <p:cNvPr id="10" name="summary head Status today"/>
          <p:cNvSpPr txBox="1"/>
          <p:nvPr/>
        </p:nvSpPr>
        <p:spPr>
          <a:xfrm>
            <a:off x="822960" y="402336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Status today</a:t>
            </a:r>
            <a:endParaRPr lang="en-US" sz="2000" dirty="0"/>
          </a:p>
        </p:txBody>
      </p:sp>
      <p:sp>
        <p:nvSpPr>
          <p:cNvPr id="11" name="summary body Status today"/>
          <p:cNvSpPr txBox="1"/>
          <p:nvPr/>
        </p:nvSpPr>
        <p:spPr>
          <a:xfrm>
            <a:off x="822960" y="4526280"/>
            <a:ext cx="4892040" cy="1371600"/>
          </a:xfrm>
          <a:prstGeom prst="rect">
            <a:avLst/>
          </a:prstGeom>
          <a:noFill/>
          <a:ln/>
        </p:spPr>
        <p:txBody>
          <a:bodyPr wrap="square" lIns="0" tIns="0" rIns="0" bIns="0" rtlCol="0" anchor="t"/>
          <a:lstStyle/>
          <a:p>
            <a:pPr indent="0" marL="0">
              <a:buNone/>
            </a:pPr>
            <a:r>
              <a:rPr lang="en-US" sz="1500" dirty="0">
                <a:solidFill>
                  <a:schemeClr val="tx1"/>
                </a:solidFill>
              </a:rPr>
              <a:t>Working end to end on Mobius and ACME, with all four TR-0077 clause 7 features demonstrated in CI: MEC interworking and app orchestration (7.1), handover triggered by MEC zone events (7.2), federated learning with model delivery and rollback (7.3), forklift swarm (7.4). Collisions 100 → 4 in simulation.</a:t>
            </a:r>
            <a:endParaRPr lang="en-US" sz="1500" dirty="0"/>
          </a:p>
        </p:txBody>
      </p:sp>
      <p:sp>
        <p:nvSpPr>
          <p:cNvPr id="12" name="summary card Plan to Nov 20"/>
          <p:cNvSpPr/>
          <p:nvPr/>
        </p:nvSpPr>
        <p:spPr>
          <a:xfrm>
            <a:off x="6172200" y="3794760"/>
            <a:ext cx="5440680" cy="2286000"/>
          </a:xfrm>
          <a:prstGeom prst="roundRect">
            <a:avLst>
              <a:gd name="adj" fmla="val 3200"/>
            </a:avLst>
          </a:prstGeom>
          <a:solidFill>
            <a:schemeClr val="bg2"/>
          </a:solidFill>
          <a:ln w="12700">
            <a:solidFill>
              <a:schemeClr val="bg2"/>
            </a:solidFill>
            <a:prstDash val="solid"/>
          </a:ln>
        </p:spPr>
      </p:sp>
      <p:sp>
        <p:nvSpPr>
          <p:cNvPr id="13" name="summary head Plan to Nov 20"/>
          <p:cNvSpPr txBox="1"/>
          <p:nvPr/>
        </p:nvSpPr>
        <p:spPr>
          <a:xfrm>
            <a:off x="6446520" y="4023360"/>
            <a:ext cx="4892040" cy="411480"/>
          </a:xfrm>
          <a:prstGeom prst="rect">
            <a:avLst/>
          </a:prstGeom>
          <a:noFill/>
          <a:ln/>
        </p:spPr>
        <p:txBody>
          <a:bodyPr wrap="square" lIns="0" tIns="0" rIns="0" bIns="0" rtlCol="0" anchor="ctr"/>
          <a:lstStyle/>
          <a:p>
            <a:pPr indent="0" marL="0">
              <a:buNone/>
            </a:pPr>
            <a:r>
              <a:rPr lang="en-US" sz="2000" b="1" dirty="0">
                <a:solidFill>
                  <a:schemeClr val="accent2"/>
                </a:solidFill>
              </a:rPr>
              <a:t>Plan to Nov 20</a:t>
            </a:r>
            <a:endParaRPr lang="en-US" sz="2000" dirty="0"/>
          </a:p>
        </p:txBody>
      </p:sp>
      <p:sp>
        <p:nvSpPr>
          <p:cNvPr id="14" name="summary body Plan to Nov 20"/>
          <p:cNvSpPr txBox="1"/>
          <p:nvPr/>
        </p:nvSpPr>
        <p:spPr>
          <a:xfrm>
            <a:off x="6446520" y="4526280"/>
            <a:ext cx="4892040" cy="1371600"/>
          </a:xfrm>
          <a:prstGeom prst="rect">
            <a:avLst/>
          </a:prstGeom>
          <a:noFill/>
          <a:ln/>
        </p:spPr>
        <p:txBody>
          <a:bodyPr wrap="square" lIns="0" tIns="0" rIns="0" bIns="0" rtlCol="0" anchor="t"/>
          <a:lstStyle/>
          <a:p>
            <a:pPr indent="0" marL="0">
              <a:buNone/>
            </a:pPr>
            <a:r>
              <a:rPr lang="en-US" sz="1500" dirty="0">
                <a:solidFill>
                  <a:schemeClr val="tx1"/>
                </a:solidFill>
              </a:rPr>
              <a:t>Run on the ESTIMED VM and the ETSI Sandbox subscription APIs; MQTT in the ESP32 firmware; ESP32 board demo and user study. Done Oct 11: hackster.io article, final video, public repository.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Problem: forklifts and people share the same aisles</a:t>
            </a:r>
            <a:endParaRPr lang="en-US" sz="3000" dirty="0"/>
          </a:p>
        </p:txBody>
      </p:sp>
      <p:sp>
        <p:nvSpPr>
          <p:cNvPr id="3" name="stat card 0"/>
          <p:cNvSpPr/>
          <p:nvPr/>
        </p:nvSpPr>
        <p:spPr>
          <a:xfrm>
            <a:off x="548640" y="1371600"/>
            <a:ext cx="3566160" cy="3108960"/>
          </a:xfrm>
          <a:prstGeom prst="roundRect">
            <a:avLst>
              <a:gd name="adj" fmla="val 2353"/>
            </a:avLst>
          </a:prstGeom>
          <a:solidFill>
            <a:schemeClr val="bg2"/>
          </a:solidFill>
          <a:ln w="12700">
            <a:solidFill>
              <a:schemeClr val="bg2"/>
            </a:solidFill>
            <a:prstDash val="solid"/>
          </a:ln>
        </p:spPr>
      </p:sp>
      <p:sp>
        <p:nvSpPr>
          <p:cNvPr id="4" name="stat number 0"/>
          <p:cNvSpPr txBox="1"/>
          <p:nvPr/>
        </p:nvSpPr>
        <p:spPr>
          <a:xfrm>
            <a:off x="82296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2,559</a:t>
            </a:r>
            <a:endParaRPr lang="en-US" sz="4400" dirty="0"/>
          </a:p>
        </p:txBody>
      </p:sp>
      <p:sp>
        <p:nvSpPr>
          <p:cNvPr id="5" name="stat label 0"/>
          <p:cNvSpPr txBox="1"/>
          <p:nvPr/>
        </p:nvSpPr>
        <p:spPr>
          <a:xfrm>
            <a:off x="82296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forklift accident casualties in Korea, 2021–2022</a:t>
            </a:r>
            <a:endParaRPr lang="en-US" sz="1600" dirty="0"/>
          </a:p>
        </p:txBody>
      </p:sp>
      <p:sp>
        <p:nvSpPr>
          <p:cNvPr id="6" name="stat source 0"/>
          <p:cNvSpPr txBox="1"/>
          <p:nvPr/>
        </p:nvSpPr>
        <p:spPr>
          <a:xfrm>
            <a:off x="82296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KOSHA statistics</a:t>
            </a:r>
            <a:endParaRPr lang="en-US" sz="1100" dirty="0"/>
          </a:p>
        </p:txBody>
      </p:sp>
      <p:sp>
        <p:nvSpPr>
          <p:cNvPr id="7" name="stat card 1"/>
          <p:cNvSpPr/>
          <p:nvPr/>
        </p:nvSpPr>
        <p:spPr>
          <a:xfrm>
            <a:off x="4297680" y="1371600"/>
            <a:ext cx="3566160" cy="3108960"/>
          </a:xfrm>
          <a:prstGeom prst="roundRect">
            <a:avLst>
              <a:gd name="adj" fmla="val 2353"/>
            </a:avLst>
          </a:prstGeom>
          <a:solidFill>
            <a:schemeClr val="bg2"/>
          </a:solidFill>
          <a:ln w="12700">
            <a:solidFill>
              <a:schemeClr val="bg2"/>
            </a:solidFill>
            <a:prstDash val="solid"/>
          </a:ln>
        </p:spPr>
      </p:sp>
      <p:sp>
        <p:nvSpPr>
          <p:cNvPr id="8" name="stat number 1"/>
          <p:cNvSpPr txBox="1"/>
          <p:nvPr/>
        </p:nvSpPr>
        <p:spPr>
          <a:xfrm>
            <a:off x="457200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USD 116k</a:t>
            </a:r>
            <a:endParaRPr lang="en-US" sz="4400" dirty="0"/>
          </a:p>
        </p:txBody>
      </p:sp>
      <p:sp>
        <p:nvSpPr>
          <p:cNvPr id="9" name="stat label 1"/>
          <p:cNvSpPr txBox="1"/>
          <p:nvPr/>
        </p:nvSpPr>
        <p:spPr>
          <a:xfrm>
            <a:off x="457200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total cost of one workplace injury, including indirect costs</a:t>
            </a:r>
            <a:endParaRPr lang="en-US" sz="1600" dirty="0"/>
          </a:p>
        </p:txBody>
      </p:sp>
      <p:sp>
        <p:nvSpPr>
          <p:cNvPr id="10" name="stat source 1"/>
          <p:cNvSpPr txBox="1"/>
          <p:nvPr/>
        </p:nvSpPr>
        <p:spPr>
          <a:xfrm>
            <a:off x="457200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NSC Injury Facts · OSHA 3885</a:t>
            </a:r>
            <a:endParaRPr lang="en-US" sz="1100" dirty="0"/>
          </a:p>
        </p:txBody>
      </p:sp>
      <p:sp>
        <p:nvSpPr>
          <p:cNvPr id="11" name="stat card 2"/>
          <p:cNvSpPr/>
          <p:nvPr/>
        </p:nvSpPr>
        <p:spPr>
          <a:xfrm>
            <a:off x="8046720" y="1371600"/>
            <a:ext cx="3566160" cy="3108960"/>
          </a:xfrm>
          <a:prstGeom prst="roundRect">
            <a:avLst>
              <a:gd name="adj" fmla="val 2353"/>
            </a:avLst>
          </a:prstGeom>
          <a:solidFill>
            <a:schemeClr val="bg2"/>
          </a:solidFill>
          <a:ln w="12700">
            <a:solidFill>
              <a:schemeClr val="bg2"/>
            </a:solidFill>
            <a:prstDash val="solid"/>
          </a:ln>
        </p:spPr>
      </p:sp>
      <p:sp>
        <p:nvSpPr>
          <p:cNvPr id="12" name="stat number 2"/>
          <p:cNvSpPr txBox="1"/>
          <p:nvPr/>
        </p:nvSpPr>
        <p:spPr>
          <a:xfrm>
            <a:off x="832104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85 %</a:t>
            </a:r>
            <a:endParaRPr lang="en-US" sz="4400" dirty="0"/>
          </a:p>
        </p:txBody>
      </p:sp>
      <p:sp>
        <p:nvSpPr>
          <p:cNvPr id="13" name="stat label 2"/>
          <p:cNvSpPr txBox="1"/>
          <p:nvPr/>
        </p:nvSpPr>
        <p:spPr>
          <a:xfrm>
            <a:off x="832104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of alerts from a 5 m proximity alarm are false, so workers learn to ignore them</a:t>
            </a:r>
            <a:endParaRPr lang="en-US" sz="1600" dirty="0"/>
          </a:p>
        </p:txBody>
      </p:sp>
      <p:sp>
        <p:nvSpPr>
          <p:cNvPr id="14" name="stat source 2"/>
          <p:cNvSpPr txBox="1"/>
          <p:nvPr/>
        </p:nvSpPr>
        <p:spPr>
          <a:xfrm>
            <a:off x="832104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EdgeGuard simulation baseline</a:t>
            </a:r>
            <a:endParaRPr lang="en-US" sz="1100" dirty="0"/>
          </a:p>
        </p:txBody>
      </p:sp>
      <p:sp>
        <p:nvSpPr>
          <p:cNvPr id="15" name="gap statement"/>
          <p:cNvSpPr txBox="1"/>
          <p:nvPr/>
        </p:nvSpPr>
        <p:spPr>
          <a:xfrm>
            <a:off x="548640" y="4800600"/>
            <a:ext cx="11064240" cy="1188720"/>
          </a:xfrm>
          <a:prstGeom prst="rect">
            <a:avLst/>
          </a:prstGeom>
          <a:noFill/>
          <a:ln/>
        </p:spPr>
        <p:txBody>
          <a:bodyPr wrap="square" lIns="0" tIns="0" rIns="0" bIns="0" rtlCol="0" anchor="t"/>
          <a:lstStyle/>
          <a:p>
            <a:pPr indent="0" marL="0">
              <a:buNone/>
            </a:pPr>
            <a:r>
              <a:rPr lang="en-US" sz="1600" b="1" dirty="0">
                <a:solidFill>
                  <a:schemeClr val="tx2"/>
                </a:solidFill>
              </a:rPr>
              <a:t>Why existing systems fall short: </a:t>
            </a:r>
            <a:pPr indent="0" marL="0">
              <a:buNone/>
            </a:pPr>
            <a:r>
              <a:rPr lang="en-US" sz="1600" dirty="0">
                <a:solidFill>
                  <a:schemeClr val="tx1"/>
                </a:solidFill>
              </a:rPr>
              <a:t>distance alarms fire on forklifts that will pass safely; a single buzz says "danger" but not what to do, so workers step back into the lane too early; and server-based systems go silent when the network fails.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Use-case scenario: three moments in a warehouse aisle</a:t>
            </a:r>
            <a:endParaRPr lang="en-US" sz="3000" dirty="0"/>
          </a:p>
        </p:txBody>
      </p:sp>
      <p:sp>
        <p:nvSpPr>
          <p:cNvPr id="3" name="scenario card 0"/>
          <p:cNvSpPr/>
          <p:nvPr/>
        </p:nvSpPr>
        <p:spPr>
          <a:xfrm>
            <a:off x="548640" y="1325880"/>
            <a:ext cx="3566160" cy="4206240"/>
          </a:xfrm>
          <a:prstGeom prst="roundRect">
            <a:avLst>
              <a:gd name="adj" fmla="val 2051"/>
            </a:avLst>
          </a:prstGeom>
          <a:solidFill>
            <a:schemeClr val="bg2"/>
          </a:solidFill>
          <a:ln w="12700">
            <a:solidFill>
              <a:schemeClr val="bg2"/>
            </a:solidFill>
            <a:prstDash val="solid"/>
          </a:ln>
        </p:spPr>
      </p:sp>
      <p:pic>
        <p:nvPicPr>
          <p:cNvPr id="4" name="scenario icon 0" descr="preencoded.png">    </p:cNvPr>
          <p:cNvPicPr>
            <a:picLocks noChangeAspect="1"/>
          </p:cNvPicPr>
          <p:nvPr/>
        </p:nvPicPr>
        <p:blipFill>
          <a:blip r:embed="rId1"/>
          <a:stretch>
            <a:fillRect/>
          </a:stretch>
        </p:blipFill>
        <p:spPr>
          <a:xfrm>
            <a:off x="822960" y="1554480"/>
            <a:ext cx="548640" cy="548640"/>
          </a:xfrm>
          <a:prstGeom prst="rect">
            <a:avLst/>
          </a:prstGeom>
        </p:spPr>
      </p:pic>
      <p:sp>
        <p:nvSpPr>
          <p:cNvPr id="5" name="scenario head 0"/>
          <p:cNvSpPr txBox="1"/>
          <p:nvPr/>
        </p:nvSpPr>
        <p:spPr>
          <a:xfrm>
            <a:off x="82296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1 · Blind-corner crossing</a:t>
            </a:r>
            <a:endParaRPr lang="en-US" sz="1800" dirty="0"/>
          </a:p>
        </p:txBody>
      </p:sp>
      <p:sp>
        <p:nvSpPr>
          <p:cNvPr id="6" name="scenario situation 0"/>
          <p:cNvSpPr txBox="1"/>
          <p:nvPr/>
        </p:nvSpPr>
        <p:spPr>
          <a:xfrm>
            <a:off x="82296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A worker walks toward a cross-aisle; a forklift approaches behind racks.</a:t>
            </a:r>
            <a:endParaRPr lang="en-US" sz="1400" dirty="0"/>
          </a:p>
        </p:txBody>
      </p:sp>
      <p:sp>
        <p:nvSpPr>
          <p:cNvPr id="7" name="scenario response 0"/>
          <p:cNvSpPr txBox="1"/>
          <p:nvPr/>
        </p:nvSpPr>
        <p:spPr>
          <a:xfrm>
            <a:off x="82296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Tag: WAIT (pulses until the forklift passes) → GO.</a:t>
            </a:r>
            <a:endParaRPr lang="en-US" sz="1500" dirty="0"/>
          </a:p>
          <a:p>
            <a:pPr indent="0" marL="0">
              <a:buNone/>
            </a:pPr>
            <a:r>
              <a:rPr lang="en-US" sz="1500" dirty="0">
                <a:solidFill>
                  <a:schemeClr val="tx1"/>
                </a:solidFill>
              </a:rPr>
              <a:t>Forklift: slowed just enough to pass safely.</a:t>
            </a:r>
            <a:endParaRPr lang="en-US" sz="1500" dirty="0"/>
          </a:p>
        </p:txBody>
      </p:sp>
      <p:sp>
        <p:nvSpPr>
          <p:cNvPr id="8" name="scenario card 1"/>
          <p:cNvSpPr/>
          <p:nvPr/>
        </p:nvSpPr>
        <p:spPr>
          <a:xfrm>
            <a:off x="4297680" y="1325880"/>
            <a:ext cx="3566160" cy="4206240"/>
          </a:xfrm>
          <a:prstGeom prst="roundRect">
            <a:avLst>
              <a:gd name="adj" fmla="val 2051"/>
            </a:avLst>
          </a:prstGeom>
          <a:solidFill>
            <a:schemeClr val="bg2"/>
          </a:solidFill>
          <a:ln w="12700">
            <a:solidFill>
              <a:schemeClr val="bg2"/>
            </a:solidFill>
            <a:prstDash val="solid"/>
          </a:ln>
        </p:spPr>
      </p:sp>
      <p:pic>
        <p:nvPicPr>
          <p:cNvPr id="9" name="scenario icon 1" descr="preencoded.png">    </p:cNvPr>
          <p:cNvPicPr>
            <a:picLocks noChangeAspect="1"/>
          </p:cNvPicPr>
          <p:nvPr/>
        </p:nvPicPr>
        <p:blipFill>
          <a:blip r:embed="rId2"/>
          <a:stretch>
            <a:fillRect/>
          </a:stretch>
        </p:blipFill>
        <p:spPr>
          <a:xfrm>
            <a:off x="4572000" y="1554480"/>
            <a:ext cx="548640" cy="548640"/>
          </a:xfrm>
          <a:prstGeom prst="rect">
            <a:avLst/>
          </a:prstGeom>
        </p:spPr>
      </p:pic>
      <p:sp>
        <p:nvSpPr>
          <p:cNvPr id="10" name="scenario head 1"/>
          <p:cNvSpPr txBox="1"/>
          <p:nvPr/>
        </p:nvSpPr>
        <p:spPr>
          <a:xfrm>
            <a:off x="457200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2 · Worker standing in the lane</a:t>
            </a:r>
            <a:endParaRPr lang="en-US" sz="1800" dirty="0"/>
          </a:p>
        </p:txBody>
      </p:sp>
      <p:sp>
        <p:nvSpPr>
          <p:cNvPr id="11" name="scenario situation 1"/>
          <p:cNvSpPr txBox="1"/>
          <p:nvPr/>
        </p:nvSpPr>
        <p:spPr>
          <a:xfrm>
            <a:off x="457200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The forklift stopped for a worker who is standing in its path; nobody can move.</a:t>
            </a:r>
            <a:endParaRPr lang="en-US" sz="1400" dirty="0"/>
          </a:p>
        </p:txBody>
      </p:sp>
      <p:sp>
        <p:nvSpPr>
          <p:cNvPr id="12" name="scenario response 1"/>
          <p:cNvSpPr txBox="1"/>
          <p:nvPr/>
        </p:nvSpPr>
        <p:spPr>
          <a:xfrm>
            <a:off x="457200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Tag: STEP ASIDE to the nearer edge, then WAIT.</a:t>
            </a:r>
            <a:endParaRPr lang="en-US" sz="1500" dirty="0"/>
          </a:p>
          <a:p>
            <a:pPr indent="0" marL="0">
              <a:buNone/>
            </a:pPr>
            <a:r>
              <a:rPr lang="en-US" sz="1500" dirty="0">
                <a:solidFill>
                  <a:schemeClr val="tx1"/>
                </a:solidFill>
              </a:rPr>
              <a:t>Forklift: holds, then passes; worker gets GO.</a:t>
            </a:r>
            <a:endParaRPr lang="en-US" sz="1500" dirty="0"/>
          </a:p>
        </p:txBody>
      </p:sp>
      <p:sp>
        <p:nvSpPr>
          <p:cNvPr id="13" name="scenario card 2"/>
          <p:cNvSpPr/>
          <p:nvPr/>
        </p:nvSpPr>
        <p:spPr>
          <a:xfrm>
            <a:off x="8046720" y="1325880"/>
            <a:ext cx="3566160" cy="4206240"/>
          </a:xfrm>
          <a:prstGeom prst="roundRect">
            <a:avLst>
              <a:gd name="adj" fmla="val 2051"/>
            </a:avLst>
          </a:prstGeom>
          <a:solidFill>
            <a:schemeClr val="bg2"/>
          </a:solidFill>
          <a:ln w="12700">
            <a:solidFill>
              <a:schemeClr val="bg2"/>
            </a:solidFill>
            <a:prstDash val="solid"/>
          </a:ln>
        </p:spPr>
      </p:sp>
      <p:pic>
        <p:nvPicPr>
          <p:cNvPr id="14" name="scenario icon 2" descr="preencoded.png">    </p:cNvPr>
          <p:cNvPicPr>
            <a:picLocks noChangeAspect="1"/>
          </p:cNvPicPr>
          <p:nvPr/>
        </p:nvPicPr>
        <p:blipFill>
          <a:blip r:embed="rId3"/>
          <a:stretch>
            <a:fillRect/>
          </a:stretch>
        </p:blipFill>
        <p:spPr>
          <a:xfrm>
            <a:off x="8321040" y="1554480"/>
            <a:ext cx="548640" cy="548640"/>
          </a:xfrm>
          <a:prstGeom prst="rect">
            <a:avLst/>
          </a:prstGeom>
        </p:spPr>
      </p:pic>
      <p:sp>
        <p:nvSpPr>
          <p:cNvPr id="15" name="scenario head 2"/>
          <p:cNvSpPr txBox="1"/>
          <p:nvPr/>
        </p:nvSpPr>
        <p:spPr>
          <a:xfrm>
            <a:off x="832104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3 · Network or server failure</a:t>
            </a:r>
            <a:endParaRPr lang="en-US" sz="1800" dirty="0"/>
          </a:p>
        </p:txBody>
      </p:sp>
      <p:sp>
        <p:nvSpPr>
          <p:cNvPr id="16" name="scenario situation 2"/>
          <p:cNvSpPr txBox="1"/>
          <p:nvPr/>
        </p:nvSpPr>
        <p:spPr>
          <a:xfrm>
            <a:off x="832104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The edge server or Wi-Fi drops while people keep working.</a:t>
            </a:r>
            <a:endParaRPr lang="en-US" sz="1400" dirty="0"/>
          </a:p>
        </p:txBody>
      </p:sp>
      <p:sp>
        <p:nvSpPr>
          <p:cNvPr id="17" name="scenario response 2"/>
          <p:cNvSpPr txBox="1"/>
          <p:nvPr/>
        </p:nvSpPr>
        <p:spPr>
          <a:xfrm>
            <a:off x="832104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Devices range each other over UWB and exchange state directly (D2D); neighbours relay alerts; stop only as a last resort.</a:t>
            </a:r>
            <a:endParaRPr lang="en-US" sz="1500" dirty="0"/>
          </a:p>
        </p:txBody>
      </p:sp>
      <p:sp>
        <p:nvSpPr>
          <p:cNvPr id="18" name="actors"/>
          <p:cNvSpPr txBox="1"/>
          <p:nvPr/>
        </p:nvSpPr>
        <p:spPr>
          <a:xfrm>
            <a:off x="548640" y="5760720"/>
            <a:ext cx="11064240" cy="457200"/>
          </a:xfrm>
          <a:prstGeom prst="rect">
            <a:avLst/>
          </a:prstGeom>
          <a:noFill/>
          <a:ln/>
        </p:spPr>
        <p:txBody>
          <a:bodyPr wrap="square" lIns="0" tIns="0" rIns="0" bIns="0" rtlCol="0" anchor="ctr"/>
          <a:lstStyle/>
          <a:p>
            <a:pPr indent="0" marL="0">
              <a:buNone/>
            </a:pPr>
            <a:r>
              <a:rPr lang="en-US" sz="1400" b="1" dirty="0">
                <a:solidFill>
                  <a:schemeClr val="tx1"/>
                </a:solidFill>
              </a:rPr>
              <a:t>Actors: </a:t>
            </a:r>
            <a:pPr indent="0" marL="0">
              <a:buNone/>
            </a:pPr>
            <a:r>
              <a:rPr lang="en-US" sz="1400" dirty="0">
                <a:solidFill>
                  <a:schemeClr val="tx1"/>
                </a:solidFill>
              </a:rPr>
              <a:t>workers (tag), forklift drivers (module), safety manager (dashboard, near-miss reports). Site: 10,000 m² warehouse, 50 workers, 10 forklifts.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Requirements and how oneM2M and ETSI MEC meet them</a:t>
            </a:r>
            <a:endParaRPr lang="en-US" sz="3000" dirty="0"/>
          </a:p>
        </p:txBody>
      </p:sp>
      <p:graphicFrame>
        <p:nvGraphicFramePr>
          <p:cNvPr id="6" name="requirements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3566160"/>
                <a:gridCol w="4846320"/>
              </a:tblGrid>
              <a:tr h="56692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Requirement (ESTIMED theme)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Why this use case needs it</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oneM2M / MEC enabler in EdgeGuard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Low latency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Warning must arrive 1–3 s before contact</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CSE and MEC app co-located on the MEC host: 25 ms median alert latency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Local processing</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Positions of people stay on site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EdgeGuard MEC app; only alerts and near misses go to the cloud IN-CSE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Context awareness</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Positions without UWB fix; cell load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MEC Location (013) and RNIS (012) mapped into oneM2M by the MEC-IPE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Service continuity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Safety cannot stop when a server fails</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CSE handover between zone MN-CSEs (3–11 ms, 0 lost), active-standby MEC app (0.73 s), D2D fallback</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Orchestration</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Deploy per site / per zone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One oneM2M intent → discover, select, deploy, register, provision across MEC hosts; re-placed on host crash</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Distributed intelligence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Devices must act when isolated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Local rules, D2D fallback; forklift swarm via &lt;group&gt;; federated model with canary and rollback</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High-level architecture: oneM2M + MEC on the edge</a:t>
            </a:r>
            <a:endParaRPr lang="en-US" sz="3000" dirty="0"/>
          </a:p>
        </p:txBody>
      </p:sp>
      <p:sp>
        <p:nvSpPr>
          <p:cNvPr id="3" name="zone cloud"/>
          <p:cNvSpPr/>
          <p:nvPr/>
        </p:nvSpPr>
        <p:spPr>
          <a:xfrm>
            <a:off x="548640" y="1188720"/>
            <a:ext cx="11091672" cy="1005840"/>
          </a:xfrm>
          <a:prstGeom prst="roundRect">
            <a:avLst>
              <a:gd name="adj" fmla="val 7273"/>
            </a:avLst>
          </a:prstGeom>
          <a:solidFill>
            <a:srgbClr val="EAF1FB"/>
          </a:solidFill>
          <a:ln w="12700">
            <a:solidFill>
              <a:srgbClr val="EAF1FB"/>
            </a:solidFill>
            <a:prstDash val="solid"/>
          </a:ln>
        </p:spPr>
      </p:sp>
      <p:sp>
        <p:nvSpPr>
          <p:cNvPr id="4" name="zone field"/>
          <p:cNvSpPr/>
          <p:nvPr/>
        </p:nvSpPr>
        <p:spPr>
          <a:xfrm>
            <a:off x="548640" y="2377440"/>
            <a:ext cx="2834640" cy="3794760"/>
          </a:xfrm>
          <a:prstGeom prst="roundRect">
            <a:avLst>
              <a:gd name="adj" fmla="val 2581"/>
            </a:avLst>
          </a:prstGeom>
          <a:solidFill>
            <a:schemeClr val="bg2"/>
          </a:solidFill>
          <a:ln w="12700">
            <a:solidFill>
              <a:schemeClr val="bg2"/>
            </a:solidFill>
            <a:prstDash val="solid"/>
          </a:ln>
        </p:spPr>
      </p:sp>
      <p:sp>
        <p:nvSpPr>
          <p:cNvPr id="5" name="zone edge"/>
          <p:cNvSpPr/>
          <p:nvPr/>
        </p:nvSpPr>
        <p:spPr>
          <a:xfrm>
            <a:off x="3566160" y="2377440"/>
            <a:ext cx="8074152" cy="3794760"/>
          </a:xfrm>
          <a:prstGeom prst="roundRect">
            <a:avLst>
              <a:gd name="adj" fmla="val 1928"/>
            </a:avLst>
          </a:prstGeom>
          <a:solidFill>
            <a:srgbClr val="FDF5E1"/>
          </a:solidFill>
          <a:ln w="12700">
            <a:solidFill>
              <a:srgbClr val="FDF5E1"/>
            </a:solidFill>
            <a:prstDash val="solid"/>
          </a:ln>
        </p:spPr>
      </p:sp>
      <p:sp>
        <p:nvSpPr>
          <p:cNvPr id="6" name="label cloud"/>
          <p:cNvSpPr txBox="1"/>
          <p:nvPr/>
        </p:nvSpPr>
        <p:spPr>
          <a:xfrm>
            <a:off x="731520" y="1325880"/>
            <a:ext cx="2377440" cy="731520"/>
          </a:xfrm>
          <a:prstGeom prst="rect">
            <a:avLst/>
          </a:prstGeom>
          <a:noFill/>
          <a:ln/>
        </p:spPr>
        <p:txBody>
          <a:bodyPr wrap="square" lIns="0" tIns="0" rIns="0" bIns="0" rtlCol="0" anchor="ctr"/>
          <a:lstStyle/>
          <a:p>
            <a:pPr indent="0" marL="0">
              <a:buNone/>
            </a:pPr>
            <a:r>
              <a:rPr lang="en-US" sz="1400" b="1" dirty="0">
                <a:solidFill>
                  <a:schemeClr val="accent2"/>
                </a:solidFill>
              </a:rPr>
              <a:t>Cloud /</a:t>
            </a:r>
            <a:endParaRPr lang="en-US" sz="1400" dirty="0"/>
          </a:p>
          <a:p>
            <a:pPr indent="0" marL="0">
              <a:buNone/>
            </a:pPr>
            <a:r>
              <a:rPr lang="en-US" sz="1400" b="1" dirty="0">
                <a:solidFill>
                  <a:schemeClr val="accent2"/>
                </a:solidFill>
              </a:rPr>
              <a:t>infrastructure</a:t>
            </a:r>
            <a:endParaRPr lang="en-US" sz="1400" dirty="0"/>
          </a:p>
        </p:txBody>
      </p:sp>
      <p:sp>
        <p:nvSpPr>
          <p:cNvPr id="7" name="label field"/>
          <p:cNvSpPr txBox="1"/>
          <p:nvPr/>
        </p:nvSpPr>
        <p:spPr>
          <a:xfrm>
            <a:off x="731520" y="2468880"/>
            <a:ext cx="2468880" cy="320040"/>
          </a:xfrm>
          <a:prstGeom prst="rect">
            <a:avLst/>
          </a:prstGeom>
          <a:noFill/>
          <a:ln/>
        </p:spPr>
        <p:txBody>
          <a:bodyPr wrap="square" lIns="0" tIns="0" rIns="0" bIns="0" rtlCol="0" anchor="ctr"/>
          <a:lstStyle/>
          <a:p>
            <a:pPr indent="0" marL="0">
              <a:buNone/>
            </a:pPr>
            <a:r>
              <a:rPr lang="en-US" sz="1400" b="1" dirty="0">
                <a:solidFill>
                  <a:schemeClr val="accent6"/>
                </a:solidFill>
              </a:rPr>
              <a:t>Field domain</a:t>
            </a:r>
            <a:endParaRPr lang="en-US" sz="1400" dirty="0"/>
          </a:p>
        </p:txBody>
      </p:sp>
      <p:sp>
        <p:nvSpPr>
          <p:cNvPr id="8" name="label edge"/>
          <p:cNvSpPr txBox="1"/>
          <p:nvPr/>
        </p:nvSpPr>
        <p:spPr>
          <a:xfrm>
            <a:off x="5943600" y="2468880"/>
            <a:ext cx="5486400" cy="320040"/>
          </a:xfrm>
          <a:prstGeom prst="rect">
            <a:avLst/>
          </a:prstGeom>
          <a:noFill/>
          <a:ln/>
        </p:spPr>
        <p:txBody>
          <a:bodyPr wrap="square" lIns="0" tIns="0" rIns="0" bIns="0" rtlCol="0" anchor="ctr"/>
          <a:lstStyle/>
          <a:p>
            <a:pPr indent="0" marL="0">
              <a:buNone/>
            </a:pPr>
            <a:r>
              <a:rPr lang="en-US" sz="1400" b="1" dirty="0">
                <a:solidFill>
                  <a:schemeClr val="accent4"/>
                </a:solidFill>
              </a:rPr>
              <a:t>Edge: ETSI MEC host (deployment option C, co-location)</a:t>
            </a:r>
            <a:endParaRPr lang="en-US" sz="1400" dirty="0"/>
          </a:p>
        </p:txBody>
      </p:sp>
      <p:sp>
        <p:nvSpPr>
          <p:cNvPr id="9" name="node IN-CSE"/>
          <p:cNvSpPr/>
          <p:nvPr/>
        </p:nvSpPr>
        <p:spPr>
          <a:xfrm>
            <a:off x="3840480" y="1325880"/>
            <a:ext cx="1920240" cy="731520"/>
          </a:xfrm>
          <a:prstGeom prst="roundRect">
            <a:avLst>
              <a:gd name="adj" fmla="val 10000"/>
            </a:avLst>
          </a:prstGeom>
          <a:solidFill>
            <a:schemeClr val="bg1"/>
          </a:solidFill>
          <a:ln w="12700">
            <a:solidFill>
              <a:srgbClr val="C9D0D8"/>
            </a:solidFill>
            <a:prstDash val="solid"/>
          </a:ln>
        </p:spPr>
      </p:sp>
      <p:sp>
        <p:nvSpPr>
          <p:cNvPr id="10" name="node text IN-CSE"/>
          <p:cNvSpPr txBox="1"/>
          <p:nvPr/>
        </p:nvSpPr>
        <p:spPr>
          <a:xfrm>
            <a:off x="3950208" y="1325880"/>
            <a:ext cx="1700784" cy="731520"/>
          </a:xfrm>
          <a:prstGeom prst="rect">
            <a:avLst/>
          </a:prstGeom>
          <a:noFill/>
          <a:ln/>
        </p:spPr>
        <p:txBody>
          <a:bodyPr wrap="square" lIns="0" tIns="0" rIns="0" bIns="0" rtlCol="0" anchor="ctr"/>
          <a:lstStyle/>
          <a:p>
            <a:pPr indent="0" marL="0">
              <a:buNone/>
            </a:pPr>
            <a:r>
              <a:rPr lang="en-US" sz="1400" b="1" dirty="0">
                <a:solidFill>
                  <a:schemeClr val="tx2"/>
                </a:solidFill>
              </a:rPr>
              <a:t>IN-CSE</a:t>
            </a:r>
            <a:endParaRPr lang="en-US" sz="1400" dirty="0"/>
          </a:p>
          <a:p>
            <a:pPr indent="0" marL="0">
              <a:buNone/>
            </a:pPr>
            <a:r>
              <a:rPr lang="en-US" sz="1100" dirty="0">
                <a:solidFill>
                  <a:schemeClr val="accent6"/>
                </a:solidFill>
              </a:rPr>
              <a:t>Mobius (cloud)</a:t>
            </a:r>
            <a:endParaRPr lang="en-US" sz="1400" dirty="0"/>
          </a:p>
        </p:txBody>
      </p:sp>
      <p:sp>
        <p:nvSpPr>
          <p:cNvPr id="11" name="node Safety dashboard"/>
          <p:cNvSpPr/>
          <p:nvPr/>
        </p:nvSpPr>
        <p:spPr>
          <a:xfrm>
            <a:off x="6400800" y="1325880"/>
            <a:ext cx="2377440" cy="731520"/>
          </a:xfrm>
          <a:prstGeom prst="roundRect">
            <a:avLst>
              <a:gd name="adj" fmla="val 10000"/>
            </a:avLst>
          </a:prstGeom>
          <a:solidFill>
            <a:schemeClr val="bg1"/>
          </a:solidFill>
          <a:ln w="12700">
            <a:solidFill>
              <a:srgbClr val="C9D0D8"/>
            </a:solidFill>
            <a:prstDash val="solid"/>
          </a:ln>
        </p:spPr>
      </p:sp>
      <p:sp>
        <p:nvSpPr>
          <p:cNvPr id="12" name="node text Safety dashboard"/>
          <p:cNvSpPr txBox="1"/>
          <p:nvPr/>
        </p:nvSpPr>
        <p:spPr>
          <a:xfrm>
            <a:off x="6510528" y="1325880"/>
            <a:ext cx="2157984" cy="731520"/>
          </a:xfrm>
          <a:prstGeom prst="rect">
            <a:avLst/>
          </a:prstGeom>
          <a:noFill/>
          <a:ln/>
        </p:spPr>
        <p:txBody>
          <a:bodyPr wrap="square" lIns="0" tIns="0" rIns="0" bIns="0" rtlCol="0" anchor="ctr"/>
          <a:lstStyle/>
          <a:p>
            <a:pPr indent="0" marL="0">
              <a:buNone/>
            </a:pPr>
            <a:r>
              <a:rPr lang="en-US" sz="1400" b="1" dirty="0">
                <a:solidFill>
                  <a:schemeClr val="tx2"/>
                </a:solidFill>
              </a:rPr>
              <a:t>Safety dashboard</a:t>
            </a:r>
            <a:endParaRPr lang="en-US" sz="1400" dirty="0"/>
          </a:p>
          <a:p>
            <a:pPr indent="0" marL="0">
              <a:buNone/>
            </a:pPr>
            <a:r>
              <a:rPr lang="en-US" sz="1100" dirty="0">
                <a:solidFill>
                  <a:schemeClr val="accent6"/>
                </a:solidFill>
              </a:rPr>
              <a:t>near-miss heatmap, reports</a:t>
            </a:r>
            <a:endParaRPr lang="en-US" sz="1400" dirty="0"/>
          </a:p>
        </p:txBody>
      </p:sp>
      <p:sp>
        <p:nvSpPr>
          <p:cNvPr id="13" name="node Other oneM2M apps"/>
          <p:cNvSpPr/>
          <p:nvPr/>
        </p:nvSpPr>
        <p:spPr>
          <a:xfrm>
            <a:off x="9326880" y="1325880"/>
            <a:ext cx="2148840" cy="731520"/>
          </a:xfrm>
          <a:prstGeom prst="roundRect">
            <a:avLst>
              <a:gd name="adj" fmla="val 10000"/>
            </a:avLst>
          </a:prstGeom>
          <a:solidFill>
            <a:schemeClr val="bg1"/>
          </a:solidFill>
          <a:ln w="12700">
            <a:solidFill>
              <a:srgbClr val="C9D0D8"/>
            </a:solidFill>
            <a:prstDash val="solid"/>
          </a:ln>
        </p:spPr>
      </p:sp>
      <p:sp>
        <p:nvSpPr>
          <p:cNvPr id="14" name="node text Other oneM2M apps"/>
          <p:cNvSpPr txBox="1"/>
          <p:nvPr/>
        </p:nvSpPr>
        <p:spPr>
          <a:xfrm>
            <a:off x="9436608" y="1325880"/>
            <a:ext cx="1929384" cy="731520"/>
          </a:xfrm>
          <a:prstGeom prst="rect">
            <a:avLst/>
          </a:prstGeom>
          <a:noFill/>
          <a:ln/>
        </p:spPr>
        <p:txBody>
          <a:bodyPr wrap="square" lIns="0" tIns="0" rIns="0" bIns="0" rtlCol="0" anchor="ctr"/>
          <a:lstStyle/>
          <a:p>
            <a:pPr indent="0" marL="0">
              <a:buNone/>
            </a:pPr>
            <a:r>
              <a:rPr lang="en-US" sz="1400" b="1" dirty="0">
                <a:solidFill>
                  <a:schemeClr val="tx2"/>
                </a:solidFill>
              </a:rPr>
              <a:t>Other oneM2M apps</a:t>
            </a:r>
            <a:endParaRPr lang="en-US" sz="1400" dirty="0"/>
          </a:p>
          <a:p>
            <a:pPr indent="0" marL="0">
              <a:buNone/>
            </a:pPr>
            <a:r>
              <a:rPr lang="en-US" sz="1100" dirty="0">
                <a:solidFill>
                  <a:schemeClr val="accent6"/>
                </a:solidFill>
              </a:rPr>
              <a:t>subscribe to alerts</a:t>
            </a:r>
            <a:endParaRPr lang="en-US" sz="1400" dirty="0"/>
          </a:p>
        </p:txBody>
      </p:sp>
      <p:sp>
        <p:nvSpPr>
          <p:cNvPr id="15" name="node Worker tag"/>
          <p:cNvSpPr/>
          <p:nvPr/>
        </p:nvSpPr>
        <p:spPr>
          <a:xfrm>
            <a:off x="731520" y="2880360"/>
            <a:ext cx="2468880" cy="731520"/>
          </a:xfrm>
          <a:prstGeom prst="roundRect">
            <a:avLst>
              <a:gd name="adj" fmla="val 10000"/>
            </a:avLst>
          </a:prstGeom>
          <a:solidFill>
            <a:schemeClr val="bg1"/>
          </a:solidFill>
          <a:ln w="12700">
            <a:solidFill>
              <a:srgbClr val="C9D0D8"/>
            </a:solidFill>
            <a:prstDash val="solid"/>
          </a:ln>
        </p:spPr>
      </p:sp>
      <p:sp>
        <p:nvSpPr>
          <p:cNvPr id="16" name="node text Worker tag"/>
          <p:cNvSpPr txBox="1"/>
          <p:nvPr/>
        </p:nvSpPr>
        <p:spPr>
          <a:xfrm>
            <a:off x="841248" y="288036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Worker tag</a:t>
            </a:r>
            <a:endParaRPr lang="en-US" sz="1400" dirty="0"/>
          </a:p>
          <a:p>
            <a:pPr indent="0" marL="0">
              <a:buNone/>
            </a:pPr>
            <a:r>
              <a:rPr lang="en-US" sz="1100" dirty="0">
                <a:solidFill>
                  <a:schemeClr val="accent6"/>
                </a:solidFill>
              </a:rPr>
              <a:t>ESP32 + UWB · vibration, LED</a:t>
            </a:r>
            <a:endParaRPr lang="en-US" sz="1400" dirty="0"/>
          </a:p>
        </p:txBody>
      </p:sp>
      <p:sp>
        <p:nvSpPr>
          <p:cNvPr id="17" name="node Forklift module"/>
          <p:cNvSpPr/>
          <p:nvPr/>
        </p:nvSpPr>
        <p:spPr>
          <a:xfrm>
            <a:off x="731520" y="3749040"/>
            <a:ext cx="2468880" cy="731520"/>
          </a:xfrm>
          <a:prstGeom prst="roundRect">
            <a:avLst>
              <a:gd name="adj" fmla="val 10000"/>
            </a:avLst>
          </a:prstGeom>
          <a:solidFill>
            <a:schemeClr val="bg1"/>
          </a:solidFill>
          <a:ln w="12700">
            <a:solidFill>
              <a:srgbClr val="C9D0D8"/>
            </a:solidFill>
            <a:prstDash val="solid"/>
          </a:ln>
        </p:spPr>
      </p:sp>
      <p:sp>
        <p:nvSpPr>
          <p:cNvPr id="18" name="node text Forklift module"/>
          <p:cNvSpPr txBox="1"/>
          <p:nvPr/>
        </p:nvSpPr>
        <p:spPr>
          <a:xfrm>
            <a:off x="841248" y="374904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Forklift module</a:t>
            </a:r>
            <a:endParaRPr lang="en-US" sz="1400" dirty="0"/>
          </a:p>
          <a:p>
            <a:pPr indent="0" marL="0">
              <a:buNone/>
            </a:pPr>
            <a:r>
              <a:rPr lang="en-US" sz="1100" dirty="0">
                <a:solidFill>
                  <a:schemeClr val="accent6"/>
                </a:solidFill>
              </a:rPr>
              <a:t>UWB + IMU · speed limit</a:t>
            </a:r>
            <a:endParaRPr lang="en-US" sz="1400" dirty="0"/>
          </a:p>
        </p:txBody>
      </p:sp>
      <p:sp>
        <p:nvSpPr>
          <p:cNvPr id="19" name="node Camera node"/>
          <p:cNvSpPr/>
          <p:nvPr/>
        </p:nvSpPr>
        <p:spPr>
          <a:xfrm>
            <a:off x="731520" y="4617720"/>
            <a:ext cx="2468880" cy="731520"/>
          </a:xfrm>
          <a:prstGeom prst="roundRect">
            <a:avLst>
              <a:gd name="adj" fmla="val 10000"/>
            </a:avLst>
          </a:prstGeom>
          <a:solidFill>
            <a:schemeClr val="bg1"/>
          </a:solidFill>
          <a:ln w="12700">
            <a:solidFill>
              <a:srgbClr val="C9D0D8"/>
            </a:solidFill>
            <a:prstDash val="solid"/>
          </a:ln>
        </p:spPr>
      </p:sp>
      <p:sp>
        <p:nvSpPr>
          <p:cNvPr id="20" name="node text Camera node"/>
          <p:cNvSpPr txBox="1"/>
          <p:nvPr/>
        </p:nvSpPr>
        <p:spPr>
          <a:xfrm>
            <a:off x="841248" y="461772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Camera node</a:t>
            </a:r>
            <a:endParaRPr lang="en-US" sz="1400" dirty="0"/>
          </a:p>
          <a:p>
            <a:pPr indent="0" marL="0">
              <a:buNone/>
            </a:pPr>
            <a:r>
              <a:rPr lang="en-US" sz="1100" dirty="0">
                <a:solidFill>
                  <a:schemeClr val="accent6"/>
                </a:solidFill>
              </a:rPr>
              <a:t>untagged people (YOLOv8n)</a:t>
            </a:r>
            <a:endParaRPr lang="en-US" sz="1400" dirty="0"/>
          </a:p>
        </p:txBody>
      </p:sp>
      <p:sp>
        <p:nvSpPr>
          <p:cNvPr id="21" name="d2d note"/>
          <p:cNvSpPr txBox="1"/>
          <p:nvPr/>
        </p:nvSpPr>
        <p:spPr>
          <a:xfrm>
            <a:off x="731520" y="5486400"/>
            <a:ext cx="2468880" cy="548640"/>
          </a:xfrm>
          <a:prstGeom prst="rect">
            <a:avLst/>
          </a:prstGeom>
          <a:noFill/>
          <a:ln/>
        </p:spPr>
        <p:txBody>
          <a:bodyPr wrap="square" lIns="0" tIns="0" rIns="0" bIns="0" rtlCol="0" anchor="ctr"/>
          <a:lstStyle/>
          <a:p>
            <a:pPr indent="0" marL="0">
              <a:buNone/>
            </a:pPr>
            <a:r>
              <a:rPr lang="en-US" sz="1100" dirty="0">
                <a:solidFill>
                  <a:schemeClr val="accent2"/>
                </a:solidFill>
              </a:rPr>
              <a:t>D2D fallback: ESP-NOW + HMAC between devices</a:t>
            </a:r>
            <a:endParaRPr lang="en-US" sz="1100" dirty="0"/>
          </a:p>
        </p:txBody>
      </p:sp>
      <p:sp>
        <p:nvSpPr>
          <p:cNvPr id="22" name="node MN-CSE"/>
          <p:cNvSpPr/>
          <p:nvPr/>
        </p:nvSpPr>
        <p:spPr>
          <a:xfrm>
            <a:off x="3840480" y="2880360"/>
            <a:ext cx="1920240" cy="2468880"/>
          </a:xfrm>
          <a:prstGeom prst="roundRect">
            <a:avLst>
              <a:gd name="adj" fmla="val 3810"/>
            </a:avLst>
          </a:prstGeom>
          <a:solidFill>
            <a:schemeClr val="bg1"/>
          </a:solidFill>
          <a:ln w="25400">
            <a:solidFill>
              <a:schemeClr val="accent2"/>
            </a:solidFill>
            <a:prstDash val="solid"/>
          </a:ln>
        </p:spPr>
      </p:sp>
      <p:sp>
        <p:nvSpPr>
          <p:cNvPr id="23" name="node text MN-CSE"/>
          <p:cNvSpPr txBox="1"/>
          <p:nvPr/>
        </p:nvSpPr>
        <p:spPr>
          <a:xfrm>
            <a:off x="3950208" y="2880360"/>
            <a:ext cx="1700784" cy="2468880"/>
          </a:xfrm>
          <a:prstGeom prst="rect">
            <a:avLst/>
          </a:prstGeom>
          <a:noFill/>
          <a:ln/>
        </p:spPr>
        <p:txBody>
          <a:bodyPr wrap="square" lIns="0" tIns="0" rIns="0" bIns="0" rtlCol="0" anchor="ctr"/>
          <a:lstStyle/>
          <a:p>
            <a:pPr indent="0" marL="0">
              <a:buNone/>
            </a:pPr>
            <a:r>
              <a:rPr lang="en-US" sz="1400" b="1" dirty="0">
                <a:solidFill>
                  <a:schemeClr val="accent2"/>
                </a:solidFill>
              </a:rPr>
              <a:t>MN-CSE</a:t>
            </a:r>
            <a:endParaRPr lang="en-US" sz="1400" dirty="0"/>
          </a:p>
          <a:p>
            <a:pPr indent="0" marL="0">
              <a:buNone/>
            </a:pPr>
            <a:r>
              <a:rPr lang="en-US" sz="1100" dirty="0">
                <a:solidFill>
                  <a:schemeClr val="accent6"/>
                </a:solidFill>
              </a:rPr>
              <a:t>ACME / Mobius</a:t>
            </a:r>
            <a:endParaRPr lang="en-US" sz="1400" dirty="0"/>
          </a:p>
          <a:p>
            <a:pPr indent="0" marL="0">
              <a:buNone/>
            </a:pPr>
            <a:r>
              <a:rPr lang="en-US" sz="1100" dirty="0">
                <a:solidFill>
                  <a:schemeClr val="accent6"/>
                </a:solidFill>
              </a:rPr>
              <a:t>AE per device</a:t>
            </a:r>
            <a:endParaRPr lang="en-US" sz="1400" dirty="0"/>
          </a:p>
          <a:p>
            <a:pPr indent="0" marL="0">
              <a:buNone/>
            </a:pPr>
            <a:r>
              <a:rPr lang="en-US" sz="1100" dirty="0">
                <a:solidFill>
                  <a:schemeClr val="accent6"/>
                </a:solidFill>
              </a:rPr>
              <a:t>CNT · SUB · ACP</a:t>
            </a:r>
            <a:endParaRPr lang="en-US" sz="1400" dirty="0"/>
          </a:p>
        </p:txBody>
      </p:sp>
      <p:sp>
        <p:nvSpPr>
          <p:cNvPr id="24" name="node EdgeGuard MEC app"/>
          <p:cNvSpPr/>
          <p:nvPr/>
        </p:nvSpPr>
        <p:spPr>
          <a:xfrm>
            <a:off x="6400800" y="2880360"/>
            <a:ext cx="2377440" cy="2468880"/>
          </a:xfrm>
          <a:prstGeom prst="roundRect">
            <a:avLst>
              <a:gd name="adj" fmla="val 3077"/>
            </a:avLst>
          </a:prstGeom>
          <a:solidFill>
            <a:schemeClr val="tx2"/>
          </a:solidFill>
          <a:ln w="12700">
            <a:solidFill>
              <a:schemeClr val="tx2"/>
            </a:solidFill>
            <a:prstDash val="solid"/>
          </a:ln>
        </p:spPr>
      </p:sp>
      <p:sp>
        <p:nvSpPr>
          <p:cNvPr id="25" name="node text EdgeGuard MEC app"/>
          <p:cNvSpPr txBox="1"/>
          <p:nvPr/>
        </p:nvSpPr>
        <p:spPr>
          <a:xfrm>
            <a:off x="6510528" y="2880360"/>
            <a:ext cx="2157984" cy="2468880"/>
          </a:xfrm>
          <a:prstGeom prst="rect">
            <a:avLst/>
          </a:prstGeom>
          <a:noFill/>
          <a:ln/>
        </p:spPr>
        <p:txBody>
          <a:bodyPr wrap="square" lIns="0" tIns="0" rIns="0" bIns="0" rtlCol="0" anchor="ctr"/>
          <a:lstStyle/>
          <a:p>
            <a:pPr indent="0" marL="0">
              <a:buNone/>
            </a:pPr>
            <a:r>
              <a:rPr lang="en-US" sz="1400" b="1" dirty="0">
                <a:solidFill>
                  <a:schemeClr val="accent1"/>
                </a:solidFill>
              </a:rPr>
              <a:t>EdgeGuard MEC app</a:t>
            </a:r>
            <a:endParaRPr lang="en-US" sz="1400" dirty="0"/>
          </a:p>
          <a:p>
            <a:pPr indent="0" marL="0">
              <a:buNone/>
            </a:pPr>
            <a:r>
              <a:rPr lang="en-US" sz="1100" dirty="0">
                <a:solidFill>
                  <a:srgbClr val="DCE3EA"/>
                </a:solidFill>
              </a:rPr>
              <a:t>tracking → prediction →</a:t>
            </a:r>
            <a:endParaRPr lang="en-US" sz="1400" dirty="0"/>
          </a:p>
          <a:p>
            <a:pPr indent="0" marL="0">
              <a:buNone/>
            </a:pPr>
            <a:r>
              <a:rPr lang="en-US" sz="1100" dirty="0">
                <a:solidFill>
                  <a:srgbClr val="DCE3EA"/>
                </a:solidFill>
              </a:rPr>
              <a:t>collision course → cue</a:t>
            </a:r>
            <a:endParaRPr lang="en-US" sz="1400" dirty="0"/>
          </a:p>
          <a:p>
            <a:pPr indent="0" marL="0">
              <a:buNone/>
            </a:pPr>
            <a:r>
              <a:rPr lang="en-US" sz="1100" dirty="0">
                <a:solidFill>
                  <a:srgbClr val="DCE3EA"/>
                </a:solidFill>
              </a:rPr>
              <a:t>(Docker, HA pair)</a:t>
            </a:r>
            <a:endParaRPr lang="en-US" sz="1400" dirty="0"/>
          </a:p>
        </p:txBody>
      </p:sp>
      <p:sp>
        <p:nvSpPr>
          <p:cNvPr id="26" name="node MEC-IPE"/>
          <p:cNvSpPr/>
          <p:nvPr/>
        </p:nvSpPr>
        <p:spPr>
          <a:xfrm>
            <a:off x="3840480" y="5486400"/>
            <a:ext cx="1920240" cy="594360"/>
          </a:xfrm>
          <a:prstGeom prst="roundRect">
            <a:avLst>
              <a:gd name="adj" fmla="val 12308"/>
            </a:avLst>
          </a:prstGeom>
          <a:solidFill>
            <a:schemeClr val="bg1"/>
          </a:solidFill>
          <a:ln w="12700">
            <a:solidFill>
              <a:srgbClr val="C9D0D8"/>
            </a:solidFill>
            <a:prstDash val="solid"/>
          </a:ln>
        </p:spPr>
      </p:sp>
      <p:sp>
        <p:nvSpPr>
          <p:cNvPr id="27" name="node text MEC-IPE"/>
          <p:cNvSpPr txBox="1"/>
          <p:nvPr/>
        </p:nvSpPr>
        <p:spPr>
          <a:xfrm>
            <a:off x="3950208" y="5486400"/>
            <a:ext cx="1700784" cy="594360"/>
          </a:xfrm>
          <a:prstGeom prst="rect">
            <a:avLst/>
          </a:prstGeom>
          <a:noFill/>
          <a:ln/>
        </p:spPr>
        <p:txBody>
          <a:bodyPr wrap="square" lIns="0" tIns="0" rIns="0" bIns="0" rtlCol="0" anchor="ctr"/>
          <a:lstStyle/>
          <a:p>
            <a:pPr indent="0" marL="0">
              <a:buNone/>
            </a:pPr>
            <a:r>
              <a:rPr lang="en-US" sz="1400" b="1" dirty="0">
                <a:solidFill>
                  <a:schemeClr val="tx2"/>
                </a:solidFill>
              </a:rPr>
              <a:t>MEC-IPE</a:t>
            </a:r>
            <a:endParaRPr lang="en-US" sz="1400" dirty="0"/>
          </a:p>
          <a:p>
            <a:pPr indent="0" marL="0">
              <a:buNone/>
            </a:pPr>
            <a:r>
              <a:rPr lang="en-US" sz="1100" dirty="0">
                <a:solidFill>
                  <a:schemeClr val="accent6"/>
                </a:solidFill>
              </a:rPr>
              <a:t>MEC data → oneM2M</a:t>
            </a:r>
            <a:endParaRPr lang="en-US" sz="1400" dirty="0"/>
          </a:p>
        </p:txBody>
      </p:sp>
      <p:sp>
        <p:nvSpPr>
          <p:cNvPr id="28" name="node MEC services"/>
          <p:cNvSpPr/>
          <p:nvPr/>
        </p:nvSpPr>
        <p:spPr>
          <a:xfrm>
            <a:off x="6400800" y="5486400"/>
            <a:ext cx="2377440" cy="594360"/>
          </a:xfrm>
          <a:prstGeom prst="roundRect">
            <a:avLst>
              <a:gd name="adj" fmla="val 12308"/>
            </a:avLst>
          </a:prstGeom>
          <a:solidFill>
            <a:schemeClr val="bg1"/>
          </a:solidFill>
          <a:ln w="12700">
            <a:solidFill>
              <a:srgbClr val="C9D0D8"/>
            </a:solidFill>
            <a:prstDash val="solid"/>
          </a:ln>
        </p:spPr>
      </p:sp>
      <p:sp>
        <p:nvSpPr>
          <p:cNvPr id="29" name="node text MEC services"/>
          <p:cNvSpPr txBox="1"/>
          <p:nvPr/>
        </p:nvSpPr>
        <p:spPr>
          <a:xfrm>
            <a:off x="6510528" y="5486400"/>
            <a:ext cx="2157984" cy="594360"/>
          </a:xfrm>
          <a:prstGeom prst="rect">
            <a:avLst/>
          </a:prstGeom>
          <a:noFill/>
          <a:ln/>
        </p:spPr>
        <p:txBody>
          <a:bodyPr wrap="square" lIns="0" tIns="0" rIns="0" bIns="0" rtlCol="0" anchor="ctr"/>
          <a:lstStyle/>
          <a:p>
            <a:pPr indent="0" marL="0">
              <a:buNone/>
            </a:pPr>
            <a:r>
              <a:rPr lang="en-US" sz="1400" b="1" dirty="0">
                <a:solidFill>
                  <a:schemeClr val="tx2"/>
                </a:solidFill>
              </a:rPr>
              <a:t>MEC services</a:t>
            </a:r>
            <a:endParaRPr lang="en-US" sz="1400" dirty="0"/>
          </a:p>
          <a:p>
            <a:pPr indent="0" marL="0">
              <a:buNone/>
            </a:pPr>
            <a:r>
              <a:rPr lang="en-US" sz="1100" dirty="0">
                <a:solidFill>
                  <a:schemeClr val="accent6"/>
                </a:solidFill>
              </a:rPr>
              <a:t>Location 013 · RNIS 012</a:t>
            </a:r>
            <a:endParaRPr lang="en-US" sz="1400" dirty="0"/>
          </a:p>
        </p:txBody>
      </p:sp>
      <p:sp>
        <p:nvSpPr>
          <p:cNvPr id="30" name="node MEC platform"/>
          <p:cNvSpPr/>
          <p:nvPr/>
        </p:nvSpPr>
        <p:spPr>
          <a:xfrm>
            <a:off x="9326880" y="2880360"/>
            <a:ext cx="2148840" cy="3200400"/>
          </a:xfrm>
          <a:prstGeom prst="roundRect">
            <a:avLst>
              <a:gd name="adj" fmla="val 3404"/>
            </a:avLst>
          </a:prstGeom>
          <a:solidFill>
            <a:schemeClr val="bg1"/>
          </a:solidFill>
          <a:ln w="12700">
            <a:solidFill>
              <a:srgbClr val="C9D0D8"/>
            </a:solidFill>
            <a:prstDash val="solid"/>
          </a:ln>
        </p:spPr>
      </p:sp>
      <p:sp>
        <p:nvSpPr>
          <p:cNvPr id="31" name="node text MEC platform"/>
          <p:cNvSpPr txBox="1"/>
          <p:nvPr/>
        </p:nvSpPr>
        <p:spPr>
          <a:xfrm>
            <a:off x="9436608" y="2880360"/>
            <a:ext cx="1929384" cy="3200400"/>
          </a:xfrm>
          <a:prstGeom prst="rect">
            <a:avLst/>
          </a:prstGeom>
          <a:noFill/>
          <a:ln/>
        </p:spPr>
        <p:txBody>
          <a:bodyPr wrap="square" lIns="0" tIns="0" rIns="0" bIns="0" rtlCol="0" anchor="ctr"/>
          <a:lstStyle/>
          <a:p>
            <a:pPr indent="0" marL="0">
              <a:buNone/>
            </a:pPr>
            <a:r>
              <a:rPr lang="en-US" sz="1400" b="1" dirty="0">
                <a:solidFill>
                  <a:schemeClr val="tx2"/>
                </a:solidFill>
              </a:rPr>
              <a:t>MEC platform</a:t>
            </a:r>
            <a:endParaRPr lang="en-US" sz="1400" dirty="0"/>
          </a:p>
          <a:p>
            <a:pPr indent="0" marL="0">
              <a:buNone/>
            </a:pPr>
            <a:r>
              <a:rPr lang="en-US" sz="1100" dirty="0">
                <a:solidFill>
                  <a:schemeClr val="accent6"/>
                </a:solidFill>
              </a:rPr>
              <a:t>app lifecycle, Mp1</a:t>
            </a:r>
            <a:endParaRPr lang="en-US" sz="1400" dirty="0"/>
          </a:p>
          <a:p>
            <a:pPr indent="0" marL="0">
              <a:buNone/>
            </a:pPr>
            <a:r>
              <a:rPr lang="en-US" sz="1100" dirty="0">
                <a:solidFill>
                  <a:schemeClr val="accent6"/>
                </a:solidFill>
              </a:rPr>
              <a:t>AdvantEDGE /</a:t>
            </a:r>
            <a:endParaRPr lang="en-US" sz="1400" dirty="0"/>
          </a:p>
          <a:p>
            <a:pPr indent="0" marL="0">
              <a:buNone/>
            </a:pPr>
            <a:r>
              <a:rPr lang="en-US" sz="1100" dirty="0">
                <a:solidFill>
                  <a:schemeClr val="accent6"/>
                </a:solidFill>
              </a:rPr>
              <a:t>ETSI MEC Sandbox</a:t>
            </a:r>
            <a:endParaRPr lang="en-US" sz="1400" dirty="0"/>
          </a:p>
        </p:txBody>
      </p:sp>
      <p:sp>
        <p:nvSpPr>
          <p:cNvPr id="32" name="mca arrow 0"/>
          <p:cNvSpPr/>
          <p:nvPr/>
        </p:nvSpPr>
        <p:spPr>
          <a:xfrm>
            <a:off x="3200400" y="3246120"/>
            <a:ext cx="640080" cy="0"/>
          </a:xfrm>
          <a:prstGeom prst="line">
            <a:avLst/>
          </a:prstGeom>
          <a:noFill/>
          <a:ln w="25400">
            <a:solidFill>
              <a:schemeClr val="accent6"/>
            </a:solidFill>
            <a:prstDash val="solid"/>
            <a:headEnd type="triangle"/>
            <a:tailEnd type="triangle"/>
          </a:ln>
        </p:spPr>
      </p:sp>
      <p:sp>
        <p:nvSpPr>
          <p:cNvPr id="33" name="mca arrow 1"/>
          <p:cNvSpPr/>
          <p:nvPr/>
        </p:nvSpPr>
        <p:spPr>
          <a:xfrm>
            <a:off x="3200400" y="4114800"/>
            <a:ext cx="640080" cy="0"/>
          </a:xfrm>
          <a:prstGeom prst="line">
            <a:avLst/>
          </a:prstGeom>
          <a:noFill/>
          <a:ln w="25400">
            <a:solidFill>
              <a:schemeClr val="accent6"/>
            </a:solidFill>
            <a:prstDash val="solid"/>
            <a:headEnd type="triangle"/>
            <a:tailEnd type="triangle"/>
          </a:ln>
        </p:spPr>
      </p:sp>
      <p:sp>
        <p:nvSpPr>
          <p:cNvPr id="34" name="mca arrow 2"/>
          <p:cNvSpPr/>
          <p:nvPr/>
        </p:nvSpPr>
        <p:spPr>
          <a:xfrm>
            <a:off x="3200400" y="4983480"/>
            <a:ext cx="640080" cy="0"/>
          </a:xfrm>
          <a:prstGeom prst="line">
            <a:avLst/>
          </a:prstGeom>
          <a:noFill/>
          <a:ln w="25400">
            <a:solidFill>
              <a:schemeClr val="accent6"/>
            </a:solidFill>
            <a:prstDash val="solid"/>
            <a:headEnd type="triangle"/>
            <a:tailEnd type="triangle"/>
          </a:ln>
        </p:spPr>
      </p:sp>
      <p:sp>
        <p:nvSpPr>
          <p:cNvPr id="35" name="mca label"/>
          <p:cNvSpPr txBox="1"/>
          <p:nvPr/>
        </p:nvSpPr>
        <p:spPr>
          <a:xfrm>
            <a:off x="3154680" y="2926080"/>
            <a:ext cx="731520" cy="274320"/>
          </a:xfrm>
          <a:prstGeom prst="rect">
            <a:avLst/>
          </a:prstGeom>
          <a:noFill/>
          <a:ln/>
        </p:spPr>
        <p:txBody>
          <a:bodyPr wrap="square" lIns="0" tIns="0" rIns="0" bIns="0" rtlCol="0" anchor="ctr"/>
          <a:lstStyle/>
          <a:p>
            <a:pPr algn="ctr" indent="0" marL="0">
              <a:buNone/>
            </a:pPr>
            <a:r>
              <a:rPr lang="en-US" sz="1000" dirty="0">
                <a:solidFill>
                  <a:schemeClr val="accent6"/>
                </a:solidFill>
              </a:rPr>
              <a:t>Mca (HTTP)</a:t>
            </a:r>
            <a:endParaRPr lang="en-US" sz="1000" dirty="0"/>
          </a:p>
        </p:txBody>
      </p:sp>
      <p:sp>
        <p:nvSpPr>
          <p:cNvPr id="36" name="notify arrow"/>
          <p:cNvSpPr/>
          <p:nvPr/>
        </p:nvSpPr>
        <p:spPr>
          <a:xfrm>
            <a:off x="5760720" y="3657600"/>
            <a:ext cx="640080" cy="0"/>
          </a:xfrm>
          <a:prstGeom prst="line">
            <a:avLst/>
          </a:prstGeom>
          <a:noFill/>
          <a:ln w="25400">
            <a:solidFill>
              <a:schemeClr val="accent2"/>
            </a:solidFill>
            <a:prstDash val="solid"/>
            <a:tailEnd type="triangle"/>
          </a:ln>
        </p:spPr>
      </p:sp>
      <p:sp>
        <p:nvSpPr>
          <p:cNvPr id="37" name="notify label"/>
          <p:cNvSpPr txBox="1"/>
          <p:nvPr/>
        </p:nvSpPr>
        <p:spPr>
          <a:xfrm>
            <a:off x="5760720" y="3337560"/>
            <a:ext cx="640080" cy="274320"/>
          </a:xfrm>
          <a:prstGeom prst="rect">
            <a:avLst/>
          </a:prstGeom>
          <a:noFill/>
          <a:ln/>
        </p:spPr>
        <p:txBody>
          <a:bodyPr wrap="square" lIns="0" tIns="0" rIns="0" bIns="0" rtlCol="0" anchor="ctr"/>
          <a:lstStyle/>
          <a:p>
            <a:pPr algn="ctr" indent="0" marL="0">
              <a:buNone/>
            </a:pPr>
            <a:r>
              <a:rPr lang="en-US" sz="1000" dirty="0">
                <a:solidFill>
                  <a:schemeClr val="accent2"/>
                </a:solidFill>
              </a:rPr>
              <a:t>Notify</a:t>
            </a:r>
            <a:endParaRPr lang="en-US" sz="1000" dirty="0"/>
          </a:p>
        </p:txBody>
      </p:sp>
      <p:sp>
        <p:nvSpPr>
          <p:cNvPr id="38" name="alert arrow"/>
          <p:cNvSpPr/>
          <p:nvPr/>
        </p:nvSpPr>
        <p:spPr>
          <a:xfrm flipH="1">
            <a:off x="5760720" y="4572000"/>
            <a:ext cx="640080" cy="0"/>
          </a:xfrm>
          <a:prstGeom prst="line">
            <a:avLst/>
          </a:prstGeom>
          <a:noFill/>
          <a:ln w="25400">
            <a:solidFill>
              <a:schemeClr val="accent3"/>
            </a:solidFill>
            <a:prstDash val="solid"/>
            <a:tailEnd type="triangle"/>
          </a:ln>
        </p:spPr>
      </p:sp>
      <p:sp>
        <p:nvSpPr>
          <p:cNvPr id="39" name="alert label"/>
          <p:cNvSpPr txBox="1"/>
          <p:nvPr/>
        </p:nvSpPr>
        <p:spPr>
          <a:xfrm>
            <a:off x="5760720" y="4617720"/>
            <a:ext cx="640080" cy="274320"/>
          </a:xfrm>
          <a:prstGeom prst="rect">
            <a:avLst/>
          </a:prstGeom>
          <a:noFill/>
          <a:ln/>
        </p:spPr>
        <p:txBody>
          <a:bodyPr wrap="square" lIns="0" tIns="0" rIns="0" bIns="0" rtlCol="0" anchor="ctr"/>
          <a:lstStyle/>
          <a:p>
            <a:pPr algn="ctr" indent="0" marL="0">
              <a:buNone/>
            </a:pPr>
            <a:r>
              <a:rPr lang="en-US" sz="1000" dirty="0">
                <a:solidFill>
                  <a:schemeClr val="accent3"/>
                </a:solidFill>
              </a:rPr>
              <a:t>alert</a:t>
            </a:r>
            <a:endParaRPr lang="en-US" sz="1000" dirty="0"/>
          </a:p>
        </p:txBody>
      </p:sp>
      <p:sp>
        <p:nvSpPr>
          <p:cNvPr id="40" name="mec to ipe"/>
          <p:cNvSpPr/>
          <p:nvPr/>
        </p:nvSpPr>
        <p:spPr>
          <a:xfrm flipH="1">
            <a:off x="5760720" y="5779008"/>
            <a:ext cx="640080" cy="0"/>
          </a:xfrm>
          <a:prstGeom prst="line">
            <a:avLst/>
          </a:prstGeom>
          <a:noFill/>
          <a:ln w="25400">
            <a:solidFill>
              <a:schemeClr val="accent6"/>
            </a:solidFill>
            <a:prstDash val="solid"/>
            <a:tailEnd type="triangle"/>
          </a:ln>
        </p:spPr>
      </p:sp>
      <p:sp>
        <p:nvSpPr>
          <p:cNvPr id="41" name="ipe to cse"/>
          <p:cNvSpPr/>
          <p:nvPr/>
        </p:nvSpPr>
        <p:spPr>
          <a:xfrm flipV="1">
            <a:off x="4800600" y="5349240"/>
            <a:ext cx="0" cy="137160"/>
          </a:xfrm>
          <a:prstGeom prst="line">
            <a:avLst/>
          </a:prstGeom>
          <a:noFill/>
          <a:ln w="25400">
            <a:solidFill>
              <a:schemeClr val="accent6"/>
            </a:solidFill>
            <a:prstDash val="solid"/>
            <a:tailEnd type="triangle"/>
          </a:ln>
        </p:spPr>
      </p:sp>
      <p:sp>
        <p:nvSpPr>
          <p:cNvPr id="42" name="mcc arrow"/>
          <p:cNvSpPr/>
          <p:nvPr/>
        </p:nvSpPr>
        <p:spPr>
          <a:xfrm>
            <a:off x="4800600" y="2057400"/>
            <a:ext cx="0" cy="822960"/>
          </a:xfrm>
          <a:prstGeom prst="line">
            <a:avLst/>
          </a:prstGeom>
          <a:noFill/>
          <a:ln w="25400">
            <a:solidFill>
              <a:schemeClr val="accent2"/>
            </a:solidFill>
            <a:prstDash val="solid"/>
            <a:headEnd type="triangle"/>
            <a:tailEnd type="triangle"/>
          </a:ln>
        </p:spPr>
      </p:sp>
      <p:sp>
        <p:nvSpPr>
          <p:cNvPr id="43" name="mcc label"/>
          <p:cNvSpPr txBox="1"/>
          <p:nvPr/>
        </p:nvSpPr>
        <p:spPr>
          <a:xfrm>
            <a:off x="4892040" y="2331720"/>
            <a:ext cx="548640" cy="274320"/>
          </a:xfrm>
          <a:prstGeom prst="rect">
            <a:avLst/>
          </a:prstGeom>
          <a:noFill/>
          <a:ln/>
        </p:spPr>
        <p:txBody>
          <a:bodyPr wrap="square" lIns="0" tIns="0" rIns="0" bIns="0" rtlCol="0" anchor="ctr"/>
          <a:lstStyle/>
          <a:p>
            <a:pPr indent="0" marL="0">
              <a:buNone/>
            </a:pPr>
            <a:r>
              <a:rPr lang="en-US" sz="1000" dirty="0">
                <a:solidFill>
                  <a:schemeClr val="accent2"/>
                </a:solidFill>
              </a:rPr>
              <a:t>Mcc</a:t>
            </a:r>
            <a:endParaRPr lang="en-US" sz="1000" dirty="0"/>
          </a:p>
        </p:txBody>
      </p:sp>
      <p:sp>
        <p:nvSpPr>
          <p:cNvPr id="44" name="cloud apps arrow"/>
          <p:cNvSpPr/>
          <p:nvPr/>
        </p:nvSpPr>
        <p:spPr>
          <a:xfrm>
            <a:off x="5760720" y="1691640"/>
            <a:ext cx="640080" cy="0"/>
          </a:xfrm>
          <a:prstGeom prst="line">
            <a:avLst/>
          </a:prstGeom>
          <a:noFill/>
          <a:ln w="25400">
            <a:solidFill>
              <a:schemeClr val="accent6"/>
            </a:solidFill>
            <a:prstDash val="solid"/>
            <a:tailEnd type="triangle"/>
          </a:ln>
        </p:spPr>
      </p:sp>
      <p:sp>
        <p:nvSpPr>
          <p:cNvPr id="45" name="mp1 arrow"/>
          <p:cNvSpPr/>
          <p:nvPr/>
        </p:nvSpPr>
        <p:spPr>
          <a:xfrm>
            <a:off x="8778240" y="4114800"/>
            <a:ext cx="548640" cy="0"/>
          </a:xfrm>
          <a:prstGeom prst="line">
            <a:avLst/>
          </a:prstGeom>
          <a:noFill/>
          <a:ln w="25400">
            <a:solidFill>
              <a:schemeClr val="accent6"/>
            </a:solidFill>
            <a:prstDash val="solid"/>
            <a:headEnd type="triangle"/>
            <a:tailEnd type="triangle"/>
          </a:ln>
        </p:spPr>
      </p:sp>
      <p:sp>
        <p:nvSpPr>
          <p:cNvPr id="46" name="mp1 label"/>
          <p:cNvSpPr txBox="1"/>
          <p:nvPr/>
        </p:nvSpPr>
        <p:spPr>
          <a:xfrm>
            <a:off x="8778240" y="3794760"/>
            <a:ext cx="548640" cy="274320"/>
          </a:xfrm>
          <a:prstGeom prst="rect">
            <a:avLst/>
          </a:prstGeom>
          <a:noFill/>
          <a:ln/>
        </p:spPr>
        <p:txBody>
          <a:bodyPr wrap="square" lIns="0" tIns="0" rIns="0" bIns="0" rtlCol="0" anchor="ctr"/>
          <a:lstStyle/>
          <a:p>
            <a:pPr algn="ctr" indent="0" marL="0">
              <a:buNone/>
            </a:pPr>
            <a:r>
              <a:rPr lang="en-US" sz="1000" dirty="0">
                <a:solidFill>
                  <a:schemeClr val="accent6"/>
                </a:solidFill>
              </a:rPr>
              <a:t>Mp1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Zones, cloud and continuity: the full picture</a:t>
            </a:r>
            <a:endParaRPr lang="en-US" sz="3000" dirty="0"/>
          </a:p>
        </p:txBody>
      </p:sp>
      <p:pic>
        <p:nvPicPr>
          <p:cNvPr id="3" name="architecture diagram" descr="EdgeGuard architecture: zone MEC hosts with MN-CSEs and MEC apps, IN-CSE with home records, federated learning coordinator and AI agent, field devices with D2D fallback">    </p:cNvPr>
          <p:cNvPicPr>
            <a:picLocks noChangeAspect="1"/>
          </p:cNvPicPr>
          <p:nvPr/>
        </p:nvPicPr>
        <p:blipFill>
          <a:blip r:embed="rId1"/>
          <a:stretch>
            <a:fillRect/>
          </a:stretch>
        </p:blipFill>
        <p:spPr>
          <a:xfrm>
            <a:off x="1527048" y="1188720"/>
            <a:ext cx="9144000" cy="51435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oneM2M resource design and access control</a:t>
            </a:r>
            <a:endParaRPr lang="en-US" sz="3000" dirty="0"/>
          </a:p>
        </p:txBody>
      </p:sp>
      <p:sp>
        <p:nvSpPr>
          <p:cNvPr id="3" name="tree panel"/>
          <p:cNvSpPr/>
          <p:nvPr/>
        </p:nvSpPr>
        <p:spPr>
          <a:xfrm>
            <a:off x="548640" y="1280160"/>
            <a:ext cx="5852160" cy="4846320"/>
          </a:xfrm>
          <a:prstGeom prst="roundRect">
            <a:avLst>
              <a:gd name="adj" fmla="val 1509"/>
            </a:avLst>
          </a:prstGeom>
          <a:solidFill>
            <a:schemeClr val="tx2"/>
          </a:solidFill>
          <a:ln w="12700">
            <a:solidFill>
              <a:schemeClr val="tx2"/>
            </a:solidFill>
            <a:prstDash val="solid"/>
          </a:ln>
        </p:spPr>
      </p:sp>
      <p:sp>
        <p:nvSpPr>
          <p:cNvPr id="4" name="resource tree"/>
          <p:cNvSpPr txBox="1"/>
          <p:nvPr/>
        </p:nvSpPr>
        <p:spPr>
          <a:xfrm>
            <a:off x="777240" y="1463040"/>
            <a:ext cx="5486400" cy="448056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/cse-mn-a (zone MN-CSE on the MEC host)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worker_01      AE SWorker01, lbl egs:role/worker</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tag        flexContainer egs:wrkTg</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 kinematics  egs:kinSt (mni 100)</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 cue · battery (cod:bat)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 smd    SAREF semanticDescriptor</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relay · status   CNT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acp_worker_01    ACP</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forklift_01    AE: module egs:frkMe</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kinematics · speedLimit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EdgeGuard      AE (MEC app)</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risk · alert · control  CNT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nearmiss (mni 2000) · mec_lease</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SUB kinematics (net=update) → MEC app</a:t>
            </a:r>
            <a:endParaRPr lang="en-US" sz="1300" dirty="0"/>
          </a:p>
          <a:p>
            <a:pPr indent="0" marL="0">
              <a:buNone/>
            </a:pPr>
            <a:r>
              <a:rPr lang="en-US" sz="1300" dirty="0">
                <a:solidFill>
                  <a:schemeClr val="accent1"/>
                </a:solidFill>
                <a:latin typeface="Courier New" pitchFamily="34" charset="0"/>
                <a:ea typeface="Courier New" pitchFamily="34" charset="-122"/>
                <a:cs typeface="Courier New" pitchFamily="34" charset="-120"/>
              </a:rPr>
              <a:t>found by lbl egs:module/kinematics</a:t>
            </a:r>
            <a:endParaRPr lang="en-US" sz="1300" dirty="0"/>
          </a:p>
        </p:txBody>
      </p:sp>
      <p:graphicFrame>
        <p:nvGraphicFramePr>
          <p:cNvPr id="9" name="acp table"/>
          <p:cNvGraphicFramePr>
            <a:graphicFrameLocks noGrp="1"/>
          </p:cNvGraphicFramePr>
          <p:nvPr>
            <p:extLst>
              <p:ext uri="{D42A27DB-BD31-4B8C-83A1-F6EECF244321}">
                <p14:modId xmlns:p14="http://schemas.microsoft.com/office/powerpoint/2010/main" val="1579011935"/>
              </p:ext>
            </p:extLst>
          </p:nvPr>
        </p:nvGraphicFramePr>
        <p:xfrm>
          <a:off x="6675120" y="1280160"/>
          <a:ext cx="4965192" cy="914400"/>
        </p:xfrm>
        <a:graphic>
          <a:graphicData uri="http://schemas.openxmlformats.org/drawingml/2006/table">
            <a:tbl>
              <a:tblPr/>
              <a:tblGrid>
                <a:gridCol w="1463040"/>
                <a:gridCol w="1234440"/>
                <a:gridCol w="1097280"/>
                <a:gridCol w="1170432"/>
              </a:tblGrid>
              <a:tr h="0">
                <a:tc>
                  <a:txBody>
                    <a:bodyPr/>
                    <a:lstStyle/>
                    <a:p>
                      <a:pPr indent="0" marL="0">
                        <a:buNone/>
                      </a:pPr>
                      <a:r>
                        <a:rPr lang="en-US" sz="1200" b="1" dirty="0">
                          <a:solidFill>
                            <a:schemeClr val="bg1"/>
                          </a:solidFill>
                        </a:rPr>
                        <a:t>Who</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Own device AE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Other device AEs</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MEC app AE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Device (e.g. SWorker01)</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all</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none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subscribe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MEC app (SEdgeGuard)</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discover, create SUB only (chty 23)</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same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all</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MEC-IPE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discover</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same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none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6" name="resource notes"/>
          <p:cNvSpPr txBox="1"/>
          <p:nvPr/>
        </p:nvSpPr>
        <p:spPr>
          <a:xfrm>
            <a:off x="6675120" y="3794760"/>
            <a:ext cx="4965192" cy="2331720"/>
          </a:xfrm>
          <a:prstGeom prst="rect">
            <a:avLst/>
          </a:prstGeom>
          <a:noFill/>
          <a:ln/>
        </p:spPr>
        <p:txBody>
          <a:bodyPr wrap="square" lIns="0" tIns="0" rIns="0" bIns="0" rtlCol="0" anchor="t"/>
          <a:lstStyle/>
          <a:p>
            <a:pPr indent="0" marL="0">
              <a:buNone/>
            </a:pPr>
            <a:r>
              <a:rPr lang="en-US" sz="1400" b="1" dirty="0">
                <a:solidFill>
                  <a:schemeClr val="tx2"/>
                </a:solidFill>
              </a:rPr>
              <a:t>Verified in CI on every commit </a:t>
            </a:r>
            <a:endParaRPr lang="en-US" sz="1400" dirty="0"/>
          </a:p>
          <a:p>
            <a:pPr indent="0" marL="0">
              <a:buNone/>
            </a:pPr>
            <a:r>
              <a:rPr lang="en-US" sz="1400" dirty="0">
                <a:solidFill>
                  <a:schemeClr val="tx1"/>
                </a:solidFill>
              </a:rPr>
              <a:t>Real Mobius: 8 of 8 checks pass, including a forged write from another device rejected with 403. The same tree runs on ACME.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accent2"/>
                </a:solidFill>
              </a:rPr>
              <a:t>Data model (in use) </a:t>
            </a:r>
            <a:endParaRPr lang="en-US" sz="1400" dirty="0"/>
          </a:p>
          <a:p>
            <a:pPr indent="0" marL="0">
              <a:buNone/>
            </a:pPr>
            <a:r>
              <a:rPr lang="en-US" sz="1400" dirty="0">
                <a:solidFill>
                  <a:schemeClr val="tx1"/>
                </a:solidFill>
              </a:rPr>
              <a:t>SDT flexContainers (own domain org.edgeguard.safety + cod:bat, plus MEC data, hosts, intents, model deployment), labels, SAREF semantic query, &lt;group&gt; fan-out per zone, &lt;pollingChannel&gt; for tags behind NAT.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ETSI MEC integration</a:t>
            </a:r>
            <a:endParaRPr lang="en-US" sz="3000" dirty="0"/>
          </a:p>
        </p:txBody>
      </p:sp>
      <p:sp>
        <p:nvSpPr>
          <p:cNvPr id="3" name="mec row 0"/>
          <p:cNvSpPr/>
          <p:nvPr/>
        </p:nvSpPr>
        <p:spPr>
          <a:xfrm>
            <a:off x="548640" y="1280160"/>
            <a:ext cx="11064240" cy="1463040"/>
          </a:xfrm>
          <a:prstGeom prst="roundRect">
            <a:avLst>
              <a:gd name="adj" fmla="val 5000"/>
            </a:avLst>
          </a:prstGeom>
          <a:solidFill>
            <a:schemeClr val="bg2"/>
          </a:solidFill>
          <a:ln w="12700">
            <a:solidFill>
              <a:schemeClr val="bg2"/>
            </a:solidFill>
            <a:prstDash val="solid"/>
          </a:ln>
        </p:spPr>
      </p:sp>
      <p:sp>
        <p:nvSpPr>
          <p:cNvPr id="4" name="mec head 0"/>
          <p:cNvSpPr txBox="1"/>
          <p:nvPr/>
        </p:nvSpPr>
        <p:spPr>
          <a:xfrm>
            <a:off x="822960" y="146304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MEC services through oneM2M</a:t>
            </a:r>
            <a:endParaRPr lang="en-US" sz="1800" dirty="0"/>
          </a:p>
        </p:txBody>
      </p:sp>
      <p:sp>
        <p:nvSpPr>
          <p:cNvPr id="5" name="mec body 0"/>
          <p:cNvSpPr txBox="1"/>
          <p:nvPr/>
        </p:nvSpPr>
        <p:spPr>
          <a:xfrm>
            <a:off x="3657600" y="1463040"/>
            <a:ext cx="4297680" cy="1097280"/>
          </a:xfrm>
          <a:prstGeom prst="rect">
            <a:avLst/>
          </a:prstGeom>
          <a:noFill/>
          <a:ln/>
        </p:spPr>
        <p:txBody>
          <a:bodyPr wrap="square" lIns="0" tIns="0" rIns="0" bIns="0" rtlCol="0" anchor="t"/>
          <a:lstStyle/>
          <a:p>
            <a:pPr indent="0" marL="0">
              <a:buNone/>
            </a:pPr>
            <a:r>
              <a:rPr lang="en-US" sz="1400" dirty="0">
                <a:solidFill>
                  <a:schemeClr val="tx1"/>
                </a:solidFill>
              </a:rPr>
              <a:t>MEC-IPE: MEC 013 Location and MEC 012 RNIS as oneM2M resources; event-driven: zone events and per-UE RSRP / RSRQ into SDT twins (egs:mecUe, egs:ueLoc, egs:rdLnk).</a:t>
            </a:r>
            <a:endParaRPr lang="en-US" sz="1400" dirty="0"/>
          </a:p>
        </p:txBody>
      </p:sp>
      <p:sp>
        <p:nvSpPr>
          <p:cNvPr id="6" name="mec evidence 0"/>
          <p:cNvSpPr txBox="1"/>
          <p:nvPr/>
        </p:nvSpPr>
        <p:spPr>
          <a:xfrm>
            <a:off x="8138160" y="146304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Bidirectional: oneM2M apps post MEC requests (zone / radio subscribe, location) into MEC-IPE/requests</a:t>
            </a:r>
            <a:endParaRPr lang="en-US" sz="1400" dirty="0"/>
          </a:p>
          <a:p>
            <a:pPr indent="0" marL="0">
              <a:buNone/>
            </a:pPr>
            <a:r>
              <a:rPr lang="en-US" sz="1400" dirty="0">
                <a:solidFill>
                  <a:schemeClr val="accent2"/>
                </a:solidFill>
              </a:rPr>
              <a:t>Zone event → oneM2M: 15–45 ms</a:t>
            </a:r>
            <a:endParaRPr lang="en-US" sz="1400" dirty="0"/>
          </a:p>
        </p:txBody>
      </p:sp>
      <p:sp>
        <p:nvSpPr>
          <p:cNvPr id="7" name="mec row 1"/>
          <p:cNvSpPr/>
          <p:nvPr/>
        </p:nvSpPr>
        <p:spPr>
          <a:xfrm>
            <a:off x="548640" y="2926080"/>
            <a:ext cx="11064240" cy="1463040"/>
          </a:xfrm>
          <a:prstGeom prst="roundRect">
            <a:avLst>
              <a:gd name="adj" fmla="val 5000"/>
            </a:avLst>
          </a:prstGeom>
          <a:solidFill>
            <a:schemeClr val="bg2"/>
          </a:solidFill>
          <a:ln w="12700">
            <a:solidFill>
              <a:schemeClr val="bg2"/>
            </a:solidFill>
            <a:prstDash val="solid"/>
          </a:ln>
        </p:spPr>
      </p:sp>
      <p:sp>
        <p:nvSpPr>
          <p:cNvPr id="8" name="mec head 1"/>
          <p:cNvSpPr txBox="1"/>
          <p:nvPr/>
        </p:nvSpPr>
        <p:spPr>
          <a:xfrm>
            <a:off x="822960" y="310896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MEC application deployment</a:t>
            </a:r>
            <a:endParaRPr lang="en-US" sz="1800" dirty="0"/>
          </a:p>
        </p:txBody>
      </p:sp>
      <p:sp>
        <p:nvSpPr>
          <p:cNvPr id="9" name="mec body 1"/>
          <p:cNvSpPr txBox="1"/>
          <p:nvPr/>
        </p:nvSpPr>
        <p:spPr>
          <a:xfrm>
            <a:off x="3657600" y="3108960"/>
            <a:ext cx="4297680" cy="1097280"/>
          </a:xfrm>
          <a:prstGeom prst="rect">
            <a:avLst/>
          </a:prstGeom>
          <a:noFill/>
          <a:ln/>
        </p:spPr>
        <p:txBody>
          <a:bodyPr wrap="square" lIns="0" tIns="0" rIns="0" bIns="0" rtlCol="0" anchor="t"/>
          <a:lstStyle/>
          <a:p>
            <a:pPr indent="0" marL="0">
              <a:buNone/>
            </a:pPr>
            <a:r>
              <a:rPr lang="en-US" sz="1400" dirty="0">
                <a:solidFill>
                  <a:schemeClr val="tx1"/>
                </a:solidFill>
              </a:rPr>
              <a:t>The EdgeGuard MEC app runs as a Docker container on the MEC host, next to the edge CSE; an active-standby pair shares a lease container in oneM2M.</a:t>
            </a:r>
            <a:endParaRPr lang="en-US" sz="1400" dirty="0"/>
          </a:p>
        </p:txBody>
      </p:sp>
      <p:sp>
        <p:nvSpPr>
          <p:cNvPr id="10" name="mec evidence 1"/>
          <p:cNvSpPr txBox="1"/>
          <p:nvPr/>
        </p:nvSpPr>
        <p:spPr>
          <a:xfrm>
            <a:off x="8138160" y="310896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Self-hosted AdvantEDGE with a custom warehouse scenario: 70 alerts in 2 minutes</a:t>
            </a:r>
            <a:endParaRPr lang="en-US" sz="1400" dirty="0"/>
          </a:p>
        </p:txBody>
      </p:sp>
      <p:sp>
        <p:nvSpPr>
          <p:cNvPr id="11" name="mec row 2"/>
          <p:cNvSpPr/>
          <p:nvPr/>
        </p:nvSpPr>
        <p:spPr>
          <a:xfrm>
            <a:off x="548640" y="4572000"/>
            <a:ext cx="11064240" cy="1463040"/>
          </a:xfrm>
          <a:prstGeom prst="roundRect">
            <a:avLst>
              <a:gd name="adj" fmla="val 5000"/>
            </a:avLst>
          </a:prstGeom>
          <a:solidFill>
            <a:schemeClr val="bg2"/>
          </a:solidFill>
          <a:ln w="12700">
            <a:solidFill>
              <a:schemeClr val="bg2"/>
            </a:solidFill>
            <a:prstDash val="solid"/>
          </a:ln>
        </p:spPr>
      </p:sp>
      <p:sp>
        <p:nvSpPr>
          <p:cNvPr id="12" name="mec head 2"/>
          <p:cNvSpPr txBox="1"/>
          <p:nvPr/>
        </p:nvSpPr>
        <p:spPr>
          <a:xfrm>
            <a:off x="822960" y="475488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Orchestration across MEC hosts</a:t>
            </a:r>
            <a:endParaRPr lang="en-US" sz="1800" dirty="0"/>
          </a:p>
        </p:txBody>
      </p:sp>
      <p:sp>
        <p:nvSpPr>
          <p:cNvPr id="13" name="mec body 2"/>
          <p:cNvSpPr txBox="1"/>
          <p:nvPr/>
        </p:nvSpPr>
        <p:spPr>
          <a:xfrm>
            <a:off x="3657600" y="4754880"/>
            <a:ext cx="4297680" cy="1097280"/>
          </a:xfrm>
          <a:prstGeom prst="rect">
            <a:avLst/>
          </a:prstGeom>
          <a:noFill/>
          <a:ln/>
        </p:spPr>
        <p:txBody>
          <a:bodyPr wrap="square" lIns="0" tIns="0" rIns="0" bIns="0" rtlCol="0" anchor="t"/>
          <a:lstStyle/>
          <a:p>
            <a:pPr indent="0" marL="0">
              <a:buNone/>
            </a:pPr>
            <a:r>
              <a:rPr lang="en-US" sz="1400" dirty="0">
                <a:solidFill>
                  <a:schemeClr val="tx1"/>
                </a:solidFill>
              </a:rPr>
              <a:t>Hosts register as egs:mecHs; an operator creates one egs:depIn intent; the orchestrator selects, deploys via the host lifecycle API, provisions device ACPs, monitors and re-places.</a:t>
            </a:r>
            <a:endParaRPr lang="en-US" sz="1400" dirty="0"/>
          </a:p>
        </p:txBody>
      </p:sp>
      <p:sp>
        <p:nvSpPr>
          <p:cNvPr id="14" name="mec evidence 2"/>
          <p:cNvSpPr txBox="1"/>
          <p:nvPr/>
        </p:nvSpPr>
        <p:spPr>
          <a:xfrm>
            <a:off x="8138160" y="475488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Running ≈ 0.75 s after the intent; host crash → running on the next host in ≈ 2.5 s. Live public Sandbox for Location / RNIS queries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TR-0077 clause 7 in EdgeGuard (ESTIMED option C)</a:t>
            </a:r>
            <a:endParaRPr lang="en-US" sz="3000" dirty="0"/>
          </a:p>
        </p:txBody>
      </p:sp>
      <p:graphicFrame>
        <p:nvGraphicFramePr>
          <p:cNvPr id="11" name="tr0077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554480"/>
                <a:gridCol w="3291840"/>
                <a:gridCol w="4114800"/>
                <a:gridCol w="2103120"/>
              </a:tblGrid>
              <a:tr h="0">
                <a:tc>
                  <a:txBody>
                    <a:bodyPr/>
                    <a:lstStyle/>
                    <a:p>
                      <a:pPr indent="0" marL="0">
                        <a:buNone/>
                      </a:pPr>
                      <a:r>
                        <a:rPr lang="en-US" sz="1200" b="1" dirty="0">
                          <a:solidFill>
                            <a:schemeClr val="bg1"/>
                          </a:solidFill>
                        </a:rPr>
                        <a:t>Clause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ESTIMED feature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EdgeGuard</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CI evidence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7.1 Interworking</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MEC services in oneM2M, SDT models for MEC APIs; orchestration discover → select → deploy → register → provision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Event-driven, bidirectional MEC-IPE; MEC SDT classes; orchestrator driven by one intent resource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mobility 10/10 · orchestration 11/11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7.2 Handover</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Continuity bundle; trigger by the MEC network / radio system</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Make-before-break twin migration (state, ACP, subscriptions, announcement, home record); triggers: location, availability, MEC zone event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handover 10/10 + 8/8 · 1.5–11 ms, 0 lost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7.3 Federated learning</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Lifecycle from intent to inference; model lineage, activation, rollback</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TR-0084 roles as oneM2M resources; canary → activate in the risk engine → shadow monitoring → rollback (egs:mdlDp)</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FL 8/8 · delivery 8/8</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7.4 Swarm computing</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Membership, context, coordination; participants keep local authority</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&lt;group&gt; of forklift plans; context in one request; every member computes the same conflict-free schedule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swarm 9/9 · conflicts 4 → 0</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continuum note"/>
          <p:cNvSpPr txBox="1"/>
          <p:nvPr/>
        </p:nvSpPr>
        <p:spPr>
          <a:xfrm>
            <a:off x="548640" y="5257800"/>
            <a:ext cx="11064240" cy="822960"/>
          </a:xfrm>
          <a:prstGeom prst="rect">
            <a:avLst/>
          </a:prstGeom>
          <a:noFill/>
          <a:ln/>
        </p:spPr>
        <p:txBody>
          <a:bodyPr wrap="square" lIns="0" tIns="0" rIns="0" bIns="0" rtlCol="0" anchor="t"/>
          <a:lstStyle/>
          <a:p>
            <a:pPr indent="0" marL="0">
              <a:buNone/>
            </a:pPr>
            <a:r>
              <a:rPr lang="en-US" sz="1400" b="1" dirty="0">
                <a:solidFill>
                  <a:schemeClr val="tx2"/>
                </a:solidFill>
              </a:rPr>
              <a:t>Deployment continuum: </a:t>
            </a:r>
            <a:pPr indent="0" marL="0">
              <a:buNone/>
            </a:pPr>
            <a:r>
              <a:rPr lang="en-US" sz="1400" dirty="0">
                <a:solidFill>
                  <a:schemeClr val="tx1"/>
                </a:solidFill>
              </a:rPr>
              <a:t>option C per zone (MN-CSE, MEC app and MEC-IPE on the zone's MEC host), with an IN-CSE in the cloud for home records, announcements, the FL coordinator, the orchestrator and the AI agent. Option B also runs (MEC app against a CSE on another node).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Mobility: moving across zones, handover, signal strength</a:t>
            </a:r>
            <a:endParaRPr lang="en-US" sz="3000" dirty="0"/>
          </a:p>
        </p:txBody>
      </p:sp>
      <p:pic>
        <p:nvPicPr>
          <p:cNvPr id="3" name="mobility map" descr="Forklift moving from zone A to zone B on a floor plan, serving CSE, MEC zone event, RSRP of both cells and handover markers">    </p:cNvPr>
          <p:cNvPicPr>
            <a:picLocks noChangeAspect="1"/>
          </p:cNvPicPr>
          <p:nvPr/>
        </p:nvPicPr>
        <p:blipFill>
          <a:blip r:embed="rId1"/>
          <a:stretch>
            <a:fillRect/>
          </a:stretch>
        </p:blipFill>
        <p:spPr>
          <a:xfrm>
            <a:off x="548640" y="1188720"/>
            <a:ext cx="7470648" cy="5010912"/>
          </a:xfrm>
          <a:prstGeom prst="rect">
            <a:avLst/>
          </a:prstGeom>
        </p:spPr>
      </p:pic>
      <p:sp>
        <p:nvSpPr>
          <p:cNvPr id="4" name="mobility card 0"/>
          <p:cNvSpPr/>
          <p:nvPr/>
        </p:nvSpPr>
        <p:spPr>
          <a:xfrm>
            <a:off x="8229600" y="1188720"/>
            <a:ext cx="3410712" cy="1554480"/>
          </a:xfrm>
          <a:prstGeom prst="roundRect">
            <a:avLst>
              <a:gd name="adj" fmla="val 4706"/>
            </a:avLst>
          </a:prstGeom>
          <a:solidFill>
            <a:schemeClr val="bg2"/>
          </a:solidFill>
          <a:ln w="12700">
            <a:solidFill>
              <a:schemeClr val="bg2"/>
            </a:solidFill>
            <a:prstDash val="solid"/>
          </a:ln>
        </p:spPr>
      </p:sp>
      <p:sp>
        <p:nvSpPr>
          <p:cNvPr id="5" name="mobility head 0"/>
          <p:cNvSpPr txBox="1"/>
          <p:nvPr/>
        </p:nvSpPr>
        <p:spPr>
          <a:xfrm>
            <a:off x="8412480" y="1325880"/>
            <a:ext cx="3063240" cy="365760"/>
          </a:xfrm>
          <a:prstGeom prst="rect">
            <a:avLst/>
          </a:prstGeom>
          <a:noFill/>
          <a:ln/>
        </p:spPr>
        <p:txBody>
          <a:bodyPr wrap="square" lIns="0" tIns="0" rIns="0" bIns="0" rtlCol="0" anchor="ctr"/>
          <a:lstStyle/>
          <a:p>
            <a:pPr indent="0" marL="0">
              <a:buNone/>
            </a:pPr>
            <a:r>
              <a:rPr lang="en-US" sz="1600" b="1" dirty="0">
                <a:solidFill>
                  <a:schemeClr val="tx2"/>
                </a:solidFill>
              </a:rPr>
              <a:t>Trigger</a:t>
            </a:r>
            <a:endParaRPr lang="en-US" sz="1600" dirty="0"/>
          </a:p>
        </p:txBody>
      </p:sp>
      <p:sp>
        <p:nvSpPr>
          <p:cNvPr id="6" name="mobility body 0"/>
          <p:cNvSpPr txBox="1"/>
          <p:nvPr/>
        </p:nvSpPr>
        <p:spPr>
          <a:xfrm>
            <a:off x="8412480" y="1737360"/>
            <a:ext cx="3063240" cy="914400"/>
          </a:xfrm>
          <a:prstGeom prst="rect">
            <a:avLst/>
          </a:prstGeom>
          <a:noFill/>
          <a:ln/>
        </p:spPr>
        <p:txBody>
          <a:bodyPr wrap="square" lIns="0" tIns="0" rIns="0" bIns="0" rtlCol="0" anchor="t"/>
          <a:lstStyle/>
          <a:p>
            <a:pPr indent="0" marL="0">
              <a:buNone/>
            </a:pPr>
            <a:r>
              <a:rPr lang="en-US" sz="1300" dirty="0">
                <a:solidFill>
                  <a:schemeClr val="tx1"/>
                </a:solidFill>
              </a:rPr>
              <a:t>MEC zone event ENTERING zoneB → MEC-IPE → oneM2M → device starts the handover</a:t>
            </a:r>
            <a:endParaRPr lang="en-US" sz="1300" dirty="0"/>
          </a:p>
        </p:txBody>
      </p:sp>
      <p:sp>
        <p:nvSpPr>
          <p:cNvPr id="7" name="mobility card 1"/>
          <p:cNvSpPr/>
          <p:nvPr/>
        </p:nvSpPr>
        <p:spPr>
          <a:xfrm>
            <a:off x="8229600" y="2880360"/>
            <a:ext cx="3410712" cy="1554480"/>
          </a:xfrm>
          <a:prstGeom prst="roundRect">
            <a:avLst>
              <a:gd name="adj" fmla="val 4706"/>
            </a:avLst>
          </a:prstGeom>
          <a:solidFill>
            <a:schemeClr val="bg2"/>
          </a:solidFill>
          <a:ln w="12700">
            <a:solidFill>
              <a:schemeClr val="bg2"/>
            </a:solidFill>
            <a:prstDash val="solid"/>
          </a:ln>
        </p:spPr>
      </p:sp>
      <p:sp>
        <p:nvSpPr>
          <p:cNvPr id="8" name="mobility head 1"/>
          <p:cNvSpPr txBox="1"/>
          <p:nvPr/>
        </p:nvSpPr>
        <p:spPr>
          <a:xfrm>
            <a:off x="8412480" y="3017520"/>
            <a:ext cx="3063240" cy="365760"/>
          </a:xfrm>
          <a:prstGeom prst="rect">
            <a:avLst/>
          </a:prstGeom>
          <a:noFill/>
          <a:ln/>
        </p:spPr>
        <p:txBody>
          <a:bodyPr wrap="square" lIns="0" tIns="0" rIns="0" bIns="0" rtlCol="0" anchor="ctr"/>
          <a:lstStyle/>
          <a:p>
            <a:pPr indent="0" marL="0">
              <a:buNone/>
            </a:pPr>
            <a:r>
              <a:rPr lang="en-US" sz="1600" b="1" dirty="0">
                <a:solidFill>
                  <a:schemeClr val="tx2"/>
                </a:solidFill>
              </a:rPr>
              <a:t>Continuity</a:t>
            </a:r>
            <a:endParaRPr lang="en-US" sz="1600" dirty="0"/>
          </a:p>
        </p:txBody>
      </p:sp>
      <p:sp>
        <p:nvSpPr>
          <p:cNvPr id="9" name="mobility body 1"/>
          <p:cNvSpPr txBox="1"/>
          <p:nvPr/>
        </p:nvSpPr>
        <p:spPr>
          <a:xfrm>
            <a:off x="8412480" y="3429000"/>
            <a:ext cx="3063240" cy="914400"/>
          </a:xfrm>
          <a:prstGeom prst="rect">
            <a:avLst/>
          </a:prstGeom>
          <a:noFill/>
          <a:ln/>
        </p:spPr>
        <p:txBody>
          <a:bodyPr wrap="square" lIns="0" tIns="0" rIns="0" bIns="0" rtlCol="0" anchor="t"/>
          <a:lstStyle/>
          <a:p>
            <a:pPr indent="0" marL="0">
              <a:buNone/>
            </a:pPr>
            <a:r>
              <a:rPr lang="en-US" sz="1300" dirty="0">
                <a:solidFill>
                  <a:schemeClr val="tx1"/>
                </a:solidFill>
              </a:rPr>
              <a:t>A → B → A: 1.5–8 ms interruption, 0 samples lost</a:t>
            </a:r>
            <a:endParaRPr lang="en-US" sz="1300" dirty="0"/>
          </a:p>
        </p:txBody>
      </p:sp>
      <p:sp>
        <p:nvSpPr>
          <p:cNvPr id="10" name="mobility card 2"/>
          <p:cNvSpPr/>
          <p:nvPr/>
        </p:nvSpPr>
        <p:spPr>
          <a:xfrm>
            <a:off x="8229600" y="4572000"/>
            <a:ext cx="3410712" cy="1554480"/>
          </a:xfrm>
          <a:prstGeom prst="roundRect">
            <a:avLst>
              <a:gd name="adj" fmla="val 4706"/>
            </a:avLst>
          </a:prstGeom>
          <a:solidFill>
            <a:schemeClr val="bg2"/>
          </a:solidFill>
          <a:ln w="12700">
            <a:solidFill>
              <a:schemeClr val="bg2"/>
            </a:solidFill>
            <a:prstDash val="solid"/>
          </a:ln>
        </p:spPr>
      </p:sp>
      <p:sp>
        <p:nvSpPr>
          <p:cNvPr id="11" name="mobility head 2"/>
          <p:cNvSpPr txBox="1"/>
          <p:nvPr/>
        </p:nvSpPr>
        <p:spPr>
          <a:xfrm>
            <a:off x="8412480" y="4709160"/>
            <a:ext cx="3063240" cy="365760"/>
          </a:xfrm>
          <a:prstGeom prst="rect">
            <a:avLst/>
          </a:prstGeom>
          <a:noFill/>
          <a:ln/>
        </p:spPr>
        <p:txBody>
          <a:bodyPr wrap="square" lIns="0" tIns="0" rIns="0" bIns="0" rtlCol="0" anchor="ctr"/>
          <a:lstStyle/>
          <a:p>
            <a:pPr indent="0" marL="0">
              <a:buNone/>
            </a:pPr>
            <a:r>
              <a:rPr lang="en-US" sz="1600" b="1" dirty="0">
                <a:solidFill>
                  <a:schemeClr val="tx2"/>
                </a:solidFill>
              </a:rPr>
              <a:t>Other MEC service</a:t>
            </a:r>
            <a:endParaRPr lang="en-US" sz="1600" dirty="0"/>
          </a:p>
        </p:txBody>
      </p:sp>
      <p:sp>
        <p:nvSpPr>
          <p:cNvPr id="12" name="mobility body 2"/>
          <p:cNvSpPr txBox="1"/>
          <p:nvPr/>
        </p:nvSpPr>
        <p:spPr>
          <a:xfrm>
            <a:off x="8412480" y="5120640"/>
            <a:ext cx="3063240" cy="914400"/>
          </a:xfrm>
          <a:prstGeom prst="rect">
            <a:avLst/>
          </a:prstGeom>
          <a:noFill/>
          <a:ln/>
        </p:spPr>
        <p:txBody>
          <a:bodyPr wrap="square" lIns="0" tIns="0" rIns="0" bIns="0" rtlCol="0" anchor="t"/>
          <a:lstStyle/>
          <a:p>
            <a:pPr indent="0" marL="0">
              <a:buNone/>
            </a:pPr>
            <a:r>
              <a:rPr lang="en-US" sz="1300" dirty="0">
                <a:solidFill>
                  <a:schemeClr val="tx1"/>
                </a:solidFill>
              </a:rPr>
              <a:t>RNIS signal strength per UE in egs:rdLnk; cells cross at ≈ −90 dBm at the boundary</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End-to-end flow: from a position to a cue</a:t>
            </a:r>
            <a:endParaRPr lang="en-US" sz="3000" dirty="0"/>
          </a:p>
        </p:txBody>
      </p:sp>
      <p:sp>
        <p:nvSpPr>
          <p:cNvPr id="3" name="step dot 1"/>
          <p:cNvSpPr/>
          <p:nvPr/>
        </p:nvSpPr>
        <p:spPr>
          <a:xfrm>
            <a:off x="1143000" y="1417320"/>
            <a:ext cx="548640" cy="548640"/>
          </a:xfrm>
          <a:prstGeom prst="ellipse">
            <a:avLst/>
          </a:prstGeom>
          <a:solidFill>
            <a:schemeClr val="tx2"/>
          </a:solidFill>
          <a:ln w="12700">
            <a:solidFill>
              <a:schemeClr val="tx2"/>
            </a:solidFill>
            <a:prstDash val="solid"/>
          </a:ln>
        </p:spPr>
      </p:sp>
      <p:sp>
        <p:nvSpPr>
          <p:cNvPr id="4" name="step num 1"/>
          <p:cNvSpPr txBox="1"/>
          <p:nvPr/>
        </p:nvSpPr>
        <p:spPr>
          <a:xfrm>
            <a:off x="114300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tep link 1"/>
          <p:cNvSpPr/>
          <p:nvPr/>
        </p:nvSpPr>
        <p:spPr>
          <a:xfrm>
            <a:off x="1783080" y="1691640"/>
            <a:ext cx="1600200" cy="0"/>
          </a:xfrm>
          <a:prstGeom prst="line">
            <a:avLst/>
          </a:prstGeom>
          <a:noFill/>
          <a:ln w="19050">
            <a:solidFill>
              <a:srgbClr val="C9D0D8"/>
            </a:solidFill>
            <a:prstDash val="solid"/>
          </a:ln>
        </p:spPr>
      </p:sp>
      <p:sp>
        <p:nvSpPr>
          <p:cNvPr id="6" name="step head 1"/>
          <p:cNvSpPr txBox="1"/>
          <p:nvPr/>
        </p:nvSpPr>
        <p:spPr>
          <a:xfrm>
            <a:off x="54864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Sense</a:t>
            </a:r>
            <a:endParaRPr lang="en-US" sz="1600" dirty="0"/>
          </a:p>
        </p:txBody>
      </p:sp>
      <p:sp>
        <p:nvSpPr>
          <p:cNvPr id="7" name="step body 1"/>
          <p:cNvSpPr txBox="1"/>
          <p:nvPr/>
        </p:nvSpPr>
        <p:spPr>
          <a:xfrm>
            <a:off x="54864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Tag / module updates its kinematics flexContainer</a:t>
            </a:r>
            <a:endParaRPr lang="en-US" sz="1300" dirty="0"/>
          </a:p>
        </p:txBody>
      </p:sp>
      <p:sp>
        <p:nvSpPr>
          <p:cNvPr id="8" name="step dot 2"/>
          <p:cNvSpPr/>
          <p:nvPr/>
        </p:nvSpPr>
        <p:spPr>
          <a:xfrm>
            <a:off x="3017520" y="1417320"/>
            <a:ext cx="548640" cy="548640"/>
          </a:xfrm>
          <a:prstGeom prst="ellipse">
            <a:avLst/>
          </a:prstGeom>
          <a:solidFill>
            <a:schemeClr val="tx2"/>
          </a:solidFill>
          <a:ln w="12700">
            <a:solidFill>
              <a:schemeClr val="tx2"/>
            </a:solidFill>
            <a:prstDash val="solid"/>
          </a:ln>
        </p:spPr>
      </p:sp>
      <p:sp>
        <p:nvSpPr>
          <p:cNvPr id="9" name="step num 2"/>
          <p:cNvSpPr txBox="1"/>
          <p:nvPr/>
        </p:nvSpPr>
        <p:spPr>
          <a:xfrm>
            <a:off x="301752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step link 2"/>
          <p:cNvSpPr/>
          <p:nvPr/>
        </p:nvSpPr>
        <p:spPr>
          <a:xfrm>
            <a:off x="3657600" y="1691640"/>
            <a:ext cx="1600200" cy="0"/>
          </a:xfrm>
          <a:prstGeom prst="line">
            <a:avLst/>
          </a:prstGeom>
          <a:noFill/>
          <a:ln w="19050">
            <a:solidFill>
              <a:srgbClr val="C9D0D8"/>
            </a:solidFill>
            <a:prstDash val="solid"/>
          </a:ln>
        </p:spPr>
      </p:sp>
      <p:sp>
        <p:nvSpPr>
          <p:cNvPr id="11" name="step head 2"/>
          <p:cNvSpPr txBox="1"/>
          <p:nvPr/>
        </p:nvSpPr>
        <p:spPr>
          <a:xfrm>
            <a:off x="242316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Notify</a:t>
            </a:r>
            <a:endParaRPr lang="en-US" sz="1600" dirty="0"/>
          </a:p>
        </p:txBody>
      </p:sp>
      <p:sp>
        <p:nvSpPr>
          <p:cNvPr id="12" name="step body 2"/>
          <p:cNvSpPr txBox="1"/>
          <p:nvPr/>
        </p:nvSpPr>
        <p:spPr>
          <a:xfrm>
            <a:off x="242316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zone MN-CSE notifies the MEC app (subscription)</a:t>
            </a:r>
            <a:endParaRPr lang="en-US" sz="1300" dirty="0"/>
          </a:p>
        </p:txBody>
      </p:sp>
      <p:sp>
        <p:nvSpPr>
          <p:cNvPr id="13" name="step dot 3"/>
          <p:cNvSpPr/>
          <p:nvPr/>
        </p:nvSpPr>
        <p:spPr>
          <a:xfrm>
            <a:off x="4892040" y="1417320"/>
            <a:ext cx="548640" cy="548640"/>
          </a:xfrm>
          <a:prstGeom prst="ellipse">
            <a:avLst/>
          </a:prstGeom>
          <a:solidFill>
            <a:schemeClr val="tx2"/>
          </a:solidFill>
          <a:ln w="12700">
            <a:solidFill>
              <a:schemeClr val="tx2"/>
            </a:solidFill>
            <a:prstDash val="solid"/>
          </a:ln>
        </p:spPr>
      </p:sp>
      <p:sp>
        <p:nvSpPr>
          <p:cNvPr id="14" name="step num 3"/>
          <p:cNvSpPr txBox="1"/>
          <p:nvPr/>
        </p:nvSpPr>
        <p:spPr>
          <a:xfrm>
            <a:off x="489204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step link 3"/>
          <p:cNvSpPr/>
          <p:nvPr/>
        </p:nvSpPr>
        <p:spPr>
          <a:xfrm>
            <a:off x="5532120" y="1691640"/>
            <a:ext cx="1600200" cy="0"/>
          </a:xfrm>
          <a:prstGeom prst="line">
            <a:avLst/>
          </a:prstGeom>
          <a:noFill/>
          <a:ln w="19050">
            <a:solidFill>
              <a:srgbClr val="C9D0D8"/>
            </a:solidFill>
            <a:prstDash val="solid"/>
          </a:ln>
        </p:spPr>
      </p:sp>
      <p:sp>
        <p:nvSpPr>
          <p:cNvPr id="16" name="step head 3"/>
          <p:cNvSpPr txBox="1"/>
          <p:nvPr/>
        </p:nvSpPr>
        <p:spPr>
          <a:xfrm>
            <a:off x="429768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Predict</a:t>
            </a:r>
            <a:endParaRPr lang="en-US" sz="1600" dirty="0"/>
          </a:p>
        </p:txBody>
      </p:sp>
      <p:sp>
        <p:nvSpPr>
          <p:cNvPr id="17" name="step body 3"/>
          <p:cNvSpPr txBox="1"/>
          <p:nvPr/>
        </p:nvSpPr>
        <p:spPr>
          <a:xfrm>
            <a:off x="429768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Kalman tracking, forklift turn model or shared route</a:t>
            </a:r>
            <a:endParaRPr lang="en-US" sz="1300" dirty="0"/>
          </a:p>
        </p:txBody>
      </p:sp>
      <p:sp>
        <p:nvSpPr>
          <p:cNvPr id="18" name="step dot 4"/>
          <p:cNvSpPr/>
          <p:nvPr/>
        </p:nvSpPr>
        <p:spPr>
          <a:xfrm>
            <a:off x="6766560" y="1417320"/>
            <a:ext cx="548640" cy="548640"/>
          </a:xfrm>
          <a:prstGeom prst="ellipse">
            <a:avLst/>
          </a:prstGeom>
          <a:solidFill>
            <a:schemeClr val="tx2"/>
          </a:solidFill>
          <a:ln w="12700">
            <a:solidFill>
              <a:schemeClr val="tx2"/>
            </a:solidFill>
            <a:prstDash val="solid"/>
          </a:ln>
        </p:spPr>
      </p:sp>
      <p:sp>
        <p:nvSpPr>
          <p:cNvPr id="19" name="step num 4"/>
          <p:cNvSpPr txBox="1"/>
          <p:nvPr/>
        </p:nvSpPr>
        <p:spPr>
          <a:xfrm>
            <a:off x="676656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step link 4"/>
          <p:cNvSpPr/>
          <p:nvPr/>
        </p:nvSpPr>
        <p:spPr>
          <a:xfrm>
            <a:off x="7406640" y="1691640"/>
            <a:ext cx="1600200" cy="0"/>
          </a:xfrm>
          <a:prstGeom prst="line">
            <a:avLst/>
          </a:prstGeom>
          <a:noFill/>
          <a:ln w="19050">
            <a:solidFill>
              <a:srgbClr val="C9D0D8"/>
            </a:solidFill>
            <a:prstDash val="solid"/>
          </a:ln>
        </p:spPr>
      </p:sp>
      <p:sp>
        <p:nvSpPr>
          <p:cNvPr id="21" name="step head 4"/>
          <p:cNvSpPr txBox="1"/>
          <p:nvPr/>
        </p:nvSpPr>
        <p:spPr>
          <a:xfrm>
            <a:off x="617220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Decide</a:t>
            </a:r>
            <a:endParaRPr lang="en-US" sz="1600" dirty="0"/>
          </a:p>
        </p:txBody>
      </p:sp>
      <p:sp>
        <p:nvSpPr>
          <p:cNvPr id="22" name="step body 4"/>
          <p:cNvSpPr txBox="1"/>
          <p:nvPr/>
        </p:nvSpPr>
        <p:spPr>
          <a:xfrm>
            <a:off x="617220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Collision course: LOS rate + closest approach</a:t>
            </a:r>
            <a:endParaRPr lang="en-US" sz="1300" dirty="0"/>
          </a:p>
        </p:txBody>
      </p:sp>
      <p:sp>
        <p:nvSpPr>
          <p:cNvPr id="23" name="step dot 5"/>
          <p:cNvSpPr/>
          <p:nvPr/>
        </p:nvSpPr>
        <p:spPr>
          <a:xfrm>
            <a:off x="8641080" y="1417320"/>
            <a:ext cx="548640" cy="548640"/>
          </a:xfrm>
          <a:prstGeom prst="ellipse">
            <a:avLst/>
          </a:prstGeom>
          <a:solidFill>
            <a:schemeClr val="accent1"/>
          </a:solidFill>
          <a:ln w="12700">
            <a:solidFill>
              <a:schemeClr val="accent1"/>
            </a:solidFill>
            <a:prstDash val="solid"/>
          </a:ln>
        </p:spPr>
      </p:sp>
      <p:sp>
        <p:nvSpPr>
          <p:cNvPr id="24" name="step num 5"/>
          <p:cNvSpPr txBox="1"/>
          <p:nvPr/>
        </p:nvSpPr>
        <p:spPr>
          <a:xfrm>
            <a:off x="8641080" y="141732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25" name="step link 5"/>
          <p:cNvSpPr/>
          <p:nvPr/>
        </p:nvSpPr>
        <p:spPr>
          <a:xfrm>
            <a:off x="9281160" y="1691640"/>
            <a:ext cx="1600200" cy="0"/>
          </a:xfrm>
          <a:prstGeom prst="line">
            <a:avLst/>
          </a:prstGeom>
          <a:noFill/>
          <a:ln w="19050">
            <a:solidFill>
              <a:srgbClr val="C9D0D8"/>
            </a:solidFill>
            <a:prstDash val="solid"/>
          </a:ln>
        </p:spPr>
      </p:sp>
      <p:sp>
        <p:nvSpPr>
          <p:cNvPr id="26" name="step head 5"/>
          <p:cNvSpPr txBox="1"/>
          <p:nvPr/>
        </p:nvSpPr>
        <p:spPr>
          <a:xfrm>
            <a:off x="804672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Cue</a:t>
            </a:r>
            <a:endParaRPr lang="en-US" sz="1600" dirty="0"/>
          </a:p>
        </p:txBody>
      </p:sp>
      <p:sp>
        <p:nvSpPr>
          <p:cNvPr id="27" name="step body 5"/>
          <p:cNvSpPr txBox="1"/>
          <p:nvPr/>
        </p:nvSpPr>
        <p:spPr>
          <a:xfrm>
            <a:off x="804672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Alert CIN → tag WAIT / STEP ASIDE / GO, forklift limit</a:t>
            </a:r>
            <a:endParaRPr lang="en-US" sz="1300" dirty="0"/>
          </a:p>
        </p:txBody>
      </p:sp>
      <p:sp>
        <p:nvSpPr>
          <p:cNvPr id="28" name="step dot 6"/>
          <p:cNvSpPr/>
          <p:nvPr/>
        </p:nvSpPr>
        <p:spPr>
          <a:xfrm>
            <a:off x="10515600" y="1417320"/>
            <a:ext cx="548640" cy="548640"/>
          </a:xfrm>
          <a:prstGeom prst="ellipse">
            <a:avLst/>
          </a:prstGeom>
          <a:solidFill>
            <a:schemeClr val="tx2"/>
          </a:solidFill>
          <a:ln w="12700">
            <a:solidFill>
              <a:schemeClr val="tx2"/>
            </a:solidFill>
            <a:prstDash val="solid"/>
          </a:ln>
        </p:spPr>
      </p:sp>
      <p:sp>
        <p:nvSpPr>
          <p:cNvPr id="29" name="step num 6"/>
          <p:cNvSpPr txBox="1"/>
          <p:nvPr/>
        </p:nvSpPr>
        <p:spPr>
          <a:xfrm>
            <a:off x="1051560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0" name="step head 6"/>
          <p:cNvSpPr txBox="1"/>
          <p:nvPr/>
        </p:nvSpPr>
        <p:spPr>
          <a:xfrm>
            <a:off x="992124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Confirm</a:t>
            </a:r>
            <a:endParaRPr lang="en-US" sz="1600" dirty="0"/>
          </a:p>
        </p:txBody>
      </p:sp>
      <p:sp>
        <p:nvSpPr>
          <p:cNvPr id="31" name="step body 6"/>
          <p:cNvSpPr txBox="1"/>
          <p:nvPr/>
        </p:nvSpPr>
        <p:spPr>
          <a:xfrm>
            <a:off x="992124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Device reports its cue / speed limit in its twin</a:t>
            </a:r>
            <a:endParaRPr lang="en-US" sz="1300" dirty="0"/>
          </a:p>
        </p:txBody>
      </p:sp>
      <p:sp>
        <p:nvSpPr>
          <p:cNvPr id="32" name="kpi 0"/>
          <p:cNvSpPr/>
          <p:nvPr/>
        </p:nvSpPr>
        <p:spPr>
          <a:xfrm>
            <a:off x="548640" y="3931920"/>
            <a:ext cx="3566160" cy="1371600"/>
          </a:xfrm>
          <a:prstGeom prst="roundRect">
            <a:avLst>
              <a:gd name="adj" fmla="val 5333"/>
            </a:avLst>
          </a:prstGeom>
          <a:solidFill>
            <a:schemeClr val="bg2"/>
          </a:solidFill>
          <a:ln w="12700">
            <a:solidFill>
              <a:schemeClr val="bg2"/>
            </a:solidFill>
            <a:prstDash val="solid"/>
          </a:ln>
        </p:spPr>
      </p:sp>
      <p:sp>
        <p:nvSpPr>
          <p:cNvPr id="33" name="kpi number 0"/>
          <p:cNvSpPr txBox="1"/>
          <p:nvPr/>
        </p:nvSpPr>
        <p:spPr>
          <a:xfrm>
            <a:off x="82296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25 ms</a:t>
            </a:r>
            <a:endParaRPr lang="en-US" sz="3000" dirty="0"/>
          </a:p>
        </p:txBody>
      </p:sp>
      <p:sp>
        <p:nvSpPr>
          <p:cNvPr id="34" name="kpi label 0"/>
          <p:cNvSpPr txBox="1"/>
          <p:nvPr/>
        </p:nvSpPr>
        <p:spPr>
          <a:xfrm>
            <a:off x="82296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median alert latency on the edge (cloud only: 85 ms)</a:t>
            </a:r>
            <a:endParaRPr lang="en-US" sz="1300" dirty="0"/>
          </a:p>
        </p:txBody>
      </p:sp>
      <p:sp>
        <p:nvSpPr>
          <p:cNvPr id="35" name="kpi 1"/>
          <p:cNvSpPr/>
          <p:nvPr/>
        </p:nvSpPr>
        <p:spPr>
          <a:xfrm>
            <a:off x="4297680" y="3931920"/>
            <a:ext cx="3566160" cy="1371600"/>
          </a:xfrm>
          <a:prstGeom prst="roundRect">
            <a:avLst>
              <a:gd name="adj" fmla="val 5333"/>
            </a:avLst>
          </a:prstGeom>
          <a:solidFill>
            <a:schemeClr val="bg2"/>
          </a:solidFill>
          <a:ln w="12700">
            <a:solidFill>
              <a:schemeClr val="bg2"/>
            </a:solidFill>
            <a:prstDash val="solid"/>
          </a:ln>
        </p:spPr>
      </p:sp>
      <p:sp>
        <p:nvSpPr>
          <p:cNvPr id="36" name="kpi number 1"/>
          <p:cNvSpPr txBox="1"/>
          <p:nvPr/>
        </p:nvSpPr>
        <p:spPr>
          <a:xfrm>
            <a:off x="457200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2.4 s</a:t>
            </a:r>
            <a:endParaRPr lang="en-US" sz="3000" dirty="0"/>
          </a:p>
        </p:txBody>
      </p:sp>
      <p:sp>
        <p:nvSpPr>
          <p:cNvPr id="37" name="kpi label 1"/>
          <p:cNvSpPr txBox="1"/>
          <p:nvPr/>
        </p:nvSpPr>
        <p:spPr>
          <a:xfrm>
            <a:off x="457200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median warning lead time; 100 % detected ≥ 1 s before contact</a:t>
            </a:r>
            <a:endParaRPr lang="en-US" sz="1300" dirty="0"/>
          </a:p>
        </p:txBody>
      </p:sp>
      <p:sp>
        <p:nvSpPr>
          <p:cNvPr id="38" name="kpi 2"/>
          <p:cNvSpPr/>
          <p:nvPr/>
        </p:nvSpPr>
        <p:spPr>
          <a:xfrm>
            <a:off x="8046720" y="3931920"/>
            <a:ext cx="3566160" cy="1371600"/>
          </a:xfrm>
          <a:prstGeom prst="roundRect">
            <a:avLst>
              <a:gd name="adj" fmla="val 5333"/>
            </a:avLst>
          </a:prstGeom>
          <a:solidFill>
            <a:schemeClr val="bg2"/>
          </a:solidFill>
          <a:ln w="12700">
            <a:solidFill>
              <a:schemeClr val="bg2"/>
            </a:solidFill>
            <a:prstDash val="solid"/>
          </a:ln>
        </p:spPr>
      </p:sp>
      <p:sp>
        <p:nvSpPr>
          <p:cNvPr id="39" name="kpi number 2"/>
          <p:cNvSpPr txBox="1"/>
          <p:nvPr/>
        </p:nvSpPr>
        <p:spPr>
          <a:xfrm>
            <a:off x="832104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0.73 s</a:t>
            </a:r>
            <a:endParaRPr lang="en-US" sz="3000" dirty="0"/>
          </a:p>
        </p:txBody>
      </p:sp>
      <p:sp>
        <p:nvSpPr>
          <p:cNvPr id="40" name="kpi label 2"/>
          <p:cNvSpPr txBox="1"/>
          <p:nvPr/>
        </p:nvSpPr>
        <p:spPr>
          <a:xfrm>
            <a:off x="832104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standby MEC app takeover</a:t>
            </a:r>
            <a:endParaRPr lang="en-US" sz="1300" dirty="0"/>
          </a:p>
        </p:txBody>
      </p:sp>
      <p:sp>
        <p:nvSpPr>
          <p:cNvPr id="41" name="failure path"/>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b="1" dirty="0">
                <a:solidFill>
                  <a:schemeClr val="accent3"/>
                </a:solidFill>
              </a:rPr>
              <a:t>Failure path: </a:t>
            </a:r>
            <a:pPr indent="0" marL="0">
              <a:buNone/>
            </a:pPr>
            <a:r>
              <a:rPr lang="en-US" sz="1400" dirty="0">
                <a:solidFill>
                  <a:schemeClr val="tx1"/>
                </a:solidFill>
              </a:rPr>
              <a:t>no heartbeat from the MEC app for 2 s → devices switch to UWB ranging and D2D state exchange; neighbours relay alerts to devices in coverage holes; stop only when nothing else is known.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Status today: working end to end</a:t>
            </a:r>
            <a:endParaRPr lang="en-US" sz="3000" dirty="0"/>
          </a:p>
        </p:txBody>
      </p:sp>
      <p:pic>
        <p:nvPicPr>
          <p:cNvPr id="3" name="done icon 0" descr="preencoded.png">    </p:cNvPr>
          <p:cNvPicPr>
            <a:picLocks noChangeAspect="1"/>
          </p:cNvPicPr>
          <p:nvPr/>
        </p:nvPicPr>
        <p:blipFill>
          <a:blip r:embed="rId1"/>
          <a:stretch>
            <a:fillRect/>
          </a:stretch>
        </p:blipFill>
        <p:spPr>
          <a:xfrm>
            <a:off x="548640" y="1399032"/>
            <a:ext cx="329184" cy="329184"/>
          </a:xfrm>
          <a:prstGeom prst="rect">
            <a:avLst/>
          </a:prstGeom>
        </p:spPr>
      </p:pic>
      <p:sp>
        <p:nvSpPr>
          <p:cNvPr id="4" name="done item 0"/>
          <p:cNvSpPr txBox="1"/>
          <p:nvPr/>
        </p:nvSpPr>
        <p:spPr>
          <a:xfrm>
            <a:off x="1005840" y="1325880"/>
            <a:ext cx="5120640" cy="594360"/>
          </a:xfrm>
          <a:prstGeom prst="rect">
            <a:avLst/>
          </a:prstGeom>
          <a:noFill/>
          <a:ln/>
        </p:spPr>
        <p:txBody>
          <a:bodyPr wrap="square" lIns="0" tIns="0" rIns="0" bIns="0" rtlCol="0" anchor="ctr"/>
          <a:lstStyle/>
          <a:p>
            <a:pPr indent="0" marL="0">
              <a:buNone/>
            </a:pPr>
            <a:r>
              <a:rPr lang="en-US" sz="1400" dirty="0">
                <a:solidFill>
                  <a:schemeClr val="tx1"/>
                </a:solidFill>
              </a:rPr>
              <a:t>Per-device AEs and ACPs (CREATE limited to subscriptions); access checks in CI</a:t>
            </a:r>
            <a:endParaRPr lang="en-US" sz="1400" dirty="0"/>
          </a:p>
        </p:txBody>
      </p:sp>
      <p:pic>
        <p:nvPicPr>
          <p:cNvPr id="5" name="done icon 1" descr="preencoded.png">    </p:cNvPr>
          <p:cNvPicPr>
            <a:picLocks noChangeAspect="1"/>
          </p:cNvPicPr>
          <p:nvPr/>
        </p:nvPicPr>
        <p:blipFill>
          <a:blip r:embed="rId2"/>
          <a:stretch>
            <a:fillRect/>
          </a:stretch>
        </p:blipFill>
        <p:spPr>
          <a:xfrm>
            <a:off x="548640" y="2148840"/>
            <a:ext cx="329184" cy="329184"/>
          </a:xfrm>
          <a:prstGeom prst="rect">
            <a:avLst/>
          </a:prstGeom>
        </p:spPr>
      </p:pic>
      <p:sp>
        <p:nvSpPr>
          <p:cNvPr id="6" name="done item 1"/>
          <p:cNvSpPr txBox="1"/>
          <p:nvPr/>
        </p:nvSpPr>
        <p:spPr>
          <a:xfrm>
            <a:off x="1005840" y="2075688"/>
            <a:ext cx="5120640" cy="594360"/>
          </a:xfrm>
          <a:prstGeom prst="rect">
            <a:avLst/>
          </a:prstGeom>
          <a:noFill/>
          <a:ln/>
        </p:spPr>
        <p:txBody>
          <a:bodyPr wrap="square" lIns="0" tIns="0" rIns="0" bIns="0" rtlCol="0" anchor="ctr"/>
          <a:lstStyle/>
          <a:p>
            <a:pPr indent="0" marL="0">
              <a:buNone/>
            </a:pPr>
            <a:r>
              <a:rPr lang="en-US" sz="1400" dirty="0">
                <a:solidFill>
                  <a:schemeClr val="tx1"/>
                </a:solidFill>
              </a:rPr>
              <a:t>SDT flexContainer twins, labels, discovery onboarding, SAREF semantic query</a:t>
            </a:r>
            <a:endParaRPr lang="en-US" sz="1400" dirty="0"/>
          </a:p>
        </p:txBody>
      </p:sp>
      <p:pic>
        <p:nvPicPr>
          <p:cNvPr id="7" name="done icon 2" descr="preencoded.png">    </p:cNvPr>
          <p:cNvPicPr>
            <a:picLocks noChangeAspect="1"/>
          </p:cNvPicPr>
          <p:nvPr/>
        </p:nvPicPr>
        <p:blipFill>
          <a:blip r:embed="rId3"/>
          <a:stretch>
            <a:fillRect/>
          </a:stretch>
        </p:blipFill>
        <p:spPr>
          <a:xfrm>
            <a:off x="548640" y="2898648"/>
            <a:ext cx="329184" cy="329184"/>
          </a:xfrm>
          <a:prstGeom prst="rect">
            <a:avLst/>
          </a:prstGeom>
        </p:spPr>
      </p:pic>
      <p:sp>
        <p:nvSpPr>
          <p:cNvPr id="8" name="done item 2"/>
          <p:cNvSpPr txBox="1"/>
          <p:nvPr/>
        </p:nvSpPr>
        <p:spPr>
          <a:xfrm>
            <a:off x="1005840" y="2825496"/>
            <a:ext cx="5120640" cy="594360"/>
          </a:xfrm>
          <a:prstGeom prst="rect">
            <a:avLst/>
          </a:prstGeom>
          <a:noFill/>
          <a:ln/>
        </p:spPr>
        <p:txBody>
          <a:bodyPr wrap="square" lIns="0" tIns="0" rIns="0" bIns="0" rtlCol="0" anchor="ctr"/>
          <a:lstStyle/>
          <a:p>
            <a:pPr indent="0" marL="0">
              <a:buNone/>
            </a:pPr>
            <a:r>
              <a:rPr lang="en-US" sz="1400" dirty="0">
                <a:solidFill>
                  <a:schemeClr val="tx1"/>
                </a:solidFill>
              </a:rPr>
              <a:t>CSE handover between zone MN-CSEs with announcement and home records</a:t>
            </a:r>
            <a:endParaRPr lang="en-US" sz="1400" dirty="0"/>
          </a:p>
        </p:txBody>
      </p:sp>
      <p:pic>
        <p:nvPicPr>
          <p:cNvPr id="9" name="done icon 3" descr="preencoded.png">    </p:cNvPr>
          <p:cNvPicPr>
            <a:picLocks noChangeAspect="1"/>
          </p:cNvPicPr>
          <p:nvPr/>
        </p:nvPicPr>
        <p:blipFill>
          <a:blip r:embed="rId4"/>
          <a:stretch>
            <a:fillRect/>
          </a:stretch>
        </p:blipFill>
        <p:spPr>
          <a:xfrm>
            <a:off x="548640" y="3648456"/>
            <a:ext cx="329184" cy="329184"/>
          </a:xfrm>
          <a:prstGeom prst="rect">
            <a:avLst/>
          </a:prstGeom>
        </p:spPr>
      </p:pic>
      <p:sp>
        <p:nvSpPr>
          <p:cNvPr id="10" name="done item 3"/>
          <p:cNvSpPr txBox="1"/>
          <p:nvPr/>
        </p:nvSpPr>
        <p:spPr>
          <a:xfrm>
            <a:off x="1005840" y="3575304"/>
            <a:ext cx="5120640" cy="594360"/>
          </a:xfrm>
          <a:prstGeom prst="rect">
            <a:avLst/>
          </a:prstGeom>
          <a:noFill/>
          <a:ln/>
        </p:spPr>
        <p:txBody>
          <a:bodyPr wrap="square" lIns="0" tIns="0" rIns="0" bIns="0" rtlCol="0" anchor="ctr"/>
          <a:lstStyle/>
          <a:p>
            <a:pPr indent="0" marL="0">
              <a:buNone/>
            </a:pPr>
            <a:r>
              <a:rPr lang="en-US" sz="1400" dirty="0">
                <a:solidFill>
                  <a:schemeClr val="tx1"/>
                </a:solidFill>
              </a:rPr>
              <a:t>Federated learning with model delivery and rollback; AI agent over 4 MCP servers</a:t>
            </a:r>
            <a:endParaRPr lang="en-US" sz="1400" dirty="0"/>
          </a:p>
        </p:txBody>
      </p:sp>
      <p:pic>
        <p:nvPicPr>
          <p:cNvPr id="11" name="done icon 4" descr="preencoded.png">    </p:cNvPr>
          <p:cNvPicPr>
            <a:picLocks noChangeAspect="1"/>
          </p:cNvPicPr>
          <p:nvPr/>
        </p:nvPicPr>
        <p:blipFill>
          <a:blip r:embed="rId5"/>
          <a:stretch>
            <a:fillRect/>
          </a:stretch>
        </p:blipFill>
        <p:spPr>
          <a:xfrm>
            <a:off x="548640" y="4398264"/>
            <a:ext cx="329184" cy="329184"/>
          </a:xfrm>
          <a:prstGeom prst="rect">
            <a:avLst/>
          </a:prstGeom>
        </p:spPr>
      </p:pic>
      <p:sp>
        <p:nvSpPr>
          <p:cNvPr id="12" name="done item 4"/>
          <p:cNvSpPr txBox="1"/>
          <p:nvPr/>
        </p:nvSpPr>
        <p:spPr>
          <a:xfrm>
            <a:off x="1005840" y="4325112"/>
            <a:ext cx="5120640" cy="594360"/>
          </a:xfrm>
          <a:prstGeom prst="rect">
            <a:avLst/>
          </a:prstGeom>
          <a:noFill/>
          <a:ln/>
        </p:spPr>
        <p:txBody>
          <a:bodyPr wrap="square" lIns="0" tIns="0" rIns="0" bIns="0" rtlCol="0" anchor="ctr"/>
          <a:lstStyle/>
          <a:p>
            <a:pPr indent="0" marL="0">
              <a:buNone/>
            </a:pPr>
            <a:r>
              <a:rPr lang="en-US" sz="1400" dirty="0">
                <a:solidFill>
                  <a:schemeClr val="tx1"/>
                </a:solidFill>
              </a:rPr>
              <a:t>MEC zone events and RSRP in oneM2M; orchestration across hosts; forklift swarm</a:t>
            </a:r>
            <a:endParaRPr lang="en-US" sz="1400" dirty="0"/>
          </a:p>
        </p:txBody>
      </p:sp>
      <p:pic>
        <p:nvPicPr>
          <p:cNvPr id="13" name="done icon 5" descr="preencoded.png">    </p:cNvPr>
          <p:cNvPicPr>
            <a:picLocks noChangeAspect="1"/>
          </p:cNvPicPr>
          <p:nvPr/>
        </p:nvPicPr>
        <p:blipFill>
          <a:blip r:embed="rId6"/>
          <a:stretch>
            <a:fillRect/>
          </a:stretch>
        </p:blipFill>
        <p:spPr>
          <a:xfrm>
            <a:off x="548640" y="5148072"/>
            <a:ext cx="329184" cy="329184"/>
          </a:xfrm>
          <a:prstGeom prst="rect">
            <a:avLst/>
          </a:prstGeom>
        </p:spPr>
      </p:pic>
      <p:sp>
        <p:nvSpPr>
          <p:cNvPr id="14" name="done item 5"/>
          <p:cNvSpPr txBox="1"/>
          <p:nvPr/>
        </p:nvSpPr>
        <p:spPr>
          <a:xfrm>
            <a:off x="1005840" y="5074920"/>
            <a:ext cx="5120640" cy="594360"/>
          </a:xfrm>
          <a:prstGeom prst="rect">
            <a:avLst/>
          </a:prstGeom>
          <a:noFill/>
          <a:ln/>
        </p:spPr>
        <p:txBody>
          <a:bodyPr wrap="square" lIns="0" tIns="0" rIns="0" bIns="0" rtlCol="0" anchor="ctr"/>
          <a:lstStyle/>
          <a:p>
            <a:pPr indent="0" marL="0">
              <a:buNone/>
            </a:pPr>
            <a:r>
              <a:rPr lang="en-US" sz="1400" dirty="0">
                <a:solidFill>
                  <a:schemeClr val="tx1"/>
                </a:solidFill>
              </a:rPr>
              <a:t>ESP32 firmware run unmodified against a real CSE in CI; hackster.io article published</a:t>
            </a:r>
            <a:endParaRPr lang="en-US" sz="1400" dirty="0"/>
          </a:p>
        </p:txBody>
      </p:sp>
      <p:sp>
        <p:nvSpPr>
          <p:cNvPr id="15" name="result 0"/>
          <p:cNvSpPr/>
          <p:nvPr/>
        </p:nvSpPr>
        <p:spPr>
          <a:xfrm>
            <a:off x="6583680" y="1325880"/>
            <a:ext cx="5029200" cy="1325880"/>
          </a:xfrm>
          <a:prstGeom prst="roundRect">
            <a:avLst>
              <a:gd name="adj" fmla="val 5517"/>
            </a:avLst>
          </a:prstGeom>
          <a:solidFill>
            <a:schemeClr val="bg2"/>
          </a:solidFill>
          <a:ln w="12700">
            <a:solidFill>
              <a:schemeClr val="bg2"/>
            </a:solidFill>
            <a:prstDash val="solid"/>
          </a:ln>
        </p:spPr>
      </p:sp>
      <p:sp>
        <p:nvSpPr>
          <p:cNvPr id="16" name="result number 0"/>
          <p:cNvSpPr txBox="1"/>
          <p:nvPr/>
        </p:nvSpPr>
        <p:spPr>
          <a:xfrm>
            <a:off x="6858000" y="146304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100 → 4</a:t>
            </a:r>
            <a:endParaRPr lang="en-US" sz="3000" dirty="0"/>
          </a:p>
        </p:txBody>
      </p:sp>
      <p:sp>
        <p:nvSpPr>
          <p:cNvPr id="17" name="result label 0"/>
          <p:cNvSpPr txBox="1"/>
          <p:nvPr/>
        </p:nvSpPr>
        <p:spPr>
          <a:xfrm>
            <a:off x="6858000" y="205740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collisions, many-to-many site (8 workers, 4 forklifts, 750 conflicts)</a:t>
            </a:r>
            <a:endParaRPr lang="en-US" sz="1300" dirty="0"/>
          </a:p>
        </p:txBody>
      </p:sp>
      <p:sp>
        <p:nvSpPr>
          <p:cNvPr id="18" name="result 1"/>
          <p:cNvSpPr/>
          <p:nvPr/>
        </p:nvSpPr>
        <p:spPr>
          <a:xfrm>
            <a:off x="6583680" y="2834640"/>
            <a:ext cx="5029200" cy="1325880"/>
          </a:xfrm>
          <a:prstGeom prst="roundRect">
            <a:avLst>
              <a:gd name="adj" fmla="val 5517"/>
            </a:avLst>
          </a:prstGeom>
          <a:solidFill>
            <a:schemeClr val="bg2"/>
          </a:solidFill>
          <a:ln w="12700">
            <a:solidFill>
              <a:schemeClr val="bg2"/>
            </a:solidFill>
            <a:prstDash val="solid"/>
          </a:ln>
        </p:spPr>
      </p:sp>
      <p:sp>
        <p:nvSpPr>
          <p:cNvPr id="19" name="result number 1"/>
          <p:cNvSpPr txBox="1"/>
          <p:nvPr/>
        </p:nvSpPr>
        <p:spPr>
          <a:xfrm>
            <a:off x="6858000" y="297180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61.7 → 86.0 %</a:t>
            </a:r>
            <a:endParaRPr lang="en-US" sz="3000" dirty="0"/>
          </a:p>
        </p:txBody>
      </p:sp>
      <p:sp>
        <p:nvSpPr>
          <p:cNvPr id="20" name="result label 1"/>
          <p:cNvSpPr txBox="1"/>
          <p:nvPr/>
        </p:nvSpPr>
        <p:spPr>
          <a:xfrm>
            <a:off x="6858000" y="356616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forklift throughput on the same site</a:t>
            </a:r>
            <a:endParaRPr lang="en-US" sz="1300" dirty="0"/>
          </a:p>
        </p:txBody>
      </p:sp>
      <p:sp>
        <p:nvSpPr>
          <p:cNvPr id="21" name="result 2"/>
          <p:cNvSpPr/>
          <p:nvPr/>
        </p:nvSpPr>
        <p:spPr>
          <a:xfrm>
            <a:off x="6583680" y="4343400"/>
            <a:ext cx="5029200" cy="1325880"/>
          </a:xfrm>
          <a:prstGeom prst="roundRect">
            <a:avLst>
              <a:gd name="adj" fmla="val 5517"/>
            </a:avLst>
          </a:prstGeom>
          <a:solidFill>
            <a:schemeClr val="bg2"/>
          </a:solidFill>
          <a:ln w="12700">
            <a:solidFill>
              <a:schemeClr val="bg2"/>
            </a:solidFill>
            <a:prstDash val="solid"/>
          </a:ln>
        </p:spPr>
      </p:sp>
      <p:sp>
        <p:nvSpPr>
          <p:cNvPr id="22" name="result number 2"/>
          <p:cNvSpPr txBox="1"/>
          <p:nvPr/>
        </p:nvSpPr>
        <p:spPr>
          <a:xfrm>
            <a:off x="6858000" y="448056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180 → 2</a:t>
            </a:r>
            <a:endParaRPr lang="en-US" sz="3000" dirty="0"/>
          </a:p>
        </p:txBody>
      </p:sp>
      <p:sp>
        <p:nvSpPr>
          <p:cNvPr id="23" name="result label 2"/>
          <p:cNvSpPr txBox="1"/>
          <p:nvPr/>
        </p:nvSpPr>
        <p:spPr>
          <a:xfrm>
            <a:off x="6858000" y="507492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collisions during a total network outage</a:t>
            </a:r>
            <a:endParaRPr lang="en-US" sz="1300" dirty="0"/>
          </a:p>
        </p:txBody>
      </p:sp>
      <p:sp>
        <p:nvSpPr>
          <p:cNvPr id="24" name="result note"/>
          <p:cNvSpPr txBox="1"/>
          <p:nvPr/>
        </p:nvSpPr>
        <p:spPr>
          <a:xfrm>
            <a:off x="6583680" y="5897880"/>
            <a:ext cx="5029200" cy="320040"/>
          </a:xfrm>
          <a:prstGeom prst="rect">
            <a:avLst/>
          </a:prstGeom>
          <a:noFill/>
          <a:ln/>
        </p:spPr>
        <p:txBody>
          <a:bodyPr wrap="square" lIns="0" tIns="0" rIns="0" bIns="0" rtlCol="0" anchor="ctr"/>
          <a:lstStyle/>
          <a:p>
            <a:pPr indent="0" marL="0">
              <a:buNone/>
            </a:pPr>
            <a:r>
              <a:rPr lang="en-US" sz="1100" dirty="0">
                <a:solidFill>
                  <a:schemeClr val="accent6"/>
                </a:solidFill>
              </a:rPr>
              <a:t>Closed-loop simulation; baseline = our v1.0 vibration-only alert, same simulator.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Built ahead of plan: measured in CI on every commit</a:t>
            </a:r>
            <a:endParaRPr lang="en-US" sz="3000" dirty="0"/>
          </a:p>
        </p:txBody>
      </p:sp>
      <p:sp>
        <p:nvSpPr>
          <p:cNvPr id="3" name="ahead card Data model"/>
          <p:cNvSpPr/>
          <p:nvPr/>
        </p:nvSpPr>
        <p:spPr>
          <a:xfrm>
            <a:off x="548640" y="1325880"/>
            <a:ext cx="3566160" cy="2286000"/>
          </a:xfrm>
          <a:prstGeom prst="roundRect">
            <a:avLst>
              <a:gd name="adj" fmla="val 3200"/>
            </a:avLst>
          </a:prstGeom>
          <a:solidFill>
            <a:schemeClr val="bg2"/>
          </a:solidFill>
          <a:ln w="12700">
            <a:solidFill>
              <a:schemeClr val="bg2"/>
            </a:solidFill>
            <a:prstDash val="solid"/>
          </a:ln>
        </p:spPr>
      </p:sp>
      <p:sp>
        <p:nvSpPr>
          <p:cNvPr id="4" name="ahead head Data model"/>
          <p:cNvSpPr txBox="1"/>
          <p:nvPr/>
        </p:nvSpPr>
        <p:spPr>
          <a:xfrm>
            <a:off x="777240" y="150876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Data model</a:t>
            </a:r>
            <a:endParaRPr lang="en-US" sz="1700" dirty="0"/>
          </a:p>
        </p:txBody>
      </p:sp>
      <p:sp>
        <p:nvSpPr>
          <p:cNvPr id="5" name="ahead body Data model"/>
          <p:cNvSpPr txBox="1"/>
          <p:nvPr/>
        </p:nvSpPr>
        <p:spPr>
          <a:xfrm>
            <a:off x="777240" y="1965960"/>
            <a:ext cx="3108960" cy="1005840"/>
          </a:xfrm>
          <a:prstGeom prst="rect">
            <a:avLst/>
          </a:prstGeom>
          <a:noFill/>
          <a:ln/>
        </p:spPr>
        <p:txBody>
          <a:bodyPr wrap="square" lIns="0" tIns="0" rIns="0" bIns="0" rtlCol="0" anchor="t"/>
          <a:lstStyle/>
          <a:p>
            <a:pPr indent="0" marL="0">
              <a:buNone/>
            </a:pPr>
            <a:r>
              <a:rPr lang="en-US" sz="1300" dirty="0">
                <a:solidFill>
                  <a:schemeClr val="tx1"/>
                </a:solidFill>
              </a:rPr>
              <a:t>SDT flexContainer twins (own domain + standard cod:bat), labels, SAREF semantic query</a:t>
            </a:r>
            <a:endParaRPr lang="en-US" sz="1300" dirty="0"/>
          </a:p>
        </p:txBody>
      </p:sp>
      <p:sp>
        <p:nvSpPr>
          <p:cNvPr id="6" name="ahead metric Data model"/>
          <p:cNvSpPr txBox="1"/>
          <p:nvPr/>
        </p:nvSpPr>
        <p:spPr>
          <a:xfrm>
            <a:off x="777240" y="301752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self-registered device onboarded in ≈ 9 s · 6/6 checks</a:t>
            </a:r>
            <a:endParaRPr lang="en-US" sz="1300" dirty="0"/>
          </a:p>
        </p:txBody>
      </p:sp>
      <p:sp>
        <p:nvSpPr>
          <p:cNvPr id="7" name="ahead card CSE handover"/>
          <p:cNvSpPr/>
          <p:nvPr/>
        </p:nvSpPr>
        <p:spPr>
          <a:xfrm>
            <a:off x="4297680" y="1325880"/>
            <a:ext cx="3566160" cy="2286000"/>
          </a:xfrm>
          <a:prstGeom prst="roundRect">
            <a:avLst>
              <a:gd name="adj" fmla="val 3200"/>
            </a:avLst>
          </a:prstGeom>
          <a:solidFill>
            <a:schemeClr val="bg2"/>
          </a:solidFill>
          <a:ln w="12700">
            <a:solidFill>
              <a:schemeClr val="bg2"/>
            </a:solidFill>
            <a:prstDash val="solid"/>
          </a:ln>
        </p:spPr>
      </p:sp>
      <p:sp>
        <p:nvSpPr>
          <p:cNvPr id="8" name="ahead head CSE handover"/>
          <p:cNvSpPr txBox="1"/>
          <p:nvPr/>
        </p:nvSpPr>
        <p:spPr>
          <a:xfrm>
            <a:off x="4526280" y="150876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CSE handover</a:t>
            </a:r>
            <a:endParaRPr lang="en-US" sz="1700" dirty="0"/>
          </a:p>
        </p:txBody>
      </p:sp>
      <p:sp>
        <p:nvSpPr>
          <p:cNvPr id="9" name="ahead body CSE handover"/>
          <p:cNvSpPr txBox="1"/>
          <p:nvPr/>
        </p:nvSpPr>
        <p:spPr>
          <a:xfrm>
            <a:off x="4526280" y="1965960"/>
            <a:ext cx="3108960" cy="1005840"/>
          </a:xfrm>
          <a:prstGeom prst="rect">
            <a:avLst/>
          </a:prstGeom>
          <a:noFill/>
          <a:ln/>
        </p:spPr>
        <p:txBody>
          <a:bodyPr wrap="square" lIns="0" tIns="0" rIns="0" bIns="0" rtlCol="0" anchor="t"/>
          <a:lstStyle/>
          <a:p>
            <a:pPr indent="0" marL="0">
              <a:buNone/>
            </a:pPr>
            <a:r>
              <a:rPr lang="en-US" sz="1300" dirty="0">
                <a:solidFill>
                  <a:schemeClr val="tx1"/>
                </a:solidFill>
              </a:rPr>
              <a:t>forklift AE moves between zone MN-CSEs with state, ACP, subscriptions; announcement + home record</a:t>
            </a:r>
            <a:endParaRPr lang="en-US" sz="1300" dirty="0"/>
          </a:p>
        </p:txBody>
      </p:sp>
      <p:sp>
        <p:nvSpPr>
          <p:cNvPr id="10" name="ahead metric CSE handover"/>
          <p:cNvSpPr txBox="1"/>
          <p:nvPr/>
        </p:nvSpPr>
        <p:spPr>
          <a:xfrm>
            <a:off x="4526280" y="301752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3–11 ms interruption, 0 samples lost · failover ≈ 0.3 s</a:t>
            </a:r>
            <a:endParaRPr lang="en-US" sz="1300" dirty="0"/>
          </a:p>
        </p:txBody>
      </p:sp>
      <p:sp>
        <p:nvSpPr>
          <p:cNvPr id="11" name="ahead card Federated learning"/>
          <p:cNvSpPr/>
          <p:nvPr/>
        </p:nvSpPr>
        <p:spPr>
          <a:xfrm>
            <a:off x="8046720" y="1325880"/>
            <a:ext cx="3566160" cy="2286000"/>
          </a:xfrm>
          <a:prstGeom prst="roundRect">
            <a:avLst>
              <a:gd name="adj" fmla="val 3200"/>
            </a:avLst>
          </a:prstGeom>
          <a:solidFill>
            <a:schemeClr val="bg2"/>
          </a:solidFill>
          <a:ln w="12700">
            <a:solidFill>
              <a:schemeClr val="bg2"/>
            </a:solidFill>
            <a:prstDash val="solid"/>
          </a:ln>
        </p:spPr>
      </p:sp>
      <p:sp>
        <p:nvSpPr>
          <p:cNvPr id="12" name="ahead head Federated learning"/>
          <p:cNvSpPr txBox="1"/>
          <p:nvPr/>
        </p:nvSpPr>
        <p:spPr>
          <a:xfrm>
            <a:off x="8275320" y="150876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Federated learning</a:t>
            </a:r>
            <a:endParaRPr lang="en-US" sz="1700" dirty="0"/>
          </a:p>
        </p:txBody>
      </p:sp>
      <p:sp>
        <p:nvSpPr>
          <p:cNvPr id="13" name="ahead body Federated learning"/>
          <p:cNvSpPr txBox="1"/>
          <p:nvPr/>
        </p:nvSpPr>
        <p:spPr>
          <a:xfrm>
            <a:off x="8275320" y="1965960"/>
            <a:ext cx="3108960" cy="1005840"/>
          </a:xfrm>
          <a:prstGeom prst="rect">
            <a:avLst/>
          </a:prstGeom>
          <a:noFill/>
          <a:ln/>
        </p:spPr>
        <p:txBody>
          <a:bodyPr wrap="square" lIns="0" tIns="0" rIns="0" bIns="0" rtlCol="0" anchor="t"/>
          <a:lstStyle/>
          <a:p>
            <a:pPr indent="0" marL="0">
              <a:buNone/>
            </a:pPr>
            <a:r>
              <a:rPr lang="en-US" sz="1300" dirty="0">
                <a:solidFill>
                  <a:schemeClr val="tx1"/>
                </a:solidFill>
              </a:rPr>
              <a:t>TR-0084 roles as oneM2M resources: task, participants, rounds, model lineage; dropout, late join</a:t>
            </a:r>
            <a:endParaRPr lang="en-US" sz="1300" dirty="0"/>
          </a:p>
        </p:txBody>
      </p:sp>
      <p:sp>
        <p:nvSpPr>
          <p:cNvPr id="14" name="ahead metric Federated learning"/>
          <p:cNvSpPr txBox="1"/>
          <p:nvPr/>
        </p:nvSpPr>
        <p:spPr>
          <a:xfrm>
            <a:off x="8275320" y="301752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2 s prediction error 0.604 → 0.486 m · 8/8 checks</a:t>
            </a:r>
            <a:endParaRPr lang="en-US" sz="1300" dirty="0"/>
          </a:p>
        </p:txBody>
      </p:sp>
      <p:sp>
        <p:nvSpPr>
          <p:cNvPr id="15" name="ahead card AI safety agent"/>
          <p:cNvSpPr/>
          <p:nvPr/>
        </p:nvSpPr>
        <p:spPr>
          <a:xfrm>
            <a:off x="548640" y="3794760"/>
            <a:ext cx="3566160" cy="2286000"/>
          </a:xfrm>
          <a:prstGeom prst="roundRect">
            <a:avLst>
              <a:gd name="adj" fmla="val 3200"/>
            </a:avLst>
          </a:prstGeom>
          <a:solidFill>
            <a:schemeClr val="bg2"/>
          </a:solidFill>
          <a:ln w="12700">
            <a:solidFill>
              <a:schemeClr val="bg2"/>
            </a:solidFill>
            <a:prstDash val="solid"/>
          </a:ln>
        </p:spPr>
      </p:sp>
      <p:sp>
        <p:nvSpPr>
          <p:cNvPr id="16" name="ahead head AI safety agent"/>
          <p:cNvSpPr txBox="1"/>
          <p:nvPr/>
        </p:nvSpPr>
        <p:spPr>
          <a:xfrm>
            <a:off x="777240" y="397764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AI safety agent</a:t>
            </a:r>
            <a:endParaRPr lang="en-US" sz="1700" dirty="0"/>
          </a:p>
        </p:txBody>
      </p:sp>
      <p:sp>
        <p:nvSpPr>
          <p:cNvPr id="17" name="ahead body AI safety agent"/>
          <p:cNvSpPr txBox="1"/>
          <p:nvPr/>
        </p:nvSpPr>
        <p:spPr>
          <a:xfrm>
            <a:off x="777240" y="4434840"/>
            <a:ext cx="3108960" cy="1005840"/>
          </a:xfrm>
          <a:prstGeom prst="rect">
            <a:avLst/>
          </a:prstGeom>
          <a:noFill/>
          <a:ln/>
        </p:spPr>
        <p:txBody>
          <a:bodyPr wrap="square" lIns="0" tIns="0" rIns="0" bIns="0" rtlCol="0" anchor="t"/>
          <a:lstStyle/>
          <a:p>
            <a:pPr indent="0" marL="0">
              <a:buNone/>
            </a:pPr>
            <a:r>
              <a:rPr lang="en-US" sz="1300" dirty="0">
                <a:solidFill>
                  <a:schemeClr val="tx1"/>
                </a:solidFill>
              </a:rPr>
              <a:t>MCP servers for IN-CSE, zone A, zone B and ETSI MEC; state in oneM2M; routing to the serving CSE</a:t>
            </a:r>
            <a:endParaRPr lang="en-US" sz="1300" dirty="0"/>
          </a:p>
        </p:txBody>
      </p:sp>
      <p:sp>
        <p:nvSpPr>
          <p:cNvPr id="18" name="ahead metric AI safety agent"/>
          <p:cNvSpPr txBox="1"/>
          <p:nvPr/>
        </p:nvSpPr>
        <p:spPr>
          <a:xfrm>
            <a:off x="777240" y="548640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15 tool calls, validated · 9/9</a:t>
            </a:r>
            <a:endParaRPr lang="en-US" sz="1300" dirty="0"/>
          </a:p>
        </p:txBody>
      </p:sp>
      <p:sp>
        <p:nvSpPr>
          <p:cNvPr id="19" name="ahead card Mobility · orchestration"/>
          <p:cNvSpPr/>
          <p:nvPr/>
        </p:nvSpPr>
        <p:spPr>
          <a:xfrm>
            <a:off x="4297680" y="3794760"/>
            <a:ext cx="3566160" cy="2286000"/>
          </a:xfrm>
          <a:prstGeom prst="roundRect">
            <a:avLst>
              <a:gd name="adj" fmla="val 3200"/>
            </a:avLst>
          </a:prstGeom>
          <a:solidFill>
            <a:schemeClr val="bg2"/>
          </a:solidFill>
          <a:ln w="12700">
            <a:solidFill>
              <a:schemeClr val="bg2"/>
            </a:solidFill>
            <a:prstDash val="solid"/>
          </a:ln>
        </p:spPr>
      </p:sp>
      <p:sp>
        <p:nvSpPr>
          <p:cNvPr id="20" name="ahead head Mobility · orchestration"/>
          <p:cNvSpPr txBox="1"/>
          <p:nvPr/>
        </p:nvSpPr>
        <p:spPr>
          <a:xfrm>
            <a:off x="4526280" y="397764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Mobility · orchestration</a:t>
            </a:r>
            <a:endParaRPr lang="en-US" sz="1700" dirty="0"/>
          </a:p>
        </p:txBody>
      </p:sp>
      <p:sp>
        <p:nvSpPr>
          <p:cNvPr id="21" name="ahead body Mobility · orchestration"/>
          <p:cNvSpPr txBox="1"/>
          <p:nvPr/>
        </p:nvSpPr>
        <p:spPr>
          <a:xfrm>
            <a:off x="4526280" y="4434840"/>
            <a:ext cx="3108960" cy="1005840"/>
          </a:xfrm>
          <a:prstGeom prst="rect">
            <a:avLst/>
          </a:prstGeom>
          <a:noFill/>
          <a:ln/>
        </p:spPr>
        <p:txBody>
          <a:bodyPr wrap="square" lIns="0" tIns="0" rIns="0" bIns="0" rtlCol="0" anchor="t"/>
          <a:lstStyle/>
          <a:p>
            <a:pPr indent="0" marL="0">
              <a:buNone/>
            </a:pPr>
            <a:r>
              <a:rPr lang="en-US" sz="1300" dirty="0">
                <a:solidFill>
                  <a:schemeClr val="tx1"/>
                </a:solidFill>
              </a:rPr>
              <a:t>MEC zone events and RSRP into oneM2M; network-triggered handover; deploy by intent across MEC hosts</a:t>
            </a:r>
            <a:endParaRPr lang="en-US" sz="1300" dirty="0"/>
          </a:p>
        </p:txBody>
      </p:sp>
      <p:sp>
        <p:nvSpPr>
          <p:cNvPr id="22" name="ahead metric Mobility · orchestration"/>
          <p:cNvSpPr txBox="1"/>
          <p:nvPr/>
        </p:nvSpPr>
        <p:spPr>
          <a:xfrm>
            <a:off x="4526280" y="548640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1.5–8 ms, 0 lost · re-placed in ≈ 2.5 s</a:t>
            </a:r>
            <a:endParaRPr lang="en-US" sz="1300" dirty="0"/>
          </a:p>
        </p:txBody>
      </p:sp>
      <p:sp>
        <p:nvSpPr>
          <p:cNvPr id="23" name="ahead card Swarm · models · transport"/>
          <p:cNvSpPr/>
          <p:nvPr/>
        </p:nvSpPr>
        <p:spPr>
          <a:xfrm>
            <a:off x="8046720" y="3794760"/>
            <a:ext cx="3566160" cy="2286000"/>
          </a:xfrm>
          <a:prstGeom prst="roundRect">
            <a:avLst>
              <a:gd name="adj" fmla="val 3200"/>
            </a:avLst>
          </a:prstGeom>
          <a:solidFill>
            <a:schemeClr val="bg2"/>
          </a:solidFill>
          <a:ln w="12700">
            <a:solidFill>
              <a:schemeClr val="bg2"/>
            </a:solidFill>
            <a:prstDash val="solid"/>
          </a:ln>
        </p:spPr>
      </p:sp>
      <p:sp>
        <p:nvSpPr>
          <p:cNvPr id="24" name="ahead head Swarm · models · transport"/>
          <p:cNvSpPr txBox="1"/>
          <p:nvPr/>
        </p:nvSpPr>
        <p:spPr>
          <a:xfrm>
            <a:off x="8275320" y="397764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Swarm · models · transport</a:t>
            </a:r>
            <a:endParaRPr lang="en-US" sz="1700" dirty="0"/>
          </a:p>
        </p:txBody>
      </p:sp>
      <p:sp>
        <p:nvSpPr>
          <p:cNvPr id="25" name="ahead body Swarm · models · transport"/>
          <p:cNvSpPr txBox="1"/>
          <p:nvPr/>
        </p:nvSpPr>
        <p:spPr>
          <a:xfrm>
            <a:off x="8275320" y="4434840"/>
            <a:ext cx="3108960" cy="1005840"/>
          </a:xfrm>
          <a:prstGeom prst="rect">
            <a:avLst/>
          </a:prstGeom>
          <a:noFill/>
          <a:ln/>
        </p:spPr>
        <p:txBody>
          <a:bodyPr wrap="square" lIns="0" tIns="0" rIns="0" bIns="0" rtlCol="0" anchor="t"/>
          <a:lstStyle/>
          <a:p>
            <a:pPr indent="0" marL="0">
              <a:buNone/>
            </a:pPr>
            <a:r>
              <a:rPr lang="en-US" sz="1300" dirty="0">
                <a:solidFill>
                  <a:schemeClr val="tx1"/>
                </a:solidFill>
              </a:rPr>
              <a:t>forklift swarm via &lt;group&gt;; canary / rollback of FL models; group + pollingChannel; MQTT/TLS, HTTPS</a:t>
            </a:r>
            <a:endParaRPr lang="en-US" sz="1300" dirty="0"/>
          </a:p>
        </p:txBody>
      </p:sp>
      <p:sp>
        <p:nvSpPr>
          <p:cNvPr id="26" name="ahead metric Swarm · models · transport"/>
          <p:cNvSpPr txBox="1"/>
          <p:nvPr/>
        </p:nvSpPr>
        <p:spPr>
          <a:xfrm>
            <a:off x="8275320" y="5486400"/>
            <a:ext cx="3108960" cy="457200"/>
          </a:xfrm>
          <a:prstGeom prst="rect">
            <a:avLst/>
          </a:prstGeom>
          <a:noFill/>
          <a:ln/>
        </p:spPr>
        <p:txBody>
          <a:bodyPr wrap="square" lIns="0" tIns="0" rIns="0" bIns="0" rtlCol="0" anchor="t"/>
          <a:lstStyle/>
          <a:p>
            <a:pPr indent="0" marL="0">
              <a:buNone/>
            </a:pPr>
            <a:r>
              <a:rPr lang="en-US" sz="1300" b="1" dirty="0">
                <a:solidFill>
                  <a:schemeClr val="accent2"/>
                </a:solidFill>
              </a:rPr>
              <a:t>conflicts 4 → 0 · 6 attacks refused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Development plan: Oct 12 – Nov 25</a:t>
            </a:r>
            <a:endParaRPr lang="en-US" sz="3000" dirty="0"/>
          </a:p>
        </p:txBody>
      </p:sp>
      <p:sp>
        <p:nvSpPr>
          <p:cNvPr id="3" name="week line 0"/>
          <p:cNvSpPr/>
          <p:nvPr/>
        </p:nvSpPr>
        <p:spPr>
          <a:xfrm>
            <a:off x="3566160" y="1600200"/>
            <a:ext cx="0" cy="4069080"/>
          </a:xfrm>
          <a:prstGeom prst="line">
            <a:avLst/>
          </a:prstGeom>
          <a:noFill/>
          <a:ln w="9525">
            <a:solidFill>
              <a:srgbClr val="D5DAE0"/>
            </a:solidFill>
            <a:prstDash val="solid"/>
          </a:ln>
        </p:spPr>
      </p:sp>
      <p:sp>
        <p:nvSpPr>
          <p:cNvPr id="4" name="week label 0"/>
          <p:cNvSpPr txBox="1"/>
          <p:nvPr/>
        </p:nvSpPr>
        <p:spPr>
          <a:xfrm>
            <a:off x="3200400"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12</a:t>
            </a:r>
            <a:endParaRPr lang="en-US" sz="1100" dirty="0"/>
          </a:p>
        </p:txBody>
      </p:sp>
      <p:sp>
        <p:nvSpPr>
          <p:cNvPr id="5" name="week line 1"/>
          <p:cNvSpPr/>
          <p:nvPr/>
        </p:nvSpPr>
        <p:spPr>
          <a:xfrm>
            <a:off x="4817872" y="1600200"/>
            <a:ext cx="0" cy="4069080"/>
          </a:xfrm>
          <a:prstGeom prst="line">
            <a:avLst/>
          </a:prstGeom>
          <a:noFill/>
          <a:ln w="9525">
            <a:solidFill>
              <a:srgbClr val="D5DAE0"/>
            </a:solidFill>
            <a:prstDash val="solid"/>
          </a:ln>
        </p:spPr>
      </p:sp>
      <p:sp>
        <p:nvSpPr>
          <p:cNvPr id="6" name="week label 1"/>
          <p:cNvSpPr txBox="1"/>
          <p:nvPr/>
        </p:nvSpPr>
        <p:spPr>
          <a:xfrm>
            <a:off x="4452112"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19</a:t>
            </a:r>
            <a:endParaRPr lang="en-US" sz="1100" dirty="0"/>
          </a:p>
        </p:txBody>
      </p:sp>
      <p:sp>
        <p:nvSpPr>
          <p:cNvPr id="7" name="week line 2"/>
          <p:cNvSpPr/>
          <p:nvPr/>
        </p:nvSpPr>
        <p:spPr>
          <a:xfrm>
            <a:off x="6069584" y="1600200"/>
            <a:ext cx="0" cy="4069080"/>
          </a:xfrm>
          <a:prstGeom prst="line">
            <a:avLst/>
          </a:prstGeom>
          <a:noFill/>
          <a:ln w="9525">
            <a:solidFill>
              <a:srgbClr val="D5DAE0"/>
            </a:solidFill>
            <a:prstDash val="solid"/>
          </a:ln>
        </p:spPr>
      </p:sp>
      <p:sp>
        <p:nvSpPr>
          <p:cNvPr id="8" name="week label 2"/>
          <p:cNvSpPr txBox="1"/>
          <p:nvPr/>
        </p:nvSpPr>
        <p:spPr>
          <a:xfrm>
            <a:off x="5703824"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26</a:t>
            </a:r>
            <a:endParaRPr lang="en-US" sz="1100" dirty="0"/>
          </a:p>
        </p:txBody>
      </p:sp>
      <p:sp>
        <p:nvSpPr>
          <p:cNvPr id="9" name="week line 3"/>
          <p:cNvSpPr/>
          <p:nvPr/>
        </p:nvSpPr>
        <p:spPr>
          <a:xfrm>
            <a:off x="7321296" y="1600200"/>
            <a:ext cx="0" cy="4069080"/>
          </a:xfrm>
          <a:prstGeom prst="line">
            <a:avLst/>
          </a:prstGeom>
          <a:noFill/>
          <a:ln w="9525">
            <a:solidFill>
              <a:srgbClr val="D5DAE0"/>
            </a:solidFill>
            <a:prstDash val="solid"/>
          </a:ln>
        </p:spPr>
      </p:sp>
      <p:sp>
        <p:nvSpPr>
          <p:cNvPr id="10" name="week label 3"/>
          <p:cNvSpPr txBox="1"/>
          <p:nvPr/>
        </p:nvSpPr>
        <p:spPr>
          <a:xfrm>
            <a:off x="6955536"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2</a:t>
            </a:r>
            <a:endParaRPr lang="en-US" sz="1100" dirty="0"/>
          </a:p>
        </p:txBody>
      </p:sp>
      <p:sp>
        <p:nvSpPr>
          <p:cNvPr id="11" name="week line 4"/>
          <p:cNvSpPr/>
          <p:nvPr/>
        </p:nvSpPr>
        <p:spPr>
          <a:xfrm>
            <a:off x="8573008" y="1600200"/>
            <a:ext cx="0" cy="4069080"/>
          </a:xfrm>
          <a:prstGeom prst="line">
            <a:avLst/>
          </a:prstGeom>
          <a:noFill/>
          <a:ln w="9525">
            <a:solidFill>
              <a:srgbClr val="D5DAE0"/>
            </a:solidFill>
            <a:prstDash val="solid"/>
          </a:ln>
        </p:spPr>
      </p:sp>
      <p:sp>
        <p:nvSpPr>
          <p:cNvPr id="12" name="week label 4"/>
          <p:cNvSpPr txBox="1"/>
          <p:nvPr/>
        </p:nvSpPr>
        <p:spPr>
          <a:xfrm>
            <a:off x="8207248"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9</a:t>
            </a:r>
            <a:endParaRPr lang="en-US" sz="1100" dirty="0"/>
          </a:p>
        </p:txBody>
      </p:sp>
      <p:sp>
        <p:nvSpPr>
          <p:cNvPr id="13" name="week line 5"/>
          <p:cNvSpPr/>
          <p:nvPr/>
        </p:nvSpPr>
        <p:spPr>
          <a:xfrm>
            <a:off x="9824720" y="1600200"/>
            <a:ext cx="0" cy="4069080"/>
          </a:xfrm>
          <a:prstGeom prst="line">
            <a:avLst/>
          </a:prstGeom>
          <a:noFill/>
          <a:ln w="9525">
            <a:solidFill>
              <a:srgbClr val="D5DAE0"/>
            </a:solidFill>
            <a:prstDash val="solid"/>
          </a:ln>
        </p:spPr>
      </p:sp>
      <p:sp>
        <p:nvSpPr>
          <p:cNvPr id="14" name="week label 5"/>
          <p:cNvSpPr txBox="1"/>
          <p:nvPr/>
        </p:nvSpPr>
        <p:spPr>
          <a:xfrm>
            <a:off x="9458960"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16</a:t>
            </a:r>
            <a:endParaRPr lang="en-US" sz="1100" dirty="0"/>
          </a:p>
        </p:txBody>
      </p:sp>
      <p:sp>
        <p:nvSpPr>
          <p:cNvPr id="15" name="week line 6"/>
          <p:cNvSpPr/>
          <p:nvPr/>
        </p:nvSpPr>
        <p:spPr>
          <a:xfrm>
            <a:off x="11076432" y="1600200"/>
            <a:ext cx="0" cy="4069080"/>
          </a:xfrm>
          <a:prstGeom prst="line">
            <a:avLst/>
          </a:prstGeom>
          <a:noFill/>
          <a:ln w="9525">
            <a:solidFill>
              <a:srgbClr val="D5DAE0"/>
            </a:solidFill>
            <a:prstDash val="solid"/>
          </a:ln>
        </p:spPr>
      </p:sp>
      <p:sp>
        <p:nvSpPr>
          <p:cNvPr id="16" name="week label 6"/>
          <p:cNvSpPr txBox="1"/>
          <p:nvPr/>
        </p:nvSpPr>
        <p:spPr>
          <a:xfrm>
            <a:off x="10710672"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23</a:t>
            </a:r>
            <a:endParaRPr lang="en-US" sz="1100" dirty="0"/>
          </a:p>
        </p:txBody>
      </p:sp>
      <p:sp>
        <p:nvSpPr>
          <p:cNvPr id="17" name="bar label 0"/>
          <p:cNvSpPr txBox="1"/>
          <p:nvPr/>
        </p:nvSpPr>
        <p:spPr>
          <a:xfrm>
            <a:off x="548640" y="1737360"/>
            <a:ext cx="2926080" cy="502920"/>
          </a:xfrm>
          <a:prstGeom prst="rect">
            <a:avLst/>
          </a:prstGeom>
          <a:noFill/>
          <a:ln/>
        </p:spPr>
        <p:txBody>
          <a:bodyPr wrap="square" lIns="0" tIns="0" rIns="0" bIns="0" rtlCol="0" anchor="ctr"/>
          <a:lstStyle/>
          <a:p>
            <a:pPr indent="0" marL="0">
              <a:buNone/>
            </a:pPr>
            <a:r>
              <a:rPr lang="en-US" sz="1200" dirty="0">
                <a:solidFill>
                  <a:schemeClr val="tx1"/>
                </a:solidFill>
              </a:rPr>
              <a:t>Done (Oct 11): data model, handover, FL + delivery, agent, M2, M3</a:t>
            </a:r>
            <a:endParaRPr lang="en-US" sz="1200" dirty="0"/>
          </a:p>
        </p:txBody>
      </p:sp>
      <p:sp>
        <p:nvSpPr>
          <p:cNvPr id="18" name="bar 0"/>
          <p:cNvSpPr/>
          <p:nvPr/>
        </p:nvSpPr>
        <p:spPr>
          <a:xfrm>
            <a:off x="3566160" y="1828800"/>
            <a:ext cx="178816" cy="329184"/>
          </a:xfrm>
          <a:prstGeom prst="roundRect">
            <a:avLst>
              <a:gd name="adj" fmla="val 30682"/>
            </a:avLst>
          </a:prstGeom>
          <a:solidFill>
            <a:schemeClr val="accent6"/>
          </a:solidFill>
          <a:ln w="12700">
            <a:solidFill>
              <a:schemeClr val="accent6"/>
            </a:solidFill>
            <a:prstDash val="solid"/>
          </a:ln>
        </p:spPr>
      </p:sp>
      <p:sp>
        <p:nvSpPr>
          <p:cNvPr id="19" name="bar label 1"/>
          <p:cNvSpPr txBox="1"/>
          <p:nvPr/>
        </p:nvSpPr>
        <p:spPr>
          <a:xfrm>
            <a:off x="548640" y="2395728"/>
            <a:ext cx="2926080" cy="502920"/>
          </a:xfrm>
          <a:prstGeom prst="rect">
            <a:avLst/>
          </a:prstGeom>
          <a:noFill/>
          <a:ln/>
        </p:spPr>
        <p:txBody>
          <a:bodyPr wrap="square" lIns="0" tIns="0" rIns="0" bIns="0" rtlCol="0" anchor="ctr"/>
          <a:lstStyle/>
          <a:p>
            <a:pPr indent="0" marL="0">
              <a:buNone/>
            </a:pPr>
            <a:r>
              <a:rPr lang="en-US" sz="1200" dirty="0">
                <a:solidFill>
                  <a:schemeClr val="tx1"/>
                </a:solidFill>
              </a:rPr>
              <a:t>Firmware on MQTT; ETSI Sandbox zone / RNIS subscriptions</a:t>
            </a:r>
            <a:endParaRPr lang="en-US" sz="1200" dirty="0"/>
          </a:p>
        </p:txBody>
      </p:sp>
      <p:sp>
        <p:nvSpPr>
          <p:cNvPr id="20" name="bar 1"/>
          <p:cNvSpPr/>
          <p:nvPr/>
        </p:nvSpPr>
        <p:spPr>
          <a:xfrm>
            <a:off x="5175504" y="2487168"/>
            <a:ext cx="1966976" cy="329184"/>
          </a:xfrm>
          <a:prstGeom prst="roundRect">
            <a:avLst>
              <a:gd name="adj" fmla="val 16667"/>
            </a:avLst>
          </a:prstGeom>
          <a:solidFill>
            <a:schemeClr val="accent2"/>
          </a:solidFill>
          <a:ln w="12700">
            <a:solidFill>
              <a:schemeClr val="accent2"/>
            </a:solidFill>
            <a:prstDash val="solid"/>
          </a:ln>
        </p:spPr>
      </p:sp>
      <p:sp>
        <p:nvSpPr>
          <p:cNvPr id="21" name="bar label 2"/>
          <p:cNvSpPr txBox="1"/>
          <p:nvPr/>
        </p:nvSpPr>
        <p:spPr>
          <a:xfrm>
            <a:off x="548640" y="3054096"/>
            <a:ext cx="2926080" cy="502920"/>
          </a:xfrm>
          <a:prstGeom prst="rect">
            <a:avLst/>
          </a:prstGeom>
          <a:noFill/>
          <a:ln/>
        </p:spPr>
        <p:txBody>
          <a:bodyPr wrap="square" lIns="0" tIns="0" rIns="0" bIns="0" rtlCol="0" anchor="ctr"/>
          <a:lstStyle/>
          <a:p>
            <a:pPr indent="0" marL="0">
              <a:buNone/>
            </a:pPr>
            <a:r>
              <a:rPr lang="en-US" sz="1200" dirty="0">
                <a:solidFill>
                  <a:schemeClr val="tx1"/>
                </a:solidFill>
              </a:rPr>
              <a:t>Run on the ESTIMED VM; containers for orchestrated apps</a:t>
            </a:r>
            <a:endParaRPr lang="en-US" sz="1200" dirty="0"/>
          </a:p>
        </p:txBody>
      </p:sp>
      <p:sp>
        <p:nvSpPr>
          <p:cNvPr id="22" name="bar 2"/>
          <p:cNvSpPr/>
          <p:nvPr/>
        </p:nvSpPr>
        <p:spPr>
          <a:xfrm>
            <a:off x="6069584" y="3145536"/>
            <a:ext cx="2861056" cy="329184"/>
          </a:xfrm>
          <a:prstGeom prst="roundRect">
            <a:avLst>
              <a:gd name="adj" fmla="val 16667"/>
            </a:avLst>
          </a:prstGeom>
          <a:solidFill>
            <a:schemeClr val="accent4"/>
          </a:solidFill>
          <a:ln w="12700">
            <a:solidFill>
              <a:schemeClr val="accent4"/>
            </a:solidFill>
            <a:prstDash val="solid"/>
          </a:ln>
        </p:spPr>
      </p:sp>
      <p:sp>
        <p:nvSpPr>
          <p:cNvPr id="23" name="bar label 3"/>
          <p:cNvSpPr txBox="1"/>
          <p:nvPr/>
        </p:nvSpPr>
        <p:spPr>
          <a:xfrm>
            <a:off x="548640" y="3712464"/>
            <a:ext cx="2926080" cy="502920"/>
          </a:xfrm>
          <a:prstGeom prst="rect">
            <a:avLst/>
          </a:prstGeom>
          <a:noFill/>
          <a:ln/>
        </p:spPr>
        <p:txBody>
          <a:bodyPr wrap="square" lIns="0" tIns="0" rIns="0" bIns="0" rtlCol="0" anchor="ctr"/>
          <a:lstStyle/>
          <a:p>
            <a:pPr indent="0" marL="0">
              <a:buNone/>
            </a:pPr>
            <a:r>
              <a:rPr lang="en-US" sz="1200" dirty="0">
                <a:solidFill>
                  <a:schemeClr val="tx1"/>
                </a:solidFill>
              </a:rPr>
              <a:t>Live demo on guidance_fl; agent questions with Claude</a:t>
            </a:r>
            <a:endParaRPr lang="en-US" sz="1200" dirty="0"/>
          </a:p>
        </p:txBody>
      </p:sp>
      <p:sp>
        <p:nvSpPr>
          <p:cNvPr id="24" name="bar 3"/>
          <p:cNvSpPr/>
          <p:nvPr/>
        </p:nvSpPr>
        <p:spPr>
          <a:xfrm>
            <a:off x="7142480" y="3803904"/>
            <a:ext cx="3039872" cy="329184"/>
          </a:xfrm>
          <a:prstGeom prst="roundRect">
            <a:avLst>
              <a:gd name="adj" fmla="val 16667"/>
            </a:avLst>
          </a:prstGeom>
          <a:solidFill>
            <a:schemeClr val="accent5"/>
          </a:solidFill>
          <a:ln w="12700">
            <a:solidFill>
              <a:schemeClr val="accent5"/>
            </a:solidFill>
            <a:prstDash val="solid"/>
          </a:ln>
        </p:spPr>
      </p:sp>
      <p:sp>
        <p:nvSpPr>
          <p:cNvPr id="25" name="bar label 4"/>
          <p:cNvSpPr txBox="1"/>
          <p:nvPr/>
        </p:nvSpPr>
        <p:spPr>
          <a:xfrm>
            <a:off x="548640" y="4370832"/>
            <a:ext cx="2926080" cy="502920"/>
          </a:xfrm>
          <a:prstGeom prst="rect">
            <a:avLst/>
          </a:prstGeom>
          <a:noFill/>
          <a:ln/>
        </p:spPr>
        <p:txBody>
          <a:bodyPr wrap="square" lIns="0" tIns="0" rIns="0" bIns="0" rtlCol="0" anchor="ctr"/>
          <a:lstStyle/>
          <a:p>
            <a:pPr indent="0" marL="0">
              <a:buNone/>
            </a:pPr>
            <a:r>
              <a:rPr lang="en-US" sz="1200" dirty="0">
                <a:solidFill>
                  <a:schemeClr val="tx1"/>
                </a:solidFill>
              </a:rPr>
              <a:t>M5  ESP32 boards, user study (article, video, repo: done)</a:t>
            </a:r>
            <a:endParaRPr lang="en-US" sz="1200" dirty="0"/>
          </a:p>
        </p:txBody>
      </p:sp>
      <p:sp>
        <p:nvSpPr>
          <p:cNvPr id="26" name="bar 4"/>
          <p:cNvSpPr/>
          <p:nvPr/>
        </p:nvSpPr>
        <p:spPr>
          <a:xfrm>
            <a:off x="8751824" y="4462272"/>
            <a:ext cx="1966976" cy="329184"/>
          </a:xfrm>
          <a:prstGeom prst="roundRect">
            <a:avLst>
              <a:gd name="adj" fmla="val 16667"/>
            </a:avLst>
          </a:prstGeom>
          <a:solidFill>
            <a:schemeClr val="accent3"/>
          </a:solidFill>
          <a:ln w="12700">
            <a:solidFill>
              <a:schemeClr val="accent3"/>
            </a:solidFill>
            <a:prstDash val="solid"/>
          </a:ln>
        </p:spPr>
      </p:sp>
      <p:sp>
        <p:nvSpPr>
          <p:cNvPr id="27" name="bar label 5"/>
          <p:cNvSpPr txBox="1"/>
          <p:nvPr/>
        </p:nvSpPr>
        <p:spPr>
          <a:xfrm>
            <a:off x="548640" y="5029200"/>
            <a:ext cx="2926080" cy="502920"/>
          </a:xfrm>
          <a:prstGeom prst="rect">
            <a:avLst/>
          </a:prstGeom>
          <a:noFill/>
          <a:ln/>
        </p:spPr>
        <p:txBody>
          <a:bodyPr wrap="square" lIns="0" tIns="0" rIns="0" bIns="0" rtlCol="0" anchor="ctr"/>
          <a:lstStyle/>
          <a:p>
            <a:pPr indent="0" marL="0">
              <a:buNone/>
            </a:pPr>
            <a:r>
              <a:rPr lang="en-US" sz="1200" dirty="0">
                <a:solidFill>
                  <a:schemeClr val="tx1"/>
                </a:solidFill>
              </a:rPr>
              <a:t>Finals</a:t>
            </a:r>
            <a:endParaRPr lang="en-US" sz="1200" dirty="0"/>
          </a:p>
        </p:txBody>
      </p:sp>
      <p:sp>
        <p:nvSpPr>
          <p:cNvPr id="28" name="bar 5"/>
          <p:cNvSpPr/>
          <p:nvPr/>
        </p:nvSpPr>
        <p:spPr>
          <a:xfrm>
            <a:off x="11076432" y="5120640"/>
            <a:ext cx="536448" cy="329184"/>
          </a:xfrm>
          <a:prstGeom prst="roundRect">
            <a:avLst>
              <a:gd name="adj" fmla="val 16667"/>
            </a:avLst>
          </a:prstGeom>
          <a:solidFill>
            <a:schemeClr val="tx2"/>
          </a:solidFill>
          <a:ln w="12700">
            <a:solidFill>
              <a:schemeClr val="tx2"/>
            </a:solidFill>
            <a:prstDash val="solid"/>
          </a:ln>
        </p:spPr>
      </p:sp>
      <p:sp>
        <p:nvSpPr>
          <p:cNvPr id="29" name="deadline 0"/>
          <p:cNvSpPr/>
          <p:nvPr/>
        </p:nvSpPr>
        <p:spPr>
          <a:xfrm>
            <a:off x="5175504" y="1600200"/>
            <a:ext cx="0" cy="4069080"/>
          </a:xfrm>
          <a:prstGeom prst="line">
            <a:avLst/>
          </a:prstGeom>
          <a:noFill/>
          <a:ln w="19050">
            <a:solidFill>
              <a:schemeClr val="accent3"/>
            </a:solidFill>
            <a:prstDash val="dash"/>
          </a:ln>
        </p:spPr>
      </p:sp>
      <p:sp>
        <p:nvSpPr>
          <p:cNvPr id="30" name="deadline label 0"/>
          <p:cNvSpPr txBox="1"/>
          <p:nvPr/>
        </p:nvSpPr>
        <p:spPr>
          <a:xfrm>
            <a:off x="4352544" y="5715000"/>
            <a:ext cx="1645920" cy="274320"/>
          </a:xfrm>
          <a:prstGeom prst="rect">
            <a:avLst/>
          </a:prstGeom>
          <a:noFill/>
          <a:ln/>
        </p:spPr>
        <p:txBody>
          <a:bodyPr wrap="square" lIns="0" tIns="0" rIns="0" bIns="0" rtlCol="0" anchor="ctr"/>
          <a:lstStyle/>
          <a:p>
            <a:pPr algn="ctr" indent="0" marL="0">
              <a:buNone/>
            </a:pPr>
            <a:r>
              <a:rPr lang="en-US" sz="1100" b="1" dirty="0">
                <a:solidFill>
                  <a:schemeClr val="accent3"/>
                </a:solidFill>
              </a:rPr>
              <a:t>Oct 20 interim</a:t>
            </a:r>
            <a:endParaRPr lang="en-US" sz="1100" dirty="0"/>
          </a:p>
        </p:txBody>
      </p:sp>
      <p:sp>
        <p:nvSpPr>
          <p:cNvPr id="31" name="deadline 1"/>
          <p:cNvSpPr/>
          <p:nvPr/>
        </p:nvSpPr>
        <p:spPr>
          <a:xfrm>
            <a:off x="10718800" y="1600200"/>
            <a:ext cx="0" cy="4069080"/>
          </a:xfrm>
          <a:prstGeom prst="line">
            <a:avLst/>
          </a:prstGeom>
          <a:noFill/>
          <a:ln w="19050">
            <a:solidFill>
              <a:schemeClr val="accent3"/>
            </a:solidFill>
            <a:prstDash val="dash"/>
          </a:ln>
        </p:spPr>
      </p:sp>
      <p:sp>
        <p:nvSpPr>
          <p:cNvPr id="32" name="deadline label 1"/>
          <p:cNvSpPr txBox="1"/>
          <p:nvPr/>
        </p:nvSpPr>
        <p:spPr>
          <a:xfrm>
            <a:off x="9895840" y="5715000"/>
            <a:ext cx="1645920" cy="274320"/>
          </a:xfrm>
          <a:prstGeom prst="rect">
            <a:avLst/>
          </a:prstGeom>
          <a:noFill/>
          <a:ln/>
        </p:spPr>
        <p:txBody>
          <a:bodyPr wrap="square" lIns="0" tIns="0" rIns="0" bIns="0" rtlCol="0" anchor="ctr"/>
          <a:lstStyle/>
          <a:p>
            <a:pPr algn="ctr" indent="0" marL="0">
              <a:buNone/>
            </a:pPr>
            <a:r>
              <a:rPr lang="en-US" sz="1100" b="1" dirty="0">
                <a:solidFill>
                  <a:schemeClr val="accent3"/>
                </a:solidFill>
              </a:rPr>
              <a:t>Nov 20 code freeze</a:t>
            </a:r>
            <a:endParaRPr lang="en-US" sz="1100" dirty="0"/>
          </a:p>
        </p:txBody>
      </p:sp>
      <p:sp>
        <p:nvSpPr>
          <p:cNvPr id="33" name="legend"/>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dirty="0">
                <a:solidFill>
                  <a:schemeClr val="accent6"/>
                </a:solidFill>
              </a:rPr>
              <a:t>Built ahead of plan (Oct 11): all M1–M4 technical items  ·  Blue: protocols  ·  Orange: MEC / deployment  ·  Green: AI  ·  Red: demo and communication</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Milestones, rubric criteria and acceptance checks</a:t>
            </a:r>
            <a:endParaRPr lang="en-US" sz="3000" dirty="0"/>
          </a:p>
        </p:txBody>
      </p:sp>
      <p:graphicFrame>
        <p:nvGraphicFramePr>
          <p:cNvPr id="17" name="milestone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1371600"/>
                <a:gridCol w="4663440"/>
                <a:gridCol w="2377440"/>
                <a:gridCol w="2651760"/>
              </a:tblGrid>
              <a:tr h="0">
                <a:tc>
                  <a:txBody>
                    <a:bodyPr/>
                    <a:lstStyle/>
                    <a:p>
                      <a:pPr indent="0" marL="0">
                        <a:buNone/>
                      </a:pPr>
                      <a:r>
                        <a:rPr lang="en-US" sz="1200" b="1" dirty="0">
                          <a:solidFill>
                            <a:schemeClr val="bg1"/>
                          </a:solidFill>
                        </a:rPr>
                        <a:t>Milestone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Deliverables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Rubric criteria</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Done when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Done · Oct 11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SDT flexContainers + SAREF; CSE handover (3–11 ms, 0 lost); FL through oneM2M (2 s error 0.60 → 0.49 m); safety agent over 4 MCP servers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Data interop., CSE handover, FL, AI agents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CI: check_sdt 6/6, handover 10/10 + 8/8, FL 8/8, agent 9/9</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M2 · done Oct 11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&lt;group&gt; fan-out per zone; &lt;pollingChannel&gt; for tags; MQTT/TLS for devices, HTTPS for apps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Innovative use of oneM2M, Protocols, Security</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CI: zones 9/9, secure transport 10/10 (6 attacks refused)</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M3 · done Oct 11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MEC zone events → oneM2M → handover trigger; bidirectional MEC–oneM2M; orchestration across hosts; swarm</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Geolocation, MEC services, Deployment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CI: mobility 10/10, orchestration 11/11, swarm 9/9</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M4 · done Oct 11 (+ Nov 17)</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FL model delivered to the MEC app: canary, activation, rollback; next: live demo on guidance_fl, Claude questions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Federated learning, AI agents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CI: model delivery 8/8</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M5 · Nov 20</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ESP32 board demo; user study (10+); done Oct 11: hackster.io article, final video, public GitHub</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Article, Video, GitHub, Promotion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Done Oct 11: article published, repo public, video 2:34. Open: board demo, user study</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Risks and mitigations</a:t>
            </a:r>
            <a:endParaRPr lang="en-US" sz="3000" dirty="0"/>
          </a:p>
        </p:txBody>
      </p:sp>
      <p:sp>
        <p:nvSpPr>
          <p:cNvPr id="3" name="risk row 0"/>
          <p:cNvSpPr/>
          <p:nvPr/>
        </p:nvSpPr>
        <p:spPr>
          <a:xfrm>
            <a:off x="548640" y="1280160"/>
            <a:ext cx="11064240" cy="822960"/>
          </a:xfrm>
          <a:prstGeom prst="roundRect">
            <a:avLst>
              <a:gd name="adj" fmla="val 8889"/>
            </a:avLst>
          </a:prstGeom>
          <a:solidFill>
            <a:schemeClr val="bg2"/>
          </a:solidFill>
          <a:ln w="12700">
            <a:solidFill>
              <a:schemeClr val="bg2"/>
            </a:solidFill>
            <a:prstDash val="solid"/>
          </a:ln>
        </p:spPr>
      </p:sp>
      <p:sp>
        <p:nvSpPr>
          <p:cNvPr id="4" name="risk 0"/>
          <p:cNvSpPr txBox="1"/>
          <p:nvPr/>
        </p:nvSpPr>
        <p:spPr>
          <a:xfrm>
            <a:off x="822960" y="128016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Scope: many features in five weeks</a:t>
            </a:r>
            <a:endParaRPr lang="en-US" sz="1500" dirty="0"/>
          </a:p>
        </p:txBody>
      </p:sp>
      <p:sp>
        <p:nvSpPr>
          <p:cNvPr id="5" name="mitigation 0"/>
          <p:cNvSpPr txBox="1"/>
          <p:nvPr/>
        </p:nvSpPr>
        <p:spPr>
          <a:xfrm>
            <a:off x="5577840" y="1280160"/>
            <a:ext cx="5852160" cy="822960"/>
          </a:xfrm>
          <a:prstGeom prst="rect">
            <a:avLst/>
          </a:prstGeom>
          <a:noFill/>
          <a:ln/>
        </p:spPr>
        <p:txBody>
          <a:bodyPr wrap="square" lIns="0" tIns="0" rIns="0" bIns="0" rtlCol="0" anchor="ctr"/>
          <a:lstStyle/>
          <a:p>
            <a:pPr indent="0" marL="0">
              <a:buNone/>
            </a:pPr>
            <a:r>
              <a:rPr lang="en-US" sz="1400" dirty="0">
                <a:solidFill>
                  <a:schemeClr val="tx1"/>
                </a:solidFill>
              </a:rPr>
              <a:t>Ordered by rubric impact; each feature lands with a CI test, so the working demo never breaks</a:t>
            </a:r>
            <a:endParaRPr lang="en-US" sz="1400" dirty="0"/>
          </a:p>
        </p:txBody>
      </p:sp>
      <p:sp>
        <p:nvSpPr>
          <p:cNvPr id="6" name="risk row 1"/>
          <p:cNvSpPr/>
          <p:nvPr/>
        </p:nvSpPr>
        <p:spPr>
          <a:xfrm>
            <a:off x="548640" y="2240280"/>
            <a:ext cx="11064240" cy="822960"/>
          </a:xfrm>
          <a:prstGeom prst="roundRect">
            <a:avLst>
              <a:gd name="adj" fmla="val 8889"/>
            </a:avLst>
          </a:prstGeom>
          <a:solidFill>
            <a:schemeClr val="bg2"/>
          </a:solidFill>
          <a:ln w="12700">
            <a:solidFill>
              <a:schemeClr val="bg2"/>
            </a:solidFill>
            <a:prstDash val="solid"/>
          </a:ln>
        </p:spPr>
      </p:sp>
      <p:sp>
        <p:nvSpPr>
          <p:cNvPr id="7" name="risk 1"/>
          <p:cNvSpPr txBox="1"/>
          <p:nvPr/>
        </p:nvSpPr>
        <p:spPr>
          <a:xfrm>
            <a:off x="822960" y="224028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CSE feature support differs (pollingChannel, FlexContainer, MQTT)</a:t>
            </a:r>
            <a:endParaRPr lang="en-US" sz="1500" dirty="0"/>
          </a:p>
        </p:txBody>
      </p:sp>
      <p:sp>
        <p:nvSpPr>
          <p:cNvPr id="8" name="mitigation 1"/>
          <p:cNvSpPr txBox="1"/>
          <p:nvPr/>
        </p:nvSpPr>
        <p:spPr>
          <a:xfrm>
            <a:off x="5577840" y="2240280"/>
            <a:ext cx="5852160" cy="822960"/>
          </a:xfrm>
          <a:prstGeom prst="rect">
            <a:avLst/>
          </a:prstGeom>
          <a:noFill/>
          <a:ln/>
        </p:spPr>
        <p:txBody>
          <a:bodyPr wrap="square" lIns="0" tIns="0" rIns="0" bIns="0" rtlCol="0" anchor="ctr"/>
          <a:lstStyle/>
          <a:p>
            <a:pPr indent="0" marL="0">
              <a:buNone/>
            </a:pPr>
            <a:r>
              <a:rPr lang="en-US" sz="1400" dirty="0">
                <a:solidFill>
                  <a:schemeClr val="tx1"/>
                </a:solidFill>
              </a:rPr>
              <a:t>Advanced features on ACME first; Mobius kept for the base flow; differences documented</a:t>
            </a:r>
            <a:endParaRPr lang="en-US" sz="1400" dirty="0"/>
          </a:p>
        </p:txBody>
      </p:sp>
      <p:sp>
        <p:nvSpPr>
          <p:cNvPr id="9" name="risk row 2"/>
          <p:cNvSpPr/>
          <p:nvPr/>
        </p:nvSpPr>
        <p:spPr>
          <a:xfrm>
            <a:off x="548640" y="3200400"/>
            <a:ext cx="11064240" cy="822960"/>
          </a:xfrm>
          <a:prstGeom prst="roundRect">
            <a:avLst>
              <a:gd name="adj" fmla="val 8889"/>
            </a:avLst>
          </a:prstGeom>
          <a:solidFill>
            <a:schemeClr val="bg2"/>
          </a:solidFill>
          <a:ln w="12700">
            <a:solidFill>
              <a:schemeClr val="bg2"/>
            </a:solidFill>
            <a:prstDash val="solid"/>
          </a:ln>
        </p:spPr>
      </p:sp>
      <p:sp>
        <p:nvSpPr>
          <p:cNvPr id="10" name="risk 2"/>
          <p:cNvSpPr txBox="1"/>
          <p:nvPr/>
        </p:nvSpPr>
        <p:spPr>
          <a:xfrm>
            <a:off x="822960" y="320040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Hardware delivery or wiring issues</a:t>
            </a:r>
            <a:endParaRPr lang="en-US" sz="1500" dirty="0"/>
          </a:p>
        </p:txBody>
      </p:sp>
      <p:sp>
        <p:nvSpPr>
          <p:cNvPr id="11" name="mitigation 2"/>
          <p:cNvSpPr txBox="1"/>
          <p:nvPr/>
        </p:nvSpPr>
        <p:spPr>
          <a:xfrm>
            <a:off x="5577840" y="3200400"/>
            <a:ext cx="5852160" cy="822960"/>
          </a:xfrm>
          <a:prstGeom prst="rect">
            <a:avLst/>
          </a:prstGeom>
          <a:noFill/>
          <a:ln/>
        </p:spPr>
        <p:txBody>
          <a:bodyPr wrap="square" lIns="0" tIns="0" rIns="0" bIns="0" rtlCol="0" anchor="ctr"/>
          <a:lstStyle/>
          <a:p>
            <a:pPr indent="0" marL="0">
              <a:buNone/>
            </a:pPr>
            <a:r>
              <a:rPr lang="en-US" sz="1400" dirty="0">
                <a:solidFill>
                  <a:schemeClr val="tx1"/>
                </a:solidFill>
              </a:rPr>
              <a:t>Firmware already verified against a real CSE in CI; boards only replace the PC runtime</a:t>
            </a:r>
            <a:endParaRPr lang="en-US" sz="1400" dirty="0"/>
          </a:p>
        </p:txBody>
      </p:sp>
      <p:sp>
        <p:nvSpPr>
          <p:cNvPr id="12" name="risk row 3"/>
          <p:cNvSpPr/>
          <p:nvPr/>
        </p:nvSpPr>
        <p:spPr>
          <a:xfrm>
            <a:off x="548640" y="4160520"/>
            <a:ext cx="11064240" cy="822960"/>
          </a:xfrm>
          <a:prstGeom prst="roundRect">
            <a:avLst>
              <a:gd name="adj" fmla="val 8889"/>
            </a:avLst>
          </a:prstGeom>
          <a:solidFill>
            <a:schemeClr val="bg2"/>
          </a:solidFill>
          <a:ln w="12700">
            <a:solidFill>
              <a:schemeClr val="bg2"/>
            </a:solidFill>
            <a:prstDash val="solid"/>
          </a:ln>
        </p:spPr>
      </p:sp>
      <p:sp>
        <p:nvSpPr>
          <p:cNvPr id="13" name="risk 3"/>
          <p:cNvSpPr txBox="1"/>
          <p:nvPr/>
        </p:nvSpPr>
        <p:spPr>
          <a:xfrm>
            <a:off x="822960" y="416052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Human behaviour is modelled, not measured</a:t>
            </a:r>
            <a:endParaRPr lang="en-US" sz="1500" dirty="0"/>
          </a:p>
        </p:txBody>
      </p:sp>
      <p:sp>
        <p:nvSpPr>
          <p:cNvPr id="14" name="mitigation 3"/>
          <p:cNvSpPr txBox="1"/>
          <p:nvPr/>
        </p:nvSpPr>
        <p:spPr>
          <a:xfrm>
            <a:off x="5577840" y="4160520"/>
            <a:ext cx="5852160" cy="822960"/>
          </a:xfrm>
          <a:prstGeom prst="rect">
            <a:avLst/>
          </a:prstGeom>
          <a:noFill/>
          <a:ln/>
        </p:spPr>
        <p:txBody>
          <a:bodyPr wrap="square" lIns="0" tIns="0" rIns="0" bIns="0" rtlCol="0" anchor="ctr"/>
          <a:lstStyle/>
          <a:p>
            <a:pPr indent="0" marL="0">
              <a:buNone/>
            </a:pPr>
            <a:r>
              <a:rPr lang="en-US" sz="1400" dirty="0">
                <a:solidFill>
                  <a:schemeClr val="tx1"/>
                </a:solidFill>
              </a:rPr>
              <a:t>User study with a phone tag; measured compliance fed back into the simulation</a:t>
            </a:r>
            <a:endParaRPr lang="en-US" sz="1400" dirty="0"/>
          </a:p>
        </p:txBody>
      </p:sp>
      <p:sp>
        <p:nvSpPr>
          <p:cNvPr id="15" name="risk row 4"/>
          <p:cNvSpPr/>
          <p:nvPr/>
        </p:nvSpPr>
        <p:spPr>
          <a:xfrm>
            <a:off x="548640" y="5120640"/>
            <a:ext cx="11064240" cy="822960"/>
          </a:xfrm>
          <a:prstGeom prst="roundRect">
            <a:avLst>
              <a:gd name="adj" fmla="val 8889"/>
            </a:avLst>
          </a:prstGeom>
          <a:solidFill>
            <a:schemeClr val="bg2"/>
          </a:solidFill>
          <a:ln w="12700">
            <a:solidFill>
              <a:schemeClr val="bg2"/>
            </a:solidFill>
            <a:prstDash val="solid"/>
          </a:ln>
        </p:spPr>
      </p:sp>
      <p:sp>
        <p:nvSpPr>
          <p:cNvPr id="16" name="risk 4"/>
          <p:cNvSpPr txBox="1"/>
          <p:nvPr/>
        </p:nvSpPr>
        <p:spPr>
          <a:xfrm>
            <a:off x="822960" y="512064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Sandbox availability</a:t>
            </a:r>
            <a:endParaRPr lang="en-US" sz="1500" dirty="0"/>
          </a:p>
        </p:txBody>
      </p:sp>
      <p:sp>
        <p:nvSpPr>
          <p:cNvPr id="17" name="mitigation 4"/>
          <p:cNvSpPr txBox="1"/>
          <p:nvPr/>
        </p:nvSpPr>
        <p:spPr>
          <a:xfrm>
            <a:off x="5577840" y="5120640"/>
            <a:ext cx="5852160" cy="822960"/>
          </a:xfrm>
          <a:prstGeom prst="rect">
            <a:avLst/>
          </a:prstGeom>
          <a:noFill/>
          <a:ln/>
        </p:spPr>
        <p:txBody>
          <a:bodyPr wrap="square" lIns="0" tIns="0" rIns="0" bIns="0" rtlCol="0" anchor="ctr"/>
          <a:lstStyle/>
          <a:p>
            <a:pPr indent="0" marL="0">
              <a:buNone/>
            </a:pPr>
            <a:r>
              <a:rPr lang="en-US" sz="1400" dirty="0">
                <a:solidFill>
                  <a:schemeClr val="tx1"/>
                </a:solidFill>
              </a:rPr>
              <a:t>Self-hosted AdvantEDGE and a local MEC mock run the same scenarios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lIns="0" tIns="0" rIns="0" bIns="0" rtlCol="0" anchor="b"/>
          <a:lstStyle/>
          <a:p>
            <a:pPr algn="l" indent="0" marL="0">
              <a:buNone/>
            </a:pPr>
            <a:r>
              <a:rPr lang="en-US" sz="4800" b="1" dirty="0">
                <a:solidFill>
                  <a:schemeClr val="bg1"/>
                </a:solidFill>
              </a:rPr>
              <a:t>Next: deeper oneM2M, continuity across MEC zones, and a real-world demo</a:t>
            </a:r>
            <a:endParaRPr lang="en-US" sz="4800" dirty="0"/>
          </a:p>
        </p:txBody>
      </p:sp>
      <p:sp>
        <p:nvSpPr>
          <p:cNvPr id="3" name="Text 0"/>
          <p:cNvSpPr/>
          <p:nvPr>
            <p:ph idx="101" type="body" hasCustomPrompt="1"/>
          </p:nvPr>
        </p:nvSpPr>
        <p:spPr>
          <a:xfrm>
            <a:off x="731520" y="3657600"/>
            <a:ext cx="8686800" cy="1463040"/>
          </a:xfrm>
          <a:prstGeom prst="rect">
            <a:avLst/>
          </a:prstGeom>
          <a:noFill/>
          <a:ln/>
        </p:spPr>
        <p:txBody>
          <a:bodyPr wrap="square" lIns="0" tIns="0" rIns="0" bIns="0" rtlCol="0" anchor="t"/>
          <a:lstStyle/>
          <a:p>
            <a:pPr algn="l" indent="0" marL="0">
              <a:buNone/>
            </a:pPr>
            <a:r>
              <a:rPr lang="en-US" sz="2000" dirty="0">
                <a:solidFill>
                  <a:schemeClr val="bg2"/>
                </a:solidFill>
              </a:rPr>
              <a:t>Team EdgeGuard · Sejong University</a:t>
            </a:r>
            <a:endParaRPr lang="en-US" sz="2000" dirty="0"/>
          </a:p>
          <a:p>
            <a:pPr algn="l" indent="0" marL="0">
              <a:buNone/>
            </a:pPr>
            <a:r>
              <a:rPr lang="en-US" sz="2000" dirty="0">
                <a:solidFill>
                  <a:schemeClr val="bg2"/>
                </a:solidFill>
              </a:rPr>
              <a:t>Thank you</a:t>
            </a:r>
            <a:endParaRPr lang="en-US" sz="2000" dirty="0"/>
          </a:p>
          <a:p>
            <a:pPr algn="l" indent="0" marL="0">
              <a:buNone/>
            </a:pPr>
            <a:r>
              <a:rPr lang="en-US" sz="1200" dirty="0">
                <a:solidFill>
                  <a:schemeClr val="bg2"/>
                </a:solidFill>
              </a:rPr>
              <a:t>Code github.com/ljw22112/Edgeguard  ·  Video youtu.be/P2JI5ZG6PIg</a:t>
            </a:r>
            <a:endParaRPr lang="en-US" sz="2000" dirty="0"/>
          </a:p>
          <a:p>
            <a:pPr algn="l" indent="0" marL="0">
              <a:buNone/>
            </a:pPr>
            <a:r>
              <a:rPr lang="en-US" sz="1200" dirty="0">
                <a:solidFill>
                  <a:schemeClr val="bg2"/>
                </a:solidFill>
              </a:rPr>
              <a:t>Article hackster.io/ahind012/edgeguard-stop-forklift-accidents-before-they-happen-e07309</a:t>
            </a:r>
            <a:endParaRPr lang="en-US" sz="2000" dirty="0"/>
          </a:p>
        </p:txBody>
      </p:sp>
      <p:sp>
        <p:nvSpPr>
          <p:cNvPr id="4" name="end band WAIT"/>
          <p:cNvSpPr/>
          <p:nvPr/>
        </p:nvSpPr>
        <p:spPr>
          <a:xfrm>
            <a:off x="9784080" y="0"/>
            <a:ext cx="777240" cy="6858000"/>
          </a:xfrm>
          <a:prstGeom prst="rect">
            <a:avLst/>
          </a:prstGeom>
          <a:solidFill>
            <a:schemeClr val="accent3"/>
          </a:solidFill>
          <a:ln w="12700">
            <a:solidFill>
              <a:schemeClr val="accent3"/>
            </a:solidFill>
            <a:prstDash val="solid"/>
          </a:ln>
        </p:spPr>
      </p:sp>
      <p:sp>
        <p:nvSpPr>
          <p:cNvPr id="5" name="end band ASIDE"/>
          <p:cNvSpPr/>
          <p:nvPr/>
        </p:nvSpPr>
        <p:spPr>
          <a:xfrm>
            <a:off x="10561320" y="0"/>
            <a:ext cx="777240" cy="6858000"/>
          </a:xfrm>
          <a:prstGeom prst="rect">
            <a:avLst/>
          </a:prstGeom>
          <a:solidFill>
            <a:schemeClr val="accent4"/>
          </a:solidFill>
          <a:ln w="12700">
            <a:solidFill>
              <a:schemeClr val="accent4"/>
            </a:solidFill>
            <a:prstDash val="solid"/>
          </a:ln>
        </p:spPr>
      </p:sp>
      <p:sp>
        <p:nvSpPr>
          <p:cNvPr id="6" name="end band GO"/>
          <p:cNvSpPr/>
          <p:nvPr/>
        </p:nvSpPr>
        <p:spPr>
          <a:xfrm>
            <a:off x="11338560" y="0"/>
            <a:ext cx="777240" cy="6858000"/>
          </a:xfrm>
          <a:prstGeom prst="rect">
            <a:avLst/>
          </a:prstGeom>
          <a:solidFill>
            <a:schemeClr val="accent5"/>
          </a:solidFill>
          <a:ln w="12700">
            <a:solidFill>
              <a:schemeClr val="accent5"/>
            </a:solidFill>
            <a:prstDash val="solid"/>
          </a:ln>
        </p:spPr>
      </p:sp>
    </p:spTree>
  </p:cSld>
  <p:clrMapOvr>
    <a:masterClrMapping/>
  </p:clrMapOvr>
</p:sld>
</file>

<file path=ppt/theme/theme1.xml><?xml version="1.0" encoding="utf-8"?>
<a:theme xmlns:a="http://schemas.openxmlformats.org/drawingml/2006/main" name="EdgeGuard">
  <a:themeElements>
    <a:clrScheme name="EdgeGuard">
      <a:dk1>
        <a:srgbClr val="18212B"/>
      </a:dk1>
      <a:lt1>
        <a:srgbClr val="FFFFFF"/>
      </a:lt1>
      <a:dk2>
        <a:srgbClr val="121C26"/>
      </a:dk2>
      <a:lt2>
        <a:srgbClr val="EEF1F4"/>
      </a:lt2>
      <a:accent1>
        <a:srgbClr val="F2A900"/>
      </a:accent1>
      <a:accent2>
        <a:srgbClr val="2F6FD0"/>
      </a:accent2>
      <a:accent3>
        <a:srgbClr val="C62828"/>
      </a:accent3>
      <a:accent4>
        <a:srgbClr val="B84A06"/>
      </a:accent4>
      <a:accent5>
        <a:srgbClr val="2E7D32"/>
      </a:accent5>
      <a:accent6>
        <a:srgbClr val="5A6573"/>
      </a:accent6>
      <a:hlink>
        <a:srgbClr val="2F6FD0"/>
      </a:hlink>
      <a:folHlink>
        <a:srgbClr val="5A6573"/>
      </a:folHlink>
    </a:clrScheme>
    <a:fontScheme name="EdgeGuar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EdgeGuard - Interim Use Case and Architecture Report</dc:title>
  <dc:subject>PptxGenJS Presentation</dc:subject>
  <dc:creator>Team EdgeGuard</dc:creator>
  <cp:lastModifiedBy>Team EdgeGuard</cp:lastModifiedBy>
  <cp:revision>1</cp:revision>
  <dcterms:created xsi:type="dcterms:W3CDTF">2026-10-11T05:25:46Z</dcterms:created>
  <dcterms:modified xsi:type="dcterms:W3CDTF">2026-10-11T05:25:46Z</dcterms:modified>
</cp:coreProperties>
</file>