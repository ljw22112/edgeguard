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7409ed7-ee39-a691-08cf-59225172582d}">
          <p14:sldIdLst>
            <p14:sldId id="256"/>
            <p14:sldId id="257"/>
          </p14:sldIdLst>
        </p14:section>
        <p14:section name="Use case" id="{909df9f3-9b05-85ca-e0d3-cdc83ae0e570}">
          <p14:sldIdLst>
            <p14:sldId id="258"/>
            <p14:sldId id="259"/>
            <p14:sldId id="260"/>
          </p14:sldIdLst>
        </p14:section>
        <p14:section name="Architecture" id="{7d2c8bb5-2f7a-0bcf-b943-4b62483b14d8}">
          <p14:sldIdLst>
            <p14:sldId id="261"/>
            <p14:sldId id="262"/>
            <p14:sldId id="263"/>
            <p14:sldId id="264"/>
          </p14:sldIdLst>
        </p14:section>
        <p14:section name="Status and plan" id="{9e571ee1-c98d-30ff-498b-2e9f22310162}">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EdgeGuard interim report: use case, high-level oneM2M + ETSI MEC architecture, and the development plan to the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required item: use case, architecture, current status, development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scenario. Over 2,500 forklift casualties in two years in Korea; one injury costs about USD 116k. Proximity alarms exist but produce mostly false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concrete moments define the requirements: a blind-corner crossing, a standoff with the worker in the forklift lane, and a network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requirements follow the ESTIMED themes: low latency, local processing, context awareness, service continuity, orchestration, distributed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option C of the ESTIMED continuum: oneM2M MN-CSE and the MEC app share the MEC host. Devices talk Mca to the edge CSE; the CSE notifies the MEC app; alerts go back the same way. MEC Location and RNIS reach the app as oneM2M resources through the MEC-IPE. The edge CSE registers with the cloud IN-CSE over Mcc for dashboards and other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device registers its own AE with its own ACP. The MEC app's decisions are oneM2M resources in its own AE, so any oneM2M app can subscribe. Planned additions target the rubric: FlexContainer, discovery, group, pollingChannel, announcement.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 services reach the application through oneM2M via the MEC-IPE. The MEC app is deployed on AdvantEDGE with a custom warehouse scenario and connected to the public ETSI MEC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a position to a confirmed cue, all through oneM2M resources and subscriptions. If the MEC app goes silent, devices degrade gracefully to local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already works, with evidence. Numbers are from closed-loop simulation against our own first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milestones to the November 20 code freeze, ordered by rubric impact. Hardware, user study and communication work run in parallel from Nov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milestone names its deliverables, the rubric criteria it targets, and an acceptance check we can demonstrate.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risks and how we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r>
              <a:rPr lang="en-US" sz="3000" b="1" dirty="0">
                <a:solidFill>
                  <a:schemeClr val="tx2"/>
                </a:solidFill>
              </a:rPr>
              <a:t>Title</a:t>
            </a: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EdgeGuard  ·  Interim use case and architecture report  ·  2026 oneM2M Hackathon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EdgeGuard</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Interim Use Case and Architecture Report</a:t>
            </a:r>
            <a:endParaRPr lang="en-US" sz="2000" dirty="0"/>
          </a:p>
          <a:p>
            <a:pPr algn="l" indent="0" marL="0">
              <a:buNone/>
            </a:pPr>
            <a:r>
              <a:rPr lang="en-US" sz="2000" dirty="0">
                <a:solidFill>
                  <a:schemeClr val="bg2"/>
                </a:solidFill>
              </a:rPr>
              <a:t>MEC-based worker–forklift collision prediction with oneM2M and ETSI MEC</a:t>
            </a:r>
            <a:endParaRPr lang="en-US" sz="2000" dirty="0"/>
          </a:p>
        </p:txBody>
      </p:sp>
      <p:sp>
        <p:nvSpPr>
          <p:cNvPr id="4" name="event line"/>
          <p:cNvSpPr txBox="1"/>
          <p:nvPr/>
        </p:nvSpPr>
        <p:spPr>
          <a:xfrm>
            <a:off x="731520" y="5852160"/>
            <a:ext cx="9144000" cy="365760"/>
          </a:xfrm>
          <a:prstGeom prst="rect">
            <a:avLst/>
          </a:prstGeom>
          <a:noFill/>
          <a:ln/>
        </p:spPr>
        <p:txBody>
          <a:bodyPr wrap="square" lIns="0" tIns="0" rIns="0" bIns="0" rtlCol="0" anchor="ctr"/>
          <a:lstStyle/>
          <a:p>
            <a:pPr indent="0" marL="0">
              <a:buNone/>
            </a:pPr>
            <a:r>
              <a:rPr lang="en-US" sz="1400" dirty="0">
                <a:solidFill>
                  <a:schemeClr val="accent1"/>
                </a:solidFill>
              </a:rPr>
              <a:t>2026 oneM2M International Hackathon  ·  Team EdgeGuard  ·  Sejong University  ·  October 2026</a:t>
            </a:r>
            <a:endParaRPr lang="en-US" sz="1400" dirty="0"/>
          </a:p>
        </p:txBody>
      </p:sp>
      <p:sp>
        <p:nvSpPr>
          <p:cNvPr id="5" name="cue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6" name="cue label WAIT"/>
          <p:cNvSpPr txBox="1"/>
          <p:nvPr/>
        </p:nvSpPr>
        <p:spPr>
          <a:xfrm>
            <a:off x="978408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WAIT</a:t>
            </a:r>
            <a:endParaRPr lang="en-US" sz="1400" dirty="0"/>
          </a:p>
        </p:txBody>
      </p:sp>
      <p:sp>
        <p:nvSpPr>
          <p:cNvPr id="7" name="cue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8" name="cue label ASIDE"/>
          <p:cNvSpPr txBox="1"/>
          <p:nvPr/>
        </p:nvSpPr>
        <p:spPr>
          <a:xfrm>
            <a:off x="1056132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ASIDE</a:t>
            </a:r>
            <a:endParaRPr lang="en-US" sz="1400" dirty="0"/>
          </a:p>
        </p:txBody>
      </p:sp>
      <p:sp>
        <p:nvSpPr>
          <p:cNvPr id="9" name="cue band GO"/>
          <p:cNvSpPr/>
          <p:nvPr/>
        </p:nvSpPr>
        <p:spPr>
          <a:xfrm>
            <a:off x="11338560" y="0"/>
            <a:ext cx="777240" cy="6858000"/>
          </a:xfrm>
          <a:prstGeom prst="rect">
            <a:avLst/>
          </a:prstGeom>
          <a:solidFill>
            <a:schemeClr val="accent5"/>
          </a:solidFill>
          <a:ln w="12700">
            <a:solidFill>
              <a:schemeClr val="accent5"/>
            </a:solidFill>
            <a:prstDash val="solid"/>
          </a:ln>
        </p:spPr>
      </p:sp>
      <p:sp>
        <p:nvSpPr>
          <p:cNvPr id="10" name="cue label GO"/>
          <p:cNvSpPr txBox="1"/>
          <p:nvPr/>
        </p:nvSpPr>
        <p:spPr>
          <a:xfrm>
            <a:off x="1133856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GO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Summary</a:t>
            </a:r>
            <a:endParaRPr lang="en-US" sz="3000" dirty="0"/>
          </a:p>
        </p:txBody>
      </p:sp>
      <p:sp>
        <p:nvSpPr>
          <p:cNvPr id="3" name="summary card Use case"/>
          <p:cNvSpPr/>
          <p:nvPr/>
        </p:nvSpPr>
        <p:spPr>
          <a:xfrm>
            <a:off x="548640" y="1325880"/>
            <a:ext cx="5440680" cy="2286000"/>
          </a:xfrm>
          <a:prstGeom prst="roundRect">
            <a:avLst>
              <a:gd name="adj" fmla="val 3200"/>
            </a:avLst>
          </a:prstGeom>
          <a:solidFill>
            <a:schemeClr val="bg2"/>
          </a:solidFill>
          <a:ln w="12700">
            <a:solidFill>
              <a:schemeClr val="bg2"/>
            </a:solidFill>
            <a:prstDash val="solid"/>
          </a:ln>
        </p:spPr>
      </p:sp>
      <p:sp>
        <p:nvSpPr>
          <p:cNvPr id="4" name="summary head Use case"/>
          <p:cNvSpPr txBox="1"/>
          <p:nvPr/>
        </p:nvSpPr>
        <p:spPr>
          <a:xfrm>
            <a:off x="82296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Use case</a:t>
            </a:r>
            <a:endParaRPr lang="en-US" sz="2000" dirty="0"/>
          </a:p>
        </p:txBody>
      </p:sp>
      <p:sp>
        <p:nvSpPr>
          <p:cNvPr id="5" name="summary body Use case"/>
          <p:cNvSpPr txBox="1"/>
          <p:nvPr/>
        </p:nvSpPr>
        <p:spPr>
          <a:xfrm>
            <a:off x="82296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Warehouse workers and forklifts share aisles. EdgeGuard predicts collisions 1–3 s ahead on the MEC edge and tells each worker WAIT, STEP ASIDE or GO, while the forklift slows only as much as needed.</a:t>
            </a:r>
            <a:endParaRPr lang="en-US" sz="1500" dirty="0"/>
          </a:p>
        </p:txBody>
      </p:sp>
      <p:sp>
        <p:nvSpPr>
          <p:cNvPr id="6" name="summary card Architecture"/>
          <p:cNvSpPr/>
          <p:nvPr/>
        </p:nvSpPr>
        <p:spPr>
          <a:xfrm>
            <a:off x="6172200" y="1325880"/>
            <a:ext cx="5440680" cy="2286000"/>
          </a:xfrm>
          <a:prstGeom prst="roundRect">
            <a:avLst>
              <a:gd name="adj" fmla="val 3200"/>
            </a:avLst>
          </a:prstGeom>
          <a:solidFill>
            <a:schemeClr val="bg2"/>
          </a:solidFill>
          <a:ln w="12700">
            <a:solidFill>
              <a:schemeClr val="bg2"/>
            </a:solidFill>
            <a:prstDash val="solid"/>
          </a:ln>
        </p:spPr>
      </p:sp>
      <p:sp>
        <p:nvSpPr>
          <p:cNvPr id="7" name="summary head Architecture"/>
          <p:cNvSpPr txBox="1"/>
          <p:nvPr/>
        </p:nvSpPr>
        <p:spPr>
          <a:xfrm>
            <a:off x="644652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Architecture</a:t>
            </a:r>
            <a:endParaRPr lang="en-US" sz="2000" dirty="0"/>
          </a:p>
        </p:txBody>
      </p:sp>
      <p:sp>
        <p:nvSpPr>
          <p:cNvPr id="8" name="summary body Architecture"/>
          <p:cNvSpPr txBox="1"/>
          <p:nvPr/>
        </p:nvSpPr>
        <p:spPr>
          <a:xfrm>
            <a:off x="644652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Devices register their own oneM2M AEs on an edge CSE co-located with the EdgeGuard MEC app. ETSI MEC Location and RNIS reach the app as oneM2M resources through a MEC-IPE. Cloud IN-CSE via Mcc.</a:t>
            </a:r>
            <a:endParaRPr lang="en-US" sz="1500" dirty="0"/>
          </a:p>
        </p:txBody>
      </p:sp>
      <p:sp>
        <p:nvSpPr>
          <p:cNvPr id="9" name="summary card Status today"/>
          <p:cNvSpPr/>
          <p:nvPr/>
        </p:nvSpPr>
        <p:spPr>
          <a:xfrm>
            <a:off x="548640" y="3794760"/>
            <a:ext cx="5440680" cy="2286000"/>
          </a:xfrm>
          <a:prstGeom prst="roundRect">
            <a:avLst>
              <a:gd name="adj" fmla="val 3200"/>
            </a:avLst>
          </a:prstGeom>
          <a:solidFill>
            <a:schemeClr val="bg2"/>
          </a:solidFill>
          <a:ln w="12700">
            <a:solidFill>
              <a:schemeClr val="bg2"/>
            </a:solidFill>
            <a:prstDash val="solid"/>
          </a:ln>
        </p:spPr>
      </p:sp>
      <p:sp>
        <p:nvSpPr>
          <p:cNvPr id="10" name="summary head Status today"/>
          <p:cNvSpPr txBox="1"/>
          <p:nvPr/>
        </p:nvSpPr>
        <p:spPr>
          <a:xfrm>
            <a:off x="822960" y="402336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Status today</a:t>
            </a:r>
            <a:endParaRPr lang="en-US" sz="2000" dirty="0"/>
          </a:p>
        </p:txBody>
      </p:sp>
      <p:sp>
        <p:nvSpPr>
          <p:cNvPr id="11" name="summary body Status today"/>
          <p:cNvSpPr txBox="1"/>
          <p:nvPr/>
        </p:nvSpPr>
        <p:spPr>
          <a:xfrm>
            <a:off x="82296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Working end to end on Mobius and ACME, ETSI MEC Sandbox connected, unmodified ESP32 firmware tested against a real CSE in CI. Simulation: collisions 100 → 4 on a many-to-many site.</a:t>
            </a:r>
            <a:endParaRPr lang="en-US" sz="1500" dirty="0"/>
          </a:p>
        </p:txBody>
      </p:sp>
      <p:sp>
        <p:nvSpPr>
          <p:cNvPr id="12" name="summary card Plan to Nov 20"/>
          <p:cNvSpPr/>
          <p:nvPr/>
        </p:nvSpPr>
        <p:spPr>
          <a:xfrm>
            <a:off x="6172200" y="3794760"/>
            <a:ext cx="5440680" cy="2286000"/>
          </a:xfrm>
          <a:prstGeom prst="roundRect">
            <a:avLst>
              <a:gd name="adj" fmla="val 3200"/>
            </a:avLst>
          </a:prstGeom>
          <a:solidFill>
            <a:schemeClr val="bg2"/>
          </a:solidFill>
          <a:ln w="12700">
            <a:solidFill>
              <a:schemeClr val="bg2"/>
            </a:solidFill>
            <a:prstDash val="solid"/>
          </a:ln>
        </p:spPr>
      </p:sp>
      <p:sp>
        <p:nvSpPr>
          <p:cNvPr id="13" name="summary head Plan to Nov 20"/>
          <p:cNvSpPr txBox="1"/>
          <p:nvPr/>
        </p:nvSpPr>
        <p:spPr>
          <a:xfrm>
            <a:off x="6446520" y="4023360"/>
            <a:ext cx="4892040" cy="411480"/>
          </a:xfrm>
          <a:prstGeom prst="rect">
            <a:avLst/>
          </a:prstGeom>
          <a:noFill/>
          <a:ln/>
        </p:spPr>
        <p:txBody>
          <a:bodyPr wrap="square" lIns="0" tIns="0" rIns="0" bIns="0" rtlCol="0" anchor="ctr"/>
          <a:lstStyle/>
          <a:p>
            <a:pPr indent="0" marL="0">
              <a:buNone/>
            </a:pPr>
            <a:r>
              <a:rPr lang="en-US" sz="2000" b="1" dirty="0">
                <a:solidFill>
                  <a:schemeClr val="accent2"/>
                </a:solidFill>
              </a:rPr>
              <a:t>Plan to Nov 20</a:t>
            </a:r>
            <a:endParaRPr lang="en-US" sz="2000" dirty="0"/>
          </a:p>
        </p:txBody>
      </p:sp>
      <p:sp>
        <p:nvSpPr>
          <p:cNvPr id="14" name="summary body Plan to Nov 20"/>
          <p:cNvSpPr txBox="1"/>
          <p:nvPr/>
        </p:nvSpPr>
        <p:spPr>
          <a:xfrm>
            <a:off x="644652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Close the rubric gaps: FlexContainer data model and discovery, group / pollingChannel / announcement, MQTT for devices, CSE handover between MEC zones, an MCP-based safety agent, and the hackster.io article and video.</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Problem: forklifts and people share the same aisles</a:t>
            </a:r>
            <a:endParaRPr lang="en-US" sz="3000" dirty="0"/>
          </a:p>
        </p:txBody>
      </p:sp>
      <p:sp>
        <p:nvSpPr>
          <p:cNvPr id="3" name="stat card 0"/>
          <p:cNvSpPr/>
          <p:nvPr/>
        </p:nvSpPr>
        <p:spPr>
          <a:xfrm>
            <a:off x="548640" y="1371600"/>
            <a:ext cx="3566160" cy="3108960"/>
          </a:xfrm>
          <a:prstGeom prst="roundRect">
            <a:avLst>
              <a:gd name="adj" fmla="val 2353"/>
            </a:avLst>
          </a:prstGeom>
          <a:solidFill>
            <a:schemeClr val="bg2"/>
          </a:solidFill>
          <a:ln w="12700">
            <a:solidFill>
              <a:schemeClr val="bg2"/>
            </a:solidFill>
            <a:prstDash val="solid"/>
          </a:ln>
        </p:spPr>
      </p:sp>
      <p:sp>
        <p:nvSpPr>
          <p:cNvPr id="4" name="stat number 0"/>
          <p:cNvSpPr txBox="1"/>
          <p:nvPr/>
        </p:nvSpPr>
        <p:spPr>
          <a:xfrm>
            <a:off x="82296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2,559</a:t>
            </a:r>
            <a:endParaRPr lang="en-US" sz="4400" dirty="0"/>
          </a:p>
        </p:txBody>
      </p:sp>
      <p:sp>
        <p:nvSpPr>
          <p:cNvPr id="5" name="stat label 0"/>
          <p:cNvSpPr txBox="1"/>
          <p:nvPr/>
        </p:nvSpPr>
        <p:spPr>
          <a:xfrm>
            <a:off x="82296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forklift accident casualties in Korea, 2021–2022</a:t>
            </a:r>
            <a:endParaRPr lang="en-US" sz="1600" dirty="0"/>
          </a:p>
        </p:txBody>
      </p:sp>
      <p:sp>
        <p:nvSpPr>
          <p:cNvPr id="6" name="stat source 0"/>
          <p:cNvSpPr txBox="1"/>
          <p:nvPr/>
        </p:nvSpPr>
        <p:spPr>
          <a:xfrm>
            <a:off x="82296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KOSHA statistics</a:t>
            </a:r>
            <a:endParaRPr lang="en-US" sz="1100" dirty="0"/>
          </a:p>
        </p:txBody>
      </p:sp>
      <p:sp>
        <p:nvSpPr>
          <p:cNvPr id="7" name="stat card 1"/>
          <p:cNvSpPr/>
          <p:nvPr/>
        </p:nvSpPr>
        <p:spPr>
          <a:xfrm>
            <a:off x="4297680" y="1371600"/>
            <a:ext cx="3566160" cy="3108960"/>
          </a:xfrm>
          <a:prstGeom prst="roundRect">
            <a:avLst>
              <a:gd name="adj" fmla="val 2353"/>
            </a:avLst>
          </a:prstGeom>
          <a:solidFill>
            <a:schemeClr val="bg2"/>
          </a:solidFill>
          <a:ln w="12700">
            <a:solidFill>
              <a:schemeClr val="bg2"/>
            </a:solidFill>
            <a:prstDash val="solid"/>
          </a:ln>
        </p:spPr>
      </p:sp>
      <p:sp>
        <p:nvSpPr>
          <p:cNvPr id="8" name="stat number 1"/>
          <p:cNvSpPr txBox="1"/>
          <p:nvPr/>
        </p:nvSpPr>
        <p:spPr>
          <a:xfrm>
            <a:off x="457200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USD 116k</a:t>
            </a:r>
            <a:endParaRPr lang="en-US" sz="4400" dirty="0"/>
          </a:p>
        </p:txBody>
      </p:sp>
      <p:sp>
        <p:nvSpPr>
          <p:cNvPr id="9" name="stat label 1"/>
          <p:cNvSpPr txBox="1"/>
          <p:nvPr/>
        </p:nvSpPr>
        <p:spPr>
          <a:xfrm>
            <a:off x="457200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total cost of one workplace injury, including indirect costs</a:t>
            </a:r>
            <a:endParaRPr lang="en-US" sz="1600" dirty="0"/>
          </a:p>
        </p:txBody>
      </p:sp>
      <p:sp>
        <p:nvSpPr>
          <p:cNvPr id="10" name="stat source 1"/>
          <p:cNvSpPr txBox="1"/>
          <p:nvPr/>
        </p:nvSpPr>
        <p:spPr>
          <a:xfrm>
            <a:off x="457200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NSC Injury Facts · OSHA 3885</a:t>
            </a:r>
            <a:endParaRPr lang="en-US" sz="1100" dirty="0"/>
          </a:p>
        </p:txBody>
      </p:sp>
      <p:sp>
        <p:nvSpPr>
          <p:cNvPr id="11" name="stat card 2"/>
          <p:cNvSpPr/>
          <p:nvPr/>
        </p:nvSpPr>
        <p:spPr>
          <a:xfrm>
            <a:off x="8046720" y="1371600"/>
            <a:ext cx="3566160" cy="3108960"/>
          </a:xfrm>
          <a:prstGeom prst="roundRect">
            <a:avLst>
              <a:gd name="adj" fmla="val 2353"/>
            </a:avLst>
          </a:prstGeom>
          <a:solidFill>
            <a:schemeClr val="bg2"/>
          </a:solidFill>
          <a:ln w="12700">
            <a:solidFill>
              <a:schemeClr val="bg2"/>
            </a:solidFill>
            <a:prstDash val="solid"/>
          </a:ln>
        </p:spPr>
      </p:sp>
      <p:sp>
        <p:nvSpPr>
          <p:cNvPr id="12" name="stat number 2"/>
          <p:cNvSpPr txBox="1"/>
          <p:nvPr/>
        </p:nvSpPr>
        <p:spPr>
          <a:xfrm>
            <a:off x="832104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85 %</a:t>
            </a:r>
            <a:endParaRPr lang="en-US" sz="4400" dirty="0"/>
          </a:p>
        </p:txBody>
      </p:sp>
      <p:sp>
        <p:nvSpPr>
          <p:cNvPr id="13" name="stat label 2"/>
          <p:cNvSpPr txBox="1"/>
          <p:nvPr/>
        </p:nvSpPr>
        <p:spPr>
          <a:xfrm>
            <a:off x="832104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of alerts from a 5 m proximity alarm are false, so workers learn to ignore them</a:t>
            </a:r>
            <a:endParaRPr lang="en-US" sz="1600" dirty="0"/>
          </a:p>
        </p:txBody>
      </p:sp>
      <p:sp>
        <p:nvSpPr>
          <p:cNvPr id="14" name="stat source 2"/>
          <p:cNvSpPr txBox="1"/>
          <p:nvPr/>
        </p:nvSpPr>
        <p:spPr>
          <a:xfrm>
            <a:off x="832104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EdgeGuard simulation baseline</a:t>
            </a:r>
            <a:endParaRPr lang="en-US" sz="1100" dirty="0"/>
          </a:p>
        </p:txBody>
      </p:sp>
      <p:sp>
        <p:nvSpPr>
          <p:cNvPr id="15" name="gap statement"/>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600" b="1" dirty="0">
                <a:solidFill>
                  <a:schemeClr val="tx2"/>
                </a:solidFill>
              </a:rPr>
              <a:t>Why existing systems fall short: </a:t>
            </a:r>
            <a:pPr indent="0" marL="0">
              <a:buNone/>
            </a:pPr>
            <a:r>
              <a:rPr lang="en-US" sz="1600" dirty="0">
                <a:solidFill>
                  <a:schemeClr val="tx1"/>
                </a:solidFill>
              </a:rPr>
              <a:t>distance alarms fire on forklifts that will pass safely; a single buzz says "danger" but not what to do, so workers step back into the lane too early; and server-based systems go silent when the network fails.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Use-case scenario: three moments in a warehouse aisle</a:t>
            </a:r>
            <a:endParaRPr lang="en-US" sz="3000" dirty="0"/>
          </a:p>
        </p:txBody>
      </p:sp>
      <p:sp>
        <p:nvSpPr>
          <p:cNvPr id="3" name="scenario card 0"/>
          <p:cNvSpPr/>
          <p:nvPr/>
        </p:nvSpPr>
        <p:spPr>
          <a:xfrm>
            <a:off x="548640" y="1325880"/>
            <a:ext cx="3566160" cy="4206240"/>
          </a:xfrm>
          <a:prstGeom prst="roundRect">
            <a:avLst>
              <a:gd name="adj" fmla="val 2051"/>
            </a:avLst>
          </a:prstGeom>
          <a:solidFill>
            <a:schemeClr val="bg2"/>
          </a:solidFill>
          <a:ln w="12700">
            <a:solidFill>
              <a:schemeClr val="bg2"/>
            </a:solidFill>
            <a:prstDash val="solid"/>
          </a:ln>
        </p:spPr>
      </p:sp>
      <p:pic>
        <p:nvPicPr>
          <p:cNvPr id="4" name="scenario icon 0" descr="preencoded.png">    </p:cNvPr>
          <p:cNvPicPr>
            <a:picLocks noChangeAspect="1"/>
          </p:cNvPicPr>
          <p:nvPr/>
        </p:nvPicPr>
        <p:blipFill>
          <a:blip r:embed="rId1"/>
          <a:stretch>
            <a:fillRect/>
          </a:stretch>
        </p:blipFill>
        <p:spPr>
          <a:xfrm>
            <a:off x="822960" y="1554480"/>
            <a:ext cx="548640" cy="548640"/>
          </a:xfrm>
          <a:prstGeom prst="rect">
            <a:avLst/>
          </a:prstGeom>
        </p:spPr>
      </p:pic>
      <p:sp>
        <p:nvSpPr>
          <p:cNvPr id="5" name="scenario head 0"/>
          <p:cNvSpPr txBox="1"/>
          <p:nvPr/>
        </p:nvSpPr>
        <p:spPr>
          <a:xfrm>
            <a:off x="82296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1 · Blind-corner crossing</a:t>
            </a:r>
            <a:endParaRPr lang="en-US" sz="1800" dirty="0"/>
          </a:p>
        </p:txBody>
      </p:sp>
      <p:sp>
        <p:nvSpPr>
          <p:cNvPr id="6" name="scenario situation 0"/>
          <p:cNvSpPr txBox="1"/>
          <p:nvPr/>
        </p:nvSpPr>
        <p:spPr>
          <a:xfrm>
            <a:off x="82296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A worker walks toward a cross-aisle; a forklift approaches behind racks.</a:t>
            </a:r>
            <a:endParaRPr lang="en-US" sz="1400" dirty="0"/>
          </a:p>
        </p:txBody>
      </p:sp>
      <p:sp>
        <p:nvSpPr>
          <p:cNvPr id="7" name="scenario response 0"/>
          <p:cNvSpPr txBox="1"/>
          <p:nvPr/>
        </p:nvSpPr>
        <p:spPr>
          <a:xfrm>
            <a:off x="82296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WAIT (pulses until the forklift passes) → GO.</a:t>
            </a:r>
            <a:endParaRPr lang="en-US" sz="1500" dirty="0"/>
          </a:p>
          <a:p>
            <a:pPr indent="0" marL="0">
              <a:buNone/>
            </a:pPr>
            <a:r>
              <a:rPr lang="en-US" sz="1500" dirty="0">
                <a:solidFill>
                  <a:schemeClr val="tx1"/>
                </a:solidFill>
              </a:rPr>
              <a:t>Forklift: slowed just enough to pass safely.</a:t>
            </a:r>
            <a:endParaRPr lang="en-US" sz="1500" dirty="0"/>
          </a:p>
        </p:txBody>
      </p:sp>
      <p:sp>
        <p:nvSpPr>
          <p:cNvPr id="8" name="scenario card 1"/>
          <p:cNvSpPr/>
          <p:nvPr/>
        </p:nvSpPr>
        <p:spPr>
          <a:xfrm>
            <a:off x="4297680" y="1325880"/>
            <a:ext cx="3566160" cy="4206240"/>
          </a:xfrm>
          <a:prstGeom prst="roundRect">
            <a:avLst>
              <a:gd name="adj" fmla="val 2051"/>
            </a:avLst>
          </a:prstGeom>
          <a:solidFill>
            <a:schemeClr val="bg2"/>
          </a:solidFill>
          <a:ln w="12700">
            <a:solidFill>
              <a:schemeClr val="bg2"/>
            </a:solidFill>
            <a:prstDash val="solid"/>
          </a:ln>
        </p:spPr>
      </p:sp>
      <p:pic>
        <p:nvPicPr>
          <p:cNvPr id="9" name="scenario icon 1" descr="preencoded.png">    </p:cNvPr>
          <p:cNvPicPr>
            <a:picLocks noChangeAspect="1"/>
          </p:cNvPicPr>
          <p:nvPr/>
        </p:nvPicPr>
        <p:blipFill>
          <a:blip r:embed="rId2"/>
          <a:stretch>
            <a:fillRect/>
          </a:stretch>
        </p:blipFill>
        <p:spPr>
          <a:xfrm>
            <a:off x="4572000" y="1554480"/>
            <a:ext cx="548640" cy="548640"/>
          </a:xfrm>
          <a:prstGeom prst="rect">
            <a:avLst/>
          </a:prstGeom>
        </p:spPr>
      </p:pic>
      <p:sp>
        <p:nvSpPr>
          <p:cNvPr id="10" name="scenario head 1"/>
          <p:cNvSpPr txBox="1"/>
          <p:nvPr/>
        </p:nvSpPr>
        <p:spPr>
          <a:xfrm>
            <a:off x="457200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2 · Worker standing in the lane</a:t>
            </a:r>
            <a:endParaRPr lang="en-US" sz="1800" dirty="0"/>
          </a:p>
        </p:txBody>
      </p:sp>
      <p:sp>
        <p:nvSpPr>
          <p:cNvPr id="11" name="scenario situation 1"/>
          <p:cNvSpPr txBox="1"/>
          <p:nvPr/>
        </p:nvSpPr>
        <p:spPr>
          <a:xfrm>
            <a:off x="457200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forklift stopped for a worker who is standing in its path; nobody can move.</a:t>
            </a:r>
            <a:endParaRPr lang="en-US" sz="1400" dirty="0"/>
          </a:p>
        </p:txBody>
      </p:sp>
      <p:sp>
        <p:nvSpPr>
          <p:cNvPr id="12" name="scenario response 1"/>
          <p:cNvSpPr txBox="1"/>
          <p:nvPr/>
        </p:nvSpPr>
        <p:spPr>
          <a:xfrm>
            <a:off x="457200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STEP ASIDE to the nearer edge, then WAIT.</a:t>
            </a:r>
            <a:endParaRPr lang="en-US" sz="1500" dirty="0"/>
          </a:p>
          <a:p>
            <a:pPr indent="0" marL="0">
              <a:buNone/>
            </a:pPr>
            <a:r>
              <a:rPr lang="en-US" sz="1500" dirty="0">
                <a:solidFill>
                  <a:schemeClr val="tx1"/>
                </a:solidFill>
              </a:rPr>
              <a:t>Forklift: holds, then passes; worker gets GO.</a:t>
            </a:r>
            <a:endParaRPr lang="en-US" sz="1500" dirty="0"/>
          </a:p>
        </p:txBody>
      </p:sp>
      <p:sp>
        <p:nvSpPr>
          <p:cNvPr id="13" name="scenario card 2"/>
          <p:cNvSpPr/>
          <p:nvPr/>
        </p:nvSpPr>
        <p:spPr>
          <a:xfrm>
            <a:off x="8046720" y="1325880"/>
            <a:ext cx="3566160" cy="4206240"/>
          </a:xfrm>
          <a:prstGeom prst="roundRect">
            <a:avLst>
              <a:gd name="adj" fmla="val 2051"/>
            </a:avLst>
          </a:prstGeom>
          <a:solidFill>
            <a:schemeClr val="bg2"/>
          </a:solidFill>
          <a:ln w="12700">
            <a:solidFill>
              <a:schemeClr val="bg2"/>
            </a:solidFill>
            <a:prstDash val="solid"/>
          </a:ln>
        </p:spPr>
      </p:sp>
      <p:pic>
        <p:nvPicPr>
          <p:cNvPr id="14" name="scenario icon 2" descr="preencoded.png">    </p:cNvPr>
          <p:cNvPicPr>
            <a:picLocks noChangeAspect="1"/>
          </p:cNvPicPr>
          <p:nvPr/>
        </p:nvPicPr>
        <p:blipFill>
          <a:blip r:embed="rId3"/>
          <a:stretch>
            <a:fillRect/>
          </a:stretch>
        </p:blipFill>
        <p:spPr>
          <a:xfrm>
            <a:off x="8321040" y="1554480"/>
            <a:ext cx="548640" cy="548640"/>
          </a:xfrm>
          <a:prstGeom prst="rect">
            <a:avLst/>
          </a:prstGeom>
        </p:spPr>
      </p:pic>
      <p:sp>
        <p:nvSpPr>
          <p:cNvPr id="15" name="scenario head 2"/>
          <p:cNvSpPr txBox="1"/>
          <p:nvPr/>
        </p:nvSpPr>
        <p:spPr>
          <a:xfrm>
            <a:off x="832104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3 · Network or server failure</a:t>
            </a:r>
            <a:endParaRPr lang="en-US" sz="1800" dirty="0"/>
          </a:p>
        </p:txBody>
      </p:sp>
      <p:sp>
        <p:nvSpPr>
          <p:cNvPr id="16" name="scenario situation 2"/>
          <p:cNvSpPr txBox="1"/>
          <p:nvPr/>
        </p:nvSpPr>
        <p:spPr>
          <a:xfrm>
            <a:off x="832104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edge server or Wi-Fi drops while people keep working.</a:t>
            </a:r>
            <a:endParaRPr lang="en-US" sz="1400" dirty="0"/>
          </a:p>
        </p:txBody>
      </p:sp>
      <p:sp>
        <p:nvSpPr>
          <p:cNvPr id="17" name="scenario response 2"/>
          <p:cNvSpPr txBox="1"/>
          <p:nvPr/>
        </p:nvSpPr>
        <p:spPr>
          <a:xfrm>
            <a:off x="832104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Devices range each other over UWB and exchange state directly (D2D); neighbours relay alerts; stop only as a last resort.</a:t>
            </a:r>
            <a:endParaRPr lang="en-US" sz="1500" dirty="0"/>
          </a:p>
        </p:txBody>
      </p:sp>
      <p:sp>
        <p:nvSpPr>
          <p:cNvPr id="18" name="actors"/>
          <p:cNvSpPr txBox="1"/>
          <p:nvPr/>
        </p:nvSpPr>
        <p:spPr>
          <a:xfrm>
            <a:off x="548640" y="5760720"/>
            <a:ext cx="11064240" cy="457200"/>
          </a:xfrm>
          <a:prstGeom prst="rect">
            <a:avLst/>
          </a:prstGeom>
          <a:noFill/>
          <a:ln/>
        </p:spPr>
        <p:txBody>
          <a:bodyPr wrap="square" lIns="0" tIns="0" rIns="0" bIns="0" rtlCol="0" anchor="ctr"/>
          <a:lstStyle/>
          <a:p>
            <a:pPr indent="0" marL="0">
              <a:buNone/>
            </a:pPr>
            <a:r>
              <a:rPr lang="en-US" sz="1400" b="1" dirty="0">
                <a:solidFill>
                  <a:schemeClr val="tx1"/>
                </a:solidFill>
              </a:rPr>
              <a:t>Actors: </a:t>
            </a:r>
            <a:pPr indent="0" marL="0">
              <a:buNone/>
            </a:pPr>
            <a:r>
              <a:rPr lang="en-US" sz="1400" dirty="0">
                <a:solidFill>
                  <a:schemeClr val="tx1"/>
                </a:solidFill>
              </a:rPr>
              <a:t>workers (tag), forklift drivers (module), safety manager (dashboard, near-miss reports). Site: 10,000 m² warehouse, 50 workers, 10 forklifts.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Requirements and how oneM2M and ETSI MEC meet them</a:t>
            </a:r>
            <a:endParaRPr lang="en-US" sz="3000" dirty="0"/>
          </a:p>
        </p:txBody>
      </p:sp>
      <p:graphicFrame>
        <p:nvGraphicFramePr>
          <p:cNvPr id="6" name="requirement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Requirement (ESTIMED theme)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Why this use case needs it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oneM2M / MEC enabler in EdgeGuard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Low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Warning must arrive 1–3 s before contact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and MEC app co-located on the MEC host: 25 ms median alert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processing</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of people stay on site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EdgeGuard MEC app; only alerts and near misses go to the cloud IN-CSE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Context awareness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without UWB fix; cell load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MEC Location (013) and RNIS (012) mapped into oneM2M by the MEC-IPE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Service continuity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Safety cannot stop when a server fails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Active-standby MEC app (0.73 s), device D2D fallback; CSE handover planned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Deploy per site / per zone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MEC app deployed on AdvantEDGE and the ETSI MEC Sandbox; multi-host planned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Distributed intelligence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Devices must act when isolated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rules on each device, D2D state exchange, alert relay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High-level architecture: oneM2M + MEC on the edge</a:t>
            </a:r>
            <a:endParaRPr lang="en-US" sz="3000" dirty="0"/>
          </a:p>
        </p:txBody>
      </p:sp>
      <p:sp>
        <p:nvSpPr>
          <p:cNvPr id="3" name="zone cloud"/>
          <p:cNvSpPr/>
          <p:nvPr/>
        </p:nvSpPr>
        <p:spPr>
          <a:xfrm>
            <a:off x="548640" y="1188720"/>
            <a:ext cx="11091672" cy="1005840"/>
          </a:xfrm>
          <a:prstGeom prst="roundRect">
            <a:avLst>
              <a:gd name="adj" fmla="val 7273"/>
            </a:avLst>
          </a:prstGeom>
          <a:solidFill>
            <a:srgbClr val="EAF1FB"/>
          </a:solidFill>
          <a:ln w="12700">
            <a:solidFill>
              <a:srgbClr val="EAF1FB"/>
            </a:solidFill>
            <a:prstDash val="solid"/>
          </a:ln>
        </p:spPr>
      </p:sp>
      <p:sp>
        <p:nvSpPr>
          <p:cNvPr id="4" name="zone field"/>
          <p:cNvSpPr/>
          <p:nvPr/>
        </p:nvSpPr>
        <p:spPr>
          <a:xfrm>
            <a:off x="548640" y="2377440"/>
            <a:ext cx="2834640" cy="3794760"/>
          </a:xfrm>
          <a:prstGeom prst="roundRect">
            <a:avLst>
              <a:gd name="adj" fmla="val 2581"/>
            </a:avLst>
          </a:prstGeom>
          <a:solidFill>
            <a:schemeClr val="bg2"/>
          </a:solidFill>
          <a:ln w="12700">
            <a:solidFill>
              <a:schemeClr val="bg2"/>
            </a:solidFill>
            <a:prstDash val="solid"/>
          </a:ln>
        </p:spPr>
      </p:sp>
      <p:sp>
        <p:nvSpPr>
          <p:cNvPr id="5" name="zone edge"/>
          <p:cNvSpPr/>
          <p:nvPr/>
        </p:nvSpPr>
        <p:spPr>
          <a:xfrm>
            <a:off x="3566160" y="2377440"/>
            <a:ext cx="8074152" cy="3794760"/>
          </a:xfrm>
          <a:prstGeom prst="roundRect">
            <a:avLst>
              <a:gd name="adj" fmla="val 1928"/>
            </a:avLst>
          </a:prstGeom>
          <a:solidFill>
            <a:srgbClr val="FDF5E1"/>
          </a:solidFill>
          <a:ln w="12700">
            <a:solidFill>
              <a:srgbClr val="FDF5E1"/>
            </a:solidFill>
            <a:prstDash val="solid"/>
          </a:ln>
        </p:spPr>
      </p:sp>
      <p:sp>
        <p:nvSpPr>
          <p:cNvPr id="6" name="label cloud"/>
          <p:cNvSpPr txBox="1"/>
          <p:nvPr/>
        </p:nvSpPr>
        <p:spPr>
          <a:xfrm>
            <a:off x="731520" y="1325880"/>
            <a:ext cx="2377440" cy="731520"/>
          </a:xfrm>
          <a:prstGeom prst="rect">
            <a:avLst/>
          </a:prstGeom>
          <a:noFill/>
          <a:ln/>
        </p:spPr>
        <p:txBody>
          <a:bodyPr wrap="square" lIns="0" tIns="0" rIns="0" bIns="0" rtlCol="0" anchor="ctr"/>
          <a:lstStyle/>
          <a:p>
            <a:pPr indent="0" marL="0">
              <a:buNone/>
            </a:pPr>
            <a:r>
              <a:rPr lang="en-US" sz="1400" b="1" dirty="0">
                <a:solidFill>
                  <a:schemeClr val="accent2"/>
                </a:solidFill>
              </a:rPr>
              <a:t>Cloud /</a:t>
            </a:r>
            <a:endParaRPr lang="en-US" sz="1400" dirty="0"/>
          </a:p>
          <a:p>
            <a:pPr indent="0" marL="0">
              <a:buNone/>
            </a:pPr>
            <a:r>
              <a:rPr lang="en-US" sz="1400" b="1" dirty="0">
                <a:solidFill>
                  <a:schemeClr val="accent2"/>
                </a:solidFill>
              </a:rPr>
              <a:t>infrastructure</a:t>
            </a:r>
            <a:endParaRPr lang="en-US" sz="1400" dirty="0"/>
          </a:p>
        </p:txBody>
      </p:sp>
      <p:sp>
        <p:nvSpPr>
          <p:cNvPr id="7" name="label field"/>
          <p:cNvSpPr txBox="1"/>
          <p:nvPr/>
        </p:nvSpPr>
        <p:spPr>
          <a:xfrm>
            <a:off x="731520" y="2468880"/>
            <a:ext cx="2468880" cy="320040"/>
          </a:xfrm>
          <a:prstGeom prst="rect">
            <a:avLst/>
          </a:prstGeom>
          <a:noFill/>
          <a:ln/>
        </p:spPr>
        <p:txBody>
          <a:bodyPr wrap="square" lIns="0" tIns="0" rIns="0" bIns="0" rtlCol="0" anchor="ctr"/>
          <a:lstStyle/>
          <a:p>
            <a:pPr indent="0" marL="0">
              <a:buNone/>
            </a:pPr>
            <a:r>
              <a:rPr lang="en-US" sz="1400" b="1" dirty="0">
                <a:solidFill>
                  <a:schemeClr val="accent6"/>
                </a:solidFill>
              </a:rPr>
              <a:t>Field domain</a:t>
            </a:r>
            <a:endParaRPr lang="en-US" sz="1400" dirty="0"/>
          </a:p>
        </p:txBody>
      </p:sp>
      <p:sp>
        <p:nvSpPr>
          <p:cNvPr id="8" name="label edge"/>
          <p:cNvSpPr txBox="1"/>
          <p:nvPr/>
        </p:nvSpPr>
        <p:spPr>
          <a:xfrm>
            <a:off x="5943600" y="2468880"/>
            <a:ext cx="5486400" cy="320040"/>
          </a:xfrm>
          <a:prstGeom prst="rect">
            <a:avLst/>
          </a:prstGeom>
          <a:noFill/>
          <a:ln/>
        </p:spPr>
        <p:txBody>
          <a:bodyPr wrap="square" lIns="0" tIns="0" rIns="0" bIns="0" rtlCol="0" anchor="ctr"/>
          <a:lstStyle/>
          <a:p>
            <a:pPr indent="0" marL="0">
              <a:buNone/>
            </a:pPr>
            <a:r>
              <a:rPr lang="en-US" sz="1400" b="1" dirty="0">
                <a:solidFill>
                  <a:schemeClr val="accent4"/>
                </a:solidFill>
              </a:rPr>
              <a:t>Edge: ETSI MEC host (deployment option C, co-location)</a:t>
            </a:r>
            <a:endParaRPr lang="en-US" sz="1400" dirty="0"/>
          </a:p>
        </p:txBody>
      </p:sp>
      <p:sp>
        <p:nvSpPr>
          <p:cNvPr id="9" name="node IN-CSE"/>
          <p:cNvSpPr/>
          <p:nvPr/>
        </p:nvSpPr>
        <p:spPr>
          <a:xfrm>
            <a:off x="3840480" y="1325880"/>
            <a:ext cx="1920240" cy="731520"/>
          </a:xfrm>
          <a:prstGeom prst="roundRect">
            <a:avLst>
              <a:gd name="adj" fmla="val 10000"/>
            </a:avLst>
          </a:prstGeom>
          <a:solidFill>
            <a:schemeClr val="bg1"/>
          </a:solidFill>
          <a:ln w="12700">
            <a:solidFill>
              <a:srgbClr val="C9D0D8"/>
            </a:solidFill>
            <a:prstDash val="solid"/>
          </a:ln>
        </p:spPr>
      </p:sp>
      <p:sp>
        <p:nvSpPr>
          <p:cNvPr id="10" name="node text IN-CSE"/>
          <p:cNvSpPr txBox="1"/>
          <p:nvPr/>
        </p:nvSpPr>
        <p:spPr>
          <a:xfrm>
            <a:off x="3950208" y="1325880"/>
            <a:ext cx="1700784" cy="731520"/>
          </a:xfrm>
          <a:prstGeom prst="rect">
            <a:avLst/>
          </a:prstGeom>
          <a:noFill/>
          <a:ln/>
        </p:spPr>
        <p:txBody>
          <a:bodyPr wrap="square" lIns="0" tIns="0" rIns="0" bIns="0" rtlCol="0" anchor="ctr"/>
          <a:lstStyle/>
          <a:p>
            <a:pPr indent="0" marL="0">
              <a:buNone/>
            </a:pPr>
            <a:r>
              <a:rPr lang="en-US" sz="1400" b="1" dirty="0">
                <a:solidFill>
                  <a:schemeClr val="tx2"/>
                </a:solidFill>
              </a:rPr>
              <a:t>IN-CSE</a:t>
            </a:r>
            <a:endParaRPr lang="en-US" sz="1400" dirty="0"/>
          </a:p>
          <a:p>
            <a:pPr indent="0" marL="0">
              <a:buNone/>
            </a:pPr>
            <a:r>
              <a:rPr lang="en-US" sz="1100" dirty="0">
                <a:solidFill>
                  <a:schemeClr val="accent6"/>
                </a:solidFill>
              </a:rPr>
              <a:t>Mobius (cloud)</a:t>
            </a:r>
            <a:endParaRPr lang="en-US" sz="1400" dirty="0"/>
          </a:p>
        </p:txBody>
      </p:sp>
      <p:sp>
        <p:nvSpPr>
          <p:cNvPr id="11" name="node Safety dashboard"/>
          <p:cNvSpPr/>
          <p:nvPr/>
        </p:nvSpPr>
        <p:spPr>
          <a:xfrm>
            <a:off x="6400800" y="1325880"/>
            <a:ext cx="2377440" cy="731520"/>
          </a:xfrm>
          <a:prstGeom prst="roundRect">
            <a:avLst>
              <a:gd name="adj" fmla="val 10000"/>
            </a:avLst>
          </a:prstGeom>
          <a:solidFill>
            <a:schemeClr val="bg1"/>
          </a:solidFill>
          <a:ln w="12700">
            <a:solidFill>
              <a:srgbClr val="C9D0D8"/>
            </a:solidFill>
            <a:prstDash val="solid"/>
          </a:ln>
        </p:spPr>
      </p:sp>
      <p:sp>
        <p:nvSpPr>
          <p:cNvPr id="12" name="node text Safety dashboard"/>
          <p:cNvSpPr txBox="1"/>
          <p:nvPr/>
        </p:nvSpPr>
        <p:spPr>
          <a:xfrm>
            <a:off x="6510528" y="1325880"/>
            <a:ext cx="2157984" cy="731520"/>
          </a:xfrm>
          <a:prstGeom prst="rect">
            <a:avLst/>
          </a:prstGeom>
          <a:noFill/>
          <a:ln/>
        </p:spPr>
        <p:txBody>
          <a:bodyPr wrap="square" lIns="0" tIns="0" rIns="0" bIns="0" rtlCol="0" anchor="ctr"/>
          <a:lstStyle/>
          <a:p>
            <a:pPr indent="0" marL="0">
              <a:buNone/>
            </a:pPr>
            <a:r>
              <a:rPr lang="en-US" sz="1400" b="1" dirty="0">
                <a:solidFill>
                  <a:schemeClr val="tx2"/>
                </a:solidFill>
              </a:rPr>
              <a:t>Safety dashboard</a:t>
            </a:r>
            <a:endParaRPr lang="en-US" sz="1400" dirty="0"/>
          </a:p>
          <a:p>
            <a:pPr indent="0" marL="0">
              <a:buNone/>
            </a:pPr>
            <a:r>
              <a:rPr lang="en-US" sz="1100" dirty="0">
                <a:solidFill>
                  <a:schemeClr val="accent6"/>
                </a:solidFill>
              </a:rPr>
              <a:t>near-miss heatmap, reports</a:t>
            </a:r>
            <a:endParaRPr lang="en-US" sz="1400" dirty="0"/>
          </a:p>
        </p:txBody>
      </p:sp>
      <p:sp>
        <p:nvSpPr>
          <p:cNvPr id="13" name="node Other oneM2M apps"/>
          <p:cNvSpPr/>
          <p:nvPr/>
        </p:nvSpPr>
        <p:spPr>
          <a:xfrm>
            <a:off x="9326880" y="1325880"/>
            <a:ext cx="2148840" cy="731520"/>
          </a:xfrm>
          <a:prstGeom prst="roundRect">
            <a:avLst>
              <a:gd name="adj" fmla="val 10000"/>
            </a:avLst>
          </a:prstGeom>
          <a:solidFill>
            <a:schemeClr val="bg1"/>
          </a:solidFill>
          <a:ln w="12700">
            <a:solidFill>
              <a:srgbClr val="C9D0D8"/>
            </a:solidFill>
            <a:prstDash val="solid"/>
          </a:ln>
        </p:spPr>
      </p:sp>
      <p:sp>
        <p:nvSpPr>
          <p:cNvPr id="14" name="node text Other oneM2M apps"/>
          <p:cNvSpPr txBox="1"/>
          <p:nvPr/>
        </p:nvSpPr>
        <p:spPr>
          <a:xfrm>
            <a:off x="9436608" y="1325880"/>
            <a:ext cx="1929384" cy="731520"/>
          </a:xfrm>
          <a:prstGeom prst="rect">
            <a:avLst/>
          </a:prstGeom>
          <a:noFill/>
          <a:ln/>
        </p:spPr>
        <p:txBody>
          <a:bodyPr wrap="square" lIns="0" tIns="0" rIns="0" bIns="0" rtlCol="0" anchor="ctr"/>
          <a:lstStyle/>
          <a:p>
            <a:pPr indent="0" marL="0">
              <a:buNone/>
            </a:pPr>
            <a:r>
              <a:rPr lang="en-US" sz="1400" b="1" dirty="0">
                <a:solidFill>
                  <a:schemeClr val="tx2"/>
                </a:solidFill>
              </a:rPr>
              <a:t>Other oneM2M apps</a:t>
            </a:r>
            <a:endParaRPr lang="en-US" sz="1400" dirty="0"/>
          </a:p>
          <a:p>
            <a:pPr indent="0" marL="0">
              <a:buNone/>
            </a:pPr>
            <a:r>
              <a:rPr lang="en-US" sz="1100" dirty="0">
                <a:solidFill>
                  <a:schemeClr val="accent6"/>
                </a:solidFill>
              </a:rPr>
              <a:t>subscribe to alerts</a:t>
            </a:r>
            <a:endParaRPr lang="en-US" sz="1400" dirty="0"/>
          </a:p>
        </p:txBody>
      </p:sp>
      <p:sp>
        <p:nvSpPr>
          <p:cNvPr id="15" name="node Worker tag"/>
          <p:cNvSpPr/>
          <p:nvPr/>
        </p:nvSpPr>
        <p:spPr>
          <a:xfrm>
            <a:off x="731520" y="2880360"/>
            <a:ext cx="2468880" cy="731520"/>
          </a:xfrm>
          <a:prstGeom prst="roundRect">
            <a:avLst>
              <a:gd name="adj" fmla="val 10000"/>
            </a:avLst>
          </a:prstGeom>
          <a:solidFill>
            <a:schemeClr val="bg1"/>
          </a:solidFill>
          <a:ln w="12700">
            <a:solidFill>
              <a:srgbClr val="C9D0D8"/>
            </a:solidFill>
            <a:prstDash val="solid"/>
          </a:ln>
        </p:spPr>
      </p:sp>
      <p:sp>
        <p:nvSpPr>
          <p:cNvPr id="16" name="node text Worker tag"/>
          <p:cNvSpPr txBox="1"/>
          <p:nvPr/>
        </p:nvSpPr>
        <p:spPr>
          <a:xfrm>
            <a:off x="841248" y="288036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Worker tag</a:t>
            </a:r>
            <a:endParaRPr lang="en-US" sz="1400" dirty="0"/>
          </a:p>
          <a:p>
            <a:pPr indent="0" marL="0">
              <a:buNone/>
            </a:pPr>
            <a:r>
              <a:rPr lang="en-US" sz="1100" dirty="0">
                <a:solidFill>
                  <a:schemeClr val="accent6"/>
                </a:solidFill>
              </a:rPr>
              <a:t>ESP32 + UWB · vibration, LED</a:t>
            </a:r>
            <a:endParaRPr lang="en-US" sz="1400" dirty="0"/>
          </a:p>
        </p:txBody>
      </p:sp>
      <p:sp>
        <p:nvSpPr>
          <p:cNvPr id="17" name="node Forklift module"/>
          <p:cNvSpPr/>
          <p:nvPr/>
        </p:nvSpPr>
        <p:spPr>
          <a:xfrm>
            <a:off x="731520" y="3749040"/>
            <a:ext cx="2468880" cy="731520"/>
          </a:xfrm>
          <a:prstGeom prst="roundRect">
            <a:avLst>
              <a:gd name="adj" fmla="val 10000"/>
            </a:avLst>
          </a:prstGeom>
          <a:solidFill>
            <a:schemeClr val="bg1"/>
          </a:solidFill>
          <a:ln w="12700">
            <a:solidFill>
              <a:srgbClr val="C9D0D8"/>
            </a:solidFill>
            <a:prstDash val="solid"/>
          </a:ln>
        </p:spPr>
      </p:sp>
      <p:sp>
        <p:nvSpPr>
          <p:cNvPr id="18" name="node text Forklift module"/>
          <p:cNvSpPr txBox="1"/>
          <p:nvPr/>
        </p:nvSpPr>
        <p:spPr>
          <a:xfrm>
            <a:off x="841248" y="374904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Forklift module</a:t>
            </a:r>
            <a:endParaRPr lang="en-US" sz="1400" dirty="0"/>
          </a:p>
          <a:p>
            <a:pPr indent="0" marL="0">
              <a:buNone/>
            </a:pPr>
            <a:r>
              <a:rPr lang="en-US" sz="1100" dirty="0">
                <a:solidFill>
                  <a:schemeClr val="accent6"/>
                </a:solidFill>
              </a:rPr>
              <a:t>UWB + IMU · speed limit</a:t>
            </a:r>
            <a:endParaRPr lang="en-US" sz="1400" dirty="0"/>
          </a:p>
        </p:txBody>
      </p:sp>
      <p:sp>
        <p:nvSpPr>
          <p:cNvPr id="19" name="node Camera node"/>
          <p:cNvSpPr/>
          <p:nvPr/>
        </p:nvSpPr>
        <p:spPr>
          <a:xfrm>
            <a:off x="731520" y="4617720"/>
            <a:ext cx="2468880" cy="731520"/>
          </a:xfrm>
          <a:prstGeom prst="roundRect">
            <a:avLst>
              <a:gd name="adj" fmla="val 10000"/>
            </a:avLst>
          </a:prstGeom>
          <a:solidFill>
            <a:schemeClr val="bg1"/>
          </a:solidFill>
          <a:ln w="12700">
            <a:solidFill>
              <a:srgbClr val="C9D0D8"/>
            </a:solidFill>
            <a:prstDash val="solid"/>
          </a:ln>
        </p:spPr>
      </p:sp>
      <p:sp>
        <p:nvSpPr>
          <p:cNvPr id="20" name="node text Camera node"/>
          <p:cNvSpPr txBox="1"/>
          <p:nvPr/>
        </p:nvSpPr>
        <p:spPr>
          <a:xfrm>
            <a:off x="841248" y="461772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Camera node</a:t>
            </a:r>
            <a:endParaRPr lang="en-US" sz="1400" dirty="0"/>
          </a:p>
          <a:p>
            <a:pPr indent="0" marL="0">
              <a:buNone/>
            </a:pPr>
            <a:r>
              <a:rPr lang="en-US" sz="1100" dirty="0">
                <a:solidFill>
                  <a:schemeClr val="accent6"/>
                </a:solidFill>
              </a:rPr>
              <a:t>untagged people (YOLOv8n)</a:t>
            </a:r>
            <a:endParaRPr lang="en-US" sz="1400" dirty="0"/>
          </a:p>
        </p:txBody>
      </p:sp>
      <p:sp>
        <p:nvSpPr>
          <p:cNvPr id="21" name="d2d note"/>
          <p:cNvSpPr txBox="1"/>
          <p:nvPr/>
        </p:nvSpPr>
        <p:spPr>
          <a:xfrm>
            <a:off x="731520" y="5486400"/>
            <a:ext cx="2468880" cy="548640"/>
          </a:xfrm>
          <a:prstGeom prst="rect">
            <a:avLst/>
          </a:prstGeom>
          <a:noFill/>
          <a:ln/>
        </p:spPr>
        <p:txBody>
          <a:bodyPr wrap="square" lIns="0" tIns="0" rIns="0" bIns="0" rtlCol="0" anchor="ctr"/>
          <a:lstStyle/>
          <a:p>
            <a:pPr indent="0" marL="0">
              <a:buNone/>
            </a:pPr>
            <a:r>
              <a:rPr lang="en-US" sz="1100" dirty="0">
                <a:solidFill>
                  <a:schemeClr val="accent2"/>
                </a:solidFill>
              </a:rPr>
              <a:t>D2D fallback: ESP-NOW + HMAC between devices</a:t>
            </a:r>
            <a:endParaRPr lang="en-US" sz="1100" dirty="0"/>
          </a:p>
        </p:txBody>
      </p:sp>
      <p:sp>
        <p:nvSpPr>
          <p:cNvPr id="22" name="node MN-CSE"/>
          <p:cNvSpPr/>
          <p:nvPr/>
        </p:nvSpPr>
        <p:spPr>
          <a:xfrm>
            <a:off x="3840480" y="2880360"/>
            <a:ext cx="1920240" cy="2468880"/>
          </a:xfrm>
          <a:prstGeom prst="roundRect">
            <a:avLst>
              <a:gd name="adj" fmla="val 3810"/>
            </a:avLst>
          </a:prstGeom>
          <a:solidFill>
            <a:schemeClr val="bg1"/>
          </a:solidFill>
          <a:ln w="25400">
            <a:solidFill>
              <a:schemeClr val="accent2"/>
            </a:solidFill>
            <a:prstDash val="solid"/>
          </a:ln>
        </p:spPr>
      </p:sp>
      <p:sp>
        <p:nvSpPr>
          <p:cNvPr id="23" name="node text MN-CSE"/>
          <p:cNvSpPr txBox="1"/>
          <p:nvPr/>
        </p:nvSpPr>
        <p:spPr>
          <a:xfrm>
            <a:off x="3950208" y="2880360"/>
            <a:ext cx="1700784" cy="2468880"/>
          </a:xfrm>
          <a:prstGeom prst="rect">
            <a:avLst/>
          </a:prstGeom>
          <a:noFill/>
          <a:ln/>
        </p:spPr>
        <p:txBody>
          <a:bodyPr wrap="square" lIns="0" tIns="0" rIns="0" bIns="0" rtlCol="0" anchor="ctr"/>
          <a:lstStyle/>
          <a:p>
            <a:pPr indent="0" marL="0">
              <a:buNone/>
            </a:pPr>
            <a:r>
              <a:rPr lang="en-US" sz="1400" b="1" dirty="0">
                <a:solidFill>
                  <a:schemeClr val="accent2"/>
                </a:solidFill>
              </a:rPr>
              <a:t>MN-CSE</a:t>
            </a:r>
            <a:endParaRPr lang="en-US" sz="1400" dirty="0"/>
          </a:p>
          <a:p>
            <a:pPr indent="0" marL="0">
              <a:buNone/>
            </a:pPr>
            <a:r>
              <a:rPr lang="en-US" sz="1100" dirty="0">
                <a:solidFill>
                  <a:schemeClr val="accent6"/>
                </a:solidFill>
              </a:rPr>
              <a:t>ACME / Mobius</a:t>
            </a:r>
            <a:endParaRPr lang="en-US" sz="1400" dirty="0"/>
          </a:p>
          <a:p>
            <a:pPr indent="0" marL="0">
              <a:buNone/>
            </a:pPr>
            <a:r>
              <a:rPr lang="en-US" sz="1100" dirty="0">
                <a:solidFill>
                  <a:schemeClr val="accent6"/>
                </a:solidFill>
              </a:rPr>
              <a:t>AE per device</a:t>
            </a:r>
            <a:endParaRPr lang="en-US" sz="1400" dirty="0"/>
          </a:p>
          <a:p>
            <a:pPr indent="0" marL="0">
              <a:buNone/>
            </a:pPr>
            <a:r>
              <a:rPr lang="en-US" sz="1100" dirty="0">
                <a:solidFill>
                  <a:schemeClr val="accent6"/>
                </a:solidFill>
              </a:rPr>
              <a:t>CNT · SUB · ACP</a:t>
            </a:r>
            <a:endParaRPr lang="en-US" sz="1400" dirty="0"/>
          </a:p>
        </p:txBody>
      </p:sp>
      <p:sp>
        <p:nvSpPr>
          <p:cNvPr id="24" name="node EdgeGuard MEC app"/>
          <p:cNvSpPr/>
          <p:nvPr/>
        </p:nvSpPr>
        <p:spPr>
          <a:xfrm>
            <a:off x="6400800" y="2880360"/>
            <a:ext cx="2377440" cy="2468880"/>
          </a:xfrm>
          <a:prstGeom prst="roundRect">
            <a:avLst>
              <a:gd name="adj" fmla="val 3077"/>
            </a:avLst>
          </a:prstGeom>
          <a:solidFill>
            <a:schemeClr val="tx2"/>
          </a:solidFill>
          <a:ln w="12700">
            <a:solidFill>
              <a:schemeClr val="tx2"/>
            </a:solidFill>
            <a:prstDash val="solid"/>
          </a:ln>
        </p:spPr>
      </p:sp>
      <p:sp>
        <p:nvSpPr>
          <p:cNvPr id="25" name="node text EdgeGuard MEC app"/>
          <p:cNvSpPr txBox="1"/>
          <p:nvPr/>
        </p:nvSpPr>
        <p:spPr>
          <a:xfrm>
            <a:off x="6510528" y="2880360"/>
            <a:ext cx="2157984" cy="2468880"/>
          </a:xfrm>
          <a:prstGeom prst="rect">
            <a:avLst/>
          </a:prstGeom>
          <a:noFill/>
          <a:ln/>
        </p:spPr>
        <p:txBody>
          <a:bodyPr wrap="square" lIns="0" tIns="0" rIns="0" bIns="0" rtlCol="0" anchor="ctr"/>
          <a:lstStyle/>
          <a:p>
            <a:pPr indent="0" marL="0">
              <a:buNone/>
            </a:pPr>
            <a:r>
              <a:rPr lang="en-US" sz="1400" b="1" dirty="0">
                <a:solidFill>
                  <a:schemeClr val="accent1"/>
                </a:solidFill>
              </a:rPr>
              <a:t>EdgeGuard MEC app</a:t>
            </a:r>
            <a:endParaRPr lang="en-US" sz="1400" dirty="0"/>
          </a:p>
          <a:p>
            <a:pPr indent="0" marL="0">
              <a:buNone/>
            </a:pPr>
            <a:r>
              <a:rPr lang="en-US" sz="1100" dirty="0">
                <a:solidFill>
                  <a:srgbClr val="DCE3EA"/>
                </a:solidFill>
              </a:rPr>
              <a:t>tracking → prediction →</a:t>
            </a:r>
            <a:endParaRPr lang="en-US" sz="1400" dirty="0"/>
          </a:p>
          <a:p>
            <a:pPr indent="0" marL="0">
              <a:buNone/>
            </a:pPr>
            <a:r>
              <a:rPr lang="en-US" sz="1100" dirty="0">
                <a:solidFill>
                  <a:srgbClr val="DCE3EA"/>
                </a:solidFill>
              </a:rPr>
              <a:t>collision course → cue</a:t>
            </a:r>
            <a:endParaRPr lang="en-US" sz="1400" dirty="0"/>
          </a:p>
          <a:p>
            <a:pPr indent="0" marL="0">
              <a:buNone/>
            </a:pPr>
            <a:r>
              <a:rPr lang="en-US" sz="1100" dirty="0">
                <a:solidFill>
                  <a:srgbClr val="DCE3EA"/>
                </a:solidFill>
              </a:rPr>
              <a:t>(Docker, HA pair)</a:t>
            </a:r>
            <a:endParaRPr lang="en-US" sz="1400" dirty="0"/>
          </a:p>
        </p:txBody>
      </p:sp>
      <p:sp>
        <p:nvSpPr>
          <p:cNvPr id="26" name="node MEC-IPE"/>
          <p:cNvSpPr/>
          <p:nvPr/>
        </p:nvSpPr>
        <p:spPr>
          <a:xfrm>
            <a:off x="3840480" y="5486400"/>
            <a:ext cx="1920240" cy="594360"/>
          </a:xfrm>
          <a:prstGeom prst="roundRect">
            <a:avLst>
              <a:gd name="adj" fmla="val 12308"/>
            </a:avLst>
          </a:prstGeom>
          <a:solidFill>
            <a:schemeClr val="bg1"/>
          </a:solidFill>
          <a:ln w="12700">
            <a:solidFill>
              <a:srgbClr val="C9D0D8"/>
            </a:solidFill>
            <a:prstDash val="solid"/>
          </a:ln>
        </p:spPr>
      </p:sp>
      <p:sp>
        <p:nvSpPr>
          <p:cNvPr id="27" name="node text MEC-IPE"/>
          <p:cNvSpPr txBox="1"/>
          <p:nvPr/>
        </p:nvSpPr>
        <p:spPr>
          <a:xfrm>
            <a:off x="3950208" y="5486400"/>
            <a:ext cx="1700784" cy="594360"/>
          </a:xfrm>
          <a:prstGeom prst="rect">
            <a:avLst/>
          </a:prstGeom>
          <a:noFill/>
          <a:ln/>
        </p:spPr>
        <p:txBody>
          <a:bodyPr wrap="square" lIns="0" tIns="0" rIns="0" bIns="0" rtlCol="0" anchor="ctr"/>
          <a:lstStyle/>
          <a:p>
            <a:pPr indent="0" marL="0">
              <a:buNone/>
            </a:pPr>
            <a:r>
              <a:rPr lang="en-US" sz="1400" b="1" dirty="0">
                <a:solidFill>
                  <a:schemeClr val="tx2"/>
                </a:solidFill>
              </a:rPr>
              <a:t>MEC-IPE</a:t>
            </a:r>
            <a:endParaRPr lang="en-US" sz="1400" dirty="0"/>
          </a:p>
          <a:p>
            <a:pPr indent="0" marL="0">
              <a:buNone/>
            </a:pPr>
            <a:r>
              <a:rPr lang="en-US" sz="1100" dirty="0">
                <a:solidFill>
                  <a:schemeClr val="accent6"/>
                </a:solidFill>
              </a:rPr>
              <a:t>MEC data → oneM2M</a:t>
            </a:r>
            <a:endParaRPr lang="en-US" sz="1400" dirty="0"/>
          </a:p>
        </p:txBody>
      </p:sp>
      <p:sp>
        <p:nvSpPr>
          <p:cNvPr id="28" name="node MEC services"/>
          <p:cNvSpPr/>
          <p:nvPr/>
        </p:nvSpPr>
        <p:spPr>
          <a:xfrm>
            <a:off x="6400800" y="5486400"/>
            <a:ext cx="2377440" cy="594360"/>
          </a:xfrm>
          <a:prstGeom prst="roundRect">
            <a:avLst>
              <a:gd name="adj" fmla="val 12308"/>
            </a:avLst>
          </a:prstGeom>
          <a:solidFill>
            <a:schemeClr val="bg1"/>
          </a:solidFill>
          <a:ln w="12700">
            <a:solidFill>
              <a:srgbClr val="C9D0D8"/>
            </a:solidFill>
            <a:prstDash val="solid"/>
          </a:ln>
        </p:spPr>
      </p:sp>
      <p:sp>
        <p:nvSpPr>
          <p:cNvPr id="29" name="node text MEC services"/>
          <p:cNvSpPr txBox="1"/>
          <p:nvPr/>
        </p:nvSpPr>
        <p:spPr>
          <a:xfrm>
            <a:off x="6510528" y="5486400"/>
            <a:ext cx="2157984" cy="594360"/>
          </a:xfrm>
          <a:prstGeom prst="rect">
            <a:avLst/>
          </a:prstGeom>
          <a:noFill/>
          <a:ln/>
        </p:spPr>
        <p:txBody>
          <a:bodyPr wrap="square" lIns="0" tIns="0" rIns="0" bIns="0" rtlCol="0" anchor="ctr"/>
          <a:lstStyle/>
          <a:p>
            <a:pPr indent="0" marL="0">
              <a:buNone/>
            </a:pPr>
            <a:r>
              <a:rPr lang="en-US" sz="1400" b="1" dirty="0">
                <a:solidFill>
                  <a:schemeClr val="tx2"/>
                </a:solidFill>
              </a:rPr>
              <a:t>MEC services</a:t>
            </a:r>
            <a:endParaRPr lang="en-US" sz="1400" dirty="0"/>
          </a:p>
          <a:p>
            <a:pPr indent="0" marL="0">
              <a:buNone/>
            </a:pPr>
            <a:r>
              <a:rPr lang="en-US" sz="1100" dirty="0">
                <a:solidFill>
                  <a:schemeClr val="accent6"/>
                </a:solidFill>
              </a:rPr>
              <a:t>Location 013 · RNIS 012</a:t>
            </a:r>
            <a:endParaRPr lang="en-US" sz="1400" dirty="0"/>
          </a:p>
        </p:txBody>
      </p:sp>
      <p:sp>
        <p:nvSpPr>
          <p:cNvPr id="30" name="node MEC platform"/>
          <p:cNvSpPr/>
          <p:nvPr/>
        </p:nvSpPr>
        <p:spPr>
          <a:xfrm>
            <a:off x="9326880" y="2880360"/>
            <a:ext cx="2148840" cy="3200400"/>
          </a:xfrm>
          <a:prstGeom prst="roundRect">
            <a:avLst>
              <a:gd name="adj" fmla="val 3404"/>
            </a:avLst>
          </a:prstGeom>
          <a:solidFill>
            <a:schemeClr val="bg1"/>
          </a:solidFill>
          <a:ln w="12700">
            <a:solidFill>
              <a:srgbClr val="C9D0D8"/>
            </a:solidFill>
            <a:prstDash val="solid"/>
          </a:ln>
        </p:spPr>
      </p:sp>
      <p:sp>
        <p:nvSpPr>
          <p:cNvPr id="31" name="node text MEC platform"/>
          <p:cNvSpPr txBox="1"/>
          <p:nvPr/>
        </p:nvSpPr>
        <p:spPr>
          <a:xfrm>
            <a:off x="9436608" y="2880360"/>
            <a:ext cx="1929384" cy="3200400"/>
          </a:xfrm>
          <a:prstGeom prst="rect">
            <a:avLst/>
          </a:prstGeom>
          <a:noFill/>
          <a:ln/>
        </p:spPr>
        <p:txBody>
          <a:bodyPr wrap="square" lIns="0" tIns="0" rIns="0" bIns="0" rtlCol="0" anchor="ctr"/>
          <a:lstStyle/>
          <a:p>
            <a:pPr indent="0" marL="0">
              <a:buNone/>
            </a:pPr>
            <a:r>
              <a:rPr lang="en-US" sz="1400" b="1" dirty="0">
                <a:solidFill>
                  <a:schemeClr val="tx2"/>
                </a:solidFill>
              </a:rPr>
              <a:t>MEC platform</a:t>
            </a:r>
            <a:endParaRPr lang="en-US" sz="1400" dirty="0"/>
          </a:p>
          <a:p>
            <a:pPr indent="0" marL="0">
              <a:buNone/>
            </a:pPr>
            <a:r>
              <a:rPr lang="en-US" sz="1100" dirty="0">
                <a:solidFill>
                  <a:schemeClr val="accent6"/>
                </a:solidFill>
              </a:rPr>
              <a:t>app lifecycle, Mp1</a:t>
            </a:r>
            <a:endParaRPr lang="en-US" sz="1400" dirty="0"/>
          </a:p>
          <a:p>
            <a:pPr indent="0" marL="0">
              <a:buNone/>
            </a:pPr>
            <a:r>
              <a:rPr lang="en-US" sz="1100" dirty="0">
                <a:solidFill>
                  <a:schemeClr val="accent6"/>
                </a:solidFill>
              </a:rPr>
              <a:t>AdvantEDGE /</a:t>
            </a:r>
            <a:endParaRPr lang="en-US" sz="1400" dirty="0"/>
          </a:p>
          <a:p>
            <a:pPr indent="0" marL="0">
              <a:buNone/>
            </a:pPr>
            <a:r>
              <a:rPr lang="en-US" sz="1100" dirty="0">
                <a:solidFill>
                  <a:schemeClr val="accent6"/>
                </a:solidFill>
              </a:rPr>
              <a:t>ETSI MEC Sandbox</a:t>
            </a:r>
            <a:endParaRPr lang="en-US" sz="1400" dirty="0"/>
          </a:p>
        </p:txBody>
      </p:sp>
      <p:sp>
        <p:nvSpPr>
          <p:cNvPr id="32" name="mca arrow 0"/>
          <p:cNvSpPr/>
          <p:nvPr/>
        </p:nvSpPr>
        <p:spPr>
          <a:xfrm>
            <a:off x="3200400" y="3246120"/>
            <a:ext cx="640080" cy="0"/>
          </a:xfrm>
          <a:prstGeom prst="line">
            <a:avLst/>
          </a:prstGeom>
          <a:noFill/>
          <a:ln w="25400">
            <a:solidFill>
              <a:schemeClr val="accent6"/>
            </a:solidFill>
            <a:prstDash val="solid"/>
            <a:headEnd type="triangle"/>
            <a:tailEnd type="triangle"/>
          </a:ln>
        </p:spPr>
      </p:sp>
      <p:sp>
        <p:nvSpPr>
          <p:cNvPr id="33" name="mca arrow 1"/>
          <p:cNvSpPr/>
          <p:nvPr/>
        </p:nvSpPr>
        <p:spPr>
          <a:xfrm>
            <a:off x="3200400" y="4114800"/>
            <a:ext cx="640080" cy="0"/>
          </a:xfrm>
          <a:prstGeom prst="line">
            <a:avLst/>
          </a:prstGeom>
          <a:noFill/>
          <a:ln w="25400">
            <a:solidFill>
              <a:schemeClr val="accent6"/>
            </a:solidFill>
            <a:prstDash val="solid"/>
            <a:headEnd type="triangle"/>
            <a:tailEnd type="triangle"/>
          </a:ln>
        </p:spPr>
      </p:sp>
      <p:sp>
        <p:nvSpPr>
          <p:cNvPr id="34" name="mca arrow 2"/>
          <p:cNvSpPr/>
          <p:nvPr/>
        </p:nvSpPr>
        <p:spPr>
          <a:xfrm>
            <a:off x="3200400" y="4983480"/>
            <a:ext cx="640080" cy="0"/>
          </a:xfrm>
          <a:prstGeom prst="line">
            <a:avLst/>
          </a:prstGeom>
          <a:noFill/>
          <a:ln w="25400">
            <a:solidFill>
              <a:schemeClr val="accent6"/>
            </a:solidFill>
            <a:prstDash val="solid"/>
            <a:headEnd type="triangle"/>
            <a:tailEnd type="triangle"/>
          </a:ln>
        </p:spPr>
      </p:sp>
      <p:sp>
        <p:nvSpPr>
          <p:cNvPr id="35" name="mca label"/>
          <p:cNvSpPr txBox="1"/>
          <p:nvPr/>
        </p:nvSpPr>
        <p:spPr>
          <a:xfrm>
            <a:off x="3154680" y="2926080"/>
            <a:ext cx="731520" cy="274320"/>
          </a:xfrm>
          <a:prstGeom prst="rect">
            <a:avLst/>
          </a:prstGeom>
          <a:noFill/>
          <a:ln/>
        </p:spPr>
        <p:txBody>
          <a:bodyPr wrap="square" lIns="0" tIns="0" rIns="0" bIns="0" rtlCol="0" anchor="ctr"/>
          <a:lstStyle/>
          <a:p>
            <a:pPr algn="ctr" indent="0" marL="0">
              <a:buNone/>
            </a:pPr>
            <a:r>
              <a:rPr lang="en-US" sz="1000" dirty="0">
                <a:solidFill>
                  <a:schemeClr val="accent6"/>
                </a:solidFill>
              </a:rPr>
              <a:t>Mca (HTTP)</a:t>
            </a:r>
            <a:endParaRPr lang="en-US" sz="1000" dirty="0"/>
          </a:p>
        </p:txBody>
      </p:sp>
      <p:sp>
        <p:nvSpPr>
          <p:cNvPr id="36" name="notify arrow"/>
          <p:cNvSpPr/>
          <p:nvPr/>
        </p:nvSpPr>
        <p:spPr>
          <a:xfrm>
            <a:off x="5760720" y="3657600"/>
            <a:ext cx="640080" cy="0"/>
          </a:xfrm>
          <a:prstGeom prst="line">
            <a:avLst/>
          </a:prstGeom>
          <a:noFill/>
          <a:ln w="25400">
            <a:solidFill>
              <a:schemeClr val="accent2"/>
            </a:solidFill>
            <a:prstDash val="solid"/>
            <a:tailEnd type="triangle"/>
          </a:ln>
        </p:spPr>
      </p:sp>
      <p:sp>
        <p:nvSpPr>
          <p:cNvPr id="37" name="notify label"/>
          <p:cNvSpPr txBox="1"/>
          <p:nvPr/>
        </p:nvSpPr>
        <p:spPr>
          <a:xfrm>
            <a:off x="5760720" y="3337560"/>
            <a:ext cx="640080" cy="274320"/>
          </a:xfrm>
          <a:prstGeom prst="rect">
            <a:avLst/>
          </a:prstGeom>
          <a:noFill/>
          <a:ln/>
        </p:spPr>
        <p:txBody>
          <a:bodyPr wrap="square" lIns="0" tIns="0" rIns="0" bIns="0" rtlCol="0" anchor="ctr"/>
          <a:lstStyle/>
          <a:p>
            <a:pPr algn="ctr" indent="0" marL="0">
              <a:buNone/>
            </a:pPr>
            <a:r>
              <a:rPr lang="en-US" sz="1000" dirty="0">
                <a:solidFill>
                  <a:schemeClr val="accent2"/>
                </a:solidFill>
              </a:rPr>
              <a:t>Notify</a:t>
            </a:r>
            <a:endParaRPr lang="en-US" sz="1000" dirty="0"/>
          </a:p>
        </p:txBody>
      </p:sp>
      <p:sp>
        <p:nvSpPr>
          <p:cNvPr id="38" name="alert arrow"/>
          <p:cNvSpPr/>
          <p:nvPr/>
        </p:nvSpPr>
        <p:spPr>
          <a:xfrm flipH="1">
            <a:off x="5760720" y="4572000"/>
            <a:ext cx="640080" cy="0"/>
          </a:xfrm>
          <a:prstGeom prst="line">
            <a:avLst/>
          </a:prstGeom>
          <a:noFill/>
          <a:ln w="25400">
            <a:solidFill>
              <a:schemeClr val="accent3"/>
            </a:solidFill>
            <a:prstDash val="solid"/>
            <a:tailEnd type="triangle"/>
          </a:ln>
        </p:spPr>
      </p:sp>
      <p:sp>
        <p:nvSpPr>
          <p:cNvPr id="39" name="alert label"/>
          <p:cNvSpPr txBox="1"/>
          <p:nvPr/>
        </p:nvSpPr>
        <p:spPr>
          <a:xfrm>
            <a:off x="5760720" y="4617720"/>
            <a:ext cx="640080" cy="274320"/>
          </a:xfrm>
          <a:prstGeom prst="rect">
            <a:avLst/>
          </a:prstGeom>
          <a:noFill/>
          <a:ln/>
        </p:spPr>
        <p:txBody>
          <a:bodyPr wrap="square" lIns="0" tIns="0" rIns="0" bIns="0" rtlCol="0" anchor="ctr"/>
          <a:lstStyle/>
          <a:p>
            <a:pPr algn="ctr" indent="0" marL="0">
              <a:buNone/>
            </a:pPr>
            <a:r>
              <a:rPr lang="en-US" sz="1000" dirty="0">
                <a:solidFill>
                  <a:schemeClr val="accent3"/>
                </a:solidFill>
              </a:rPr>
              <a:t>alert</a:t>
            </a:r>
            <a:endParaRPr lang="en-US" sz="1000" dirty="0"/>
          </a:p>
        </p:txBody>
      </p:sp>
      <p:sp>
        <p:nvSpPr>
          <p:cNvPr id="40" name="mec to ipe"/>
          <p:cNvSpPr/>
          <p:nvPr/>
        </p:nvSpPr>
        <p:spPr>
          <a:xfrm flipH="1">
            <a:off x="5760720" y="5779008"/>
            <a:ext cx="640080" cy="0"/>
          </a:xfrm>
          <a:prstGeom prst="line">
            <a:avLst/>
          </a:prstGeom>
          <a:noFill/>
          <a:ln w="25400">
            <a:solidFill>
              <a:schemeClr val="accent6"/>
            </a:solidFill>
            <a:prstDash val="solid"/>
            <a:tailEnd type="triangle"/>
          </a:ln>
        </p:spPr>
      </p:sp>
      <p:sp>
        <p:nvSpPr>
          <p:cNvPr id="41" name="ipe to cse"/>
          <p:cNvSpPr/>
          <p:nvPr/>
        </p:nvSpPr>
        <p:spPr>
          <a:xfrm flipV="1">
            <a:off x="4800600" y="5349240"/>
            <a:ext cx="0" cy="137160"/>
          </a:xfrm>
          <a:prstGeom prst="line">
            <a:avLst/>
          </a:prstGeom>
          <a:noFill/>
          <a:ln w="25400">
            <a:solidFill>
              <a:schemeClr val="accent6"/>
            </a:solidFill>
            <a:prstDash val="solid"/>
            <a:tailEnd type="triangle"/>
          </a:ln>
        </p:spPr>
      </p:sp>
      <p:sp>
        <p:nvSpPr>
          <p:cNvPr id="42" name="mcc arrow"/>
          <p:cNvSpPr/>
          <p:nvPr/>
        </p:nvSpPr>
        <p:spPr>
          <a:xfrm>
            <a:off x="4800600" y="2057400"/>
            <a:ext cx="0" cy="822960"/>
          </a:xfrm>
          <a:prstGeom prst="line">
            <a:avLst/>
          </a:prstGeom>
          <a:noFill/>
          <a:ln w="25400">
            <a:solidFill>
              <a:schemeClr val="accent2"/>
            </a:solidFill>
            <a:prstDash val="solid"/>
            <a:headEnd type="triangle"/>
            <a:tailEnd type="triangle"/>
          </a:ln>
        </p:spPr>
      </p:sp>
      <p:sp>
        <p:nvSpPr>
          <p:cNvPr id="43" name="mcc label"/>
          <p:cNvSpPr txBox="1"/>
          <p:nvPr/>
        </p:nvSpPr>
        <p:spPr>
          <a:xfrm>
            <a:off x="4892040" y="2331720"/>
            <a:ext cx="548640" cy="274320"/>
          </a:xfrm>
          <a:prstGeom prst="rect">
            <a:avLst/>
          </a:prstGeom>
          <a:noFill/>
          <a:ln/>
        </p:spPr>
        <p:txBody>
          <a:bodyPr wrap="square" lIns="0" tIns="0" rIns="0" bIns="0" rtlCol="0" anchor="ctr"/>
          <a:lstStyle/>
          <a:p>
            <a:pPr indent="0" marL="0">
              <a:buNone/>
            </a:pPr>
            <a:r>
              <a:rPr lang="en-US" sz="1000" dirty="0">
                <a:solidFill>
                  <a:schemeClr val="accent2"/>
                </a:solidFill>
              </a:rPr>
              <a:t>Mcc</a:t>
            </a:r>
            <a:endParaRPr lang="en-US" sz="1000" dirty="0"/>
          </a:p>
        </p:txBody>
      </p:sp>
      <p:sp>
        <p:nvSpPr>
          <p:cNvPr id="44" name="cloud apps arrow"/>
          <p:cNvSpPr/>
          <p:nvPr/>
        </p:nvSpPr>
        <p:spPr>
          <a:xfrm>
            <a:off x="5760720" y="1691640"/>
            <a:ext cx="640080" cy="0"/>
          </a:xfrm>
          <a:prstGeom prst="line">
            <a:avLst/>
          </a:prstGeom>
          <a:noFill/>
          <a:ln w="25400">
            <a:solidFill>
              <a:schemeClr val="accent6"/>
            </a:solidFill>
            <a:prstDash val="solid"/>
            <a:tailEnd type="triangle"/>
          </a:ln>
        </p:spPr>
      </p:sp>
      <p:sp>
        <p:nvSpPr>
          <p:cNvPr id="45" name="mp1 arrow"/>
          <p:cNvSpPr/>
          <p:nvPr/>
        </p:nvSpPr>
        <p:spPr>
          <a:xfrm>
            <a:off x="8778240" y="4114800"/>
            <a:ext cx="548640" cy="0"/>
          </a:xfrm>
          <a:prstGeom prst="line">
            <a:avLst/>
          </a:prstGeom>
          <a:noFill/>
          <a:ln w="25400">
            <a:solidFill>
              <a:schemeClr val="accent6"/>
            </a:solidFill>
            <a:prstDash val="solid"/>
            <a:headEnd type="triangle"/>
            <a:tailEnd type="triangle"/>
          </a:ln>
        </p:spPr>
      </p:sp>
      <p:sp>
        <p:nvSpPr>
          <p:cNvPr id="46" name="mp1 label"/>
          <p:cNvSpPr txBox="1"/>
          <p:nvPr/>
        </p:nvSpPr>
        <p:spPr>
          <a:xfrm>
            <a:off x="8778240" y="3794760"/>
            <a:ext cx="548640" cy="274320"/>
          </a:xfrm>
          <a:prstGeom prst="rect">
            <a:avLst/>
          </a:prstGeom>
          <a:noFill/>
          <a:ln/>
        </p:spPr>
        <p:txBody>
          <a:bodyPr wrap="square" lIns="0" tIns="0" rIns="0" bIns="0" rtlCol="0" anchor="ctr"/>
          <a:lstStyle/>
          <a:p>
            <a:pPr algn="ctr" indent="0" marL="0">
              <a:buNone/>
            </a:pPr>
            <a:r>
              <a:rPr lang="en-US" sz="1000" dirty="0">
                <a:solidFill>
                  <a:schemeClr val="accent6"/>
                </a:solidFill>
              </a:rPr>
              <a:t>Mp1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oneM2M resource design and access control</a:t>
            </a:r>
            <a:endParaRPr lang="en-US" sz="3000" dirty="0"/>
          </a:p>
        </p:txBody>
      </p:sp>
      <p:sp>
        <p:nvSpPr>
          <p:cNvPr id="3" name="tree panel"/>
          <p:cNvSpPr/>
          <p:nvPr/>
        </p:nvSpPr>
        <p:spPr>
          <a:xfrm>
            <a:off x="548640" y="1280160"/>
            <a:ext cx="5852160" cy="4846320"/>
          </a:xfrm>
          <a:prstGeom prst="roundRect">
            <a:avLst>
              <a:gd name="adj" fmla="val 1509"/>
            </a:avLst>
          </a:prstGeom>
          <a:solidFill>
            <a:schemeClr val="tx2"/>
          </a:solidFill>
          <a:ln w="12700">
            <a:solidFill>
              <a:schemeClr val="tx2"/>
            </a:solidFill>
            <a:prstDash val="solid"/>
          </a:ln>
        </p:spPr>
      </p:sp>
      <p:sp>
        <p:nvSpPr>
          <p:cNvPr id="4" name="resource tree"/>
          <p:cNvSpPr txBox="1"/>
          <p:nvPr/>
        </p:nvSpPr>
        <p:spPr>
          <a:xfrm>
            <a:off x="777240" y="1463040"/>
            <a:ext cx="5486400" cy="448056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/cse-in (MN-CSE on the MEC host)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worker_01        AE, originator SWorker01</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location     CNT → CIN {x, y, ts}</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relay        CNT  (D2D relay)</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status       CNT  (device acks)</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acp_worker_01  ACP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forklift_01      AE, SForklift01</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motion · relay · status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acp_forklift_01  ACP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camera_01        AE ─ detect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EdgeGuard        AE (MEC app)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risk · alert · control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nearmiss (mni 2000) · mec_lease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acp_alert … ACP</a:t>
            </a:r>
            <a:endParaRPr lang="en-US" sz="1300" dirty="0"/>
          </a:p>
          <a:p>
            <a:pPr indent="0" marL="0">
              <a:buNone/>
            </a:pPr>
            <a:r>
              <a:rPr lang="en-US" sz="1300" dirty="0">
                <a:solidFill>
                  <a:schemeClr val="accent1"/>
                </a:solidFill>
                <a:latin typeface="Courier New" pitchFamily="34" charset="0"/>
                <a:ea typeface="Courier New" pitchFamily="34" charset="-122"/>
                <a:cs typeface="Courier New" pitchFamily="34" charset="-120"/>
              </a:rPr>
              <a:t>SUB on every device container → MEC app</a:t>
            </a:r>
            <a:endParaRPr lang="en-US" sz="1300" dirty="0"/>
          </a:p>
        </p:txBody>
      </p:sp>
      <p:graphicFrame>
        <p:nvGraphicFramePr>
          <p:cNvPr id="8" name="acp table"/>
          <p:cNvGraphicFramePr>
            <a:graphicFrameLocks noGrp="1"/>
          </p:cNvGraphicFramePr>
          <p:nvPr>
            <p:extLst>
              <p:ext uri="{D42A27DB-BD31-4B8C-83A1-F6EECF244321}">
                <p14:modId xmlns:p14="http://schemas.microsoft.com/office/powerpoint/2010/main" val="1579011935"/>
              </p:ext>
            </p:extLst>
          </p:nvPr>
        </p:nvGraphicFramePr>
        <p:xfrm>
          <a:off x="6675120" y="1280160"/>
          <a:ext cx="4965192" cy="914400"/>
        </p:xfrm>
        <a:graphic>
          <a:graphicData uri="http://schemas.openxmlformats.org/drawingml/2006/table">
            <a:tbl>
              <a:tblPr/>
              <a:tblGrid>
                <a:gridCol w="1463040"/>
                <a:gridCol w="1234440"/>
                <a:gridCol w="1097280"/>
                <a:gridCol w="1170432"/>
              </a:tblGrid>
              <a:tr h="0">
                <a:tc>
                  <a:txBody>
                    <a:bodyPr/>
                    <a:lstStyle/>
                    <a:p>
                      <a:pPr indent="0" marL="0">
                        <a:buNone/>
                      </a:pPr>
                      <a:r>
                        <a:rPr lang="en-US" sz="1200" b="1" dirty="0">
                          <a:solidFill>
                            <a:schemeClr val="bg1"/>
                          </a:solidFill>
                        </a:rPr>
                        <a:t>Who</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Own device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Other device AEs</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MEC app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Device (e.g. SWorker01)</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subscribe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 app (SEdgeGuard)</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subscribe, notify</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MEC-IPE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6" name="resource notes"/>
          <p:cNvSpPr txBox="1"/>
          <p:nvPr/>
        </p:nvSpPr>
        <p:spPr>
          <a:xfrm>
            <a:off x="6675120" y="3794760"/>
            <a:ext cx="4965192" cy="2331720"/>
          </a:xfrm>
          <a:prstGeom prst="rect">
            <a:avLst/>
          </a:prstGeom>
          <a:noFill/>
          <a:ln/>
        </p:spPr>
        <p:txBody>
          <a:bodyPr wrap="square" lIns="0" tIns="0" rIns="0" bIns="0" rtlCol="0" anchor="t"/>
          <a:lstStyle/>
          <a:p>
            <a:pPr indent="0" marL="0">
              <a:buNone/>
            </a:pPr>
            <a:r>
              <a:rPr lang="en-US" sz="1400" b="1" dirty="0">
                <a:solidFill>
                  <a:schemeClr val="tx2"/>
                </a:solidFill>
              </a:rPr>
              <a:t>Verified in CI on every commit </a:t>
            </a:r>
            <a:endParaRPr lang="en-US" sz="1400" dirty="0"/>
          </a:p>
          <a:p>
            <a:pPr indent="0" marL="0">
              <a:buNone/>
            </a:pPr>
            <a:r>
              <a:rPr lang="en-US" sz="1400" dirty="0">
                <a:solidFill>
                  <a:schemeClr val="tx1"/>
                </a:solidFill>
              </a:rPr>
              <a:t>Real Mobius: 8 of 8 checks pass, including a forged write from another device rejected with 403. The same tree runs on ACME.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accent2"/>
                </a:solidFill>
              </a:rPr>
              <a:t>Next (rubric gaps) </a:t>
            </a:r>
            <a:endParaRPr lang="en-US" sz="1400" dirty="0"/>
          </a:p>
          <a:p>
            <a:pPr indent="0" marL="0">
              <a:buNone/>
            </a:pPr>
            <a:r>
              <a:rPr lang="en-US" sz="1400" dirty="0">
                <a:solidFill>
                  <a:schemeClr val="tx1"/>
                </a:solidFill>
              </a:rPr>
              <a:t>FlexContainers with labels for device state, discovery-based onboarding, &lt;group&gt; fan-out of alerts, &lt;pollingChannel&gt; for sleeping tags, announcement of near misses to the IN-CSE.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ETSI MEC integration</a:t>
            </a:r>
            <a:endParaRPr lang="en-US" sz="3000" dirty="0"/>
          </a:p>
        </p:txBody>
      </p:sp>
      <p:sp>
        <p:nvSpPr>
          <p:cNvPr id="3" name="mec row 0"/>
          <p:cNvSpPr/>
          <p:nvPr/>
        </p:nvSpPr>
        <p:spPr>
          <a:xfrm>
            <a:off x="548640" y="1280160"/>
            <a:ext cx="11064240" cy="1463040"/>
          </a:xfrm>
          <a:prstGeom prst="roundRect">
            <a:avLst>
              <a:gd name="adj" fmla="val 5000"/>
            </a:avLst>
          </a:prstGeom>
          <a:solidFill>
            <a:schemeClr val="bg2"/>
          </a:solidFill>
          <a:ln w="12700">
            <a:solidFill>
              <a:schemeClr val="bg2"/>
            </a:solidFill>
            <a:prstDash val="solid"/>
          </a:ln>
        </p:spPr>
      </p:sp>
      <p:sp>
        <p:nvSpPr>
          <p:cNvPr id="4" name="mec head 0"/>
          <p:cNvSpPr txBox="1"/>
          <p:nvPr/>
        </p:nvSpPr>
        <p:spPr>
          <a:xfrm>
            <a:off x="822960" y="146304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services through oneM2M</a:t>
            </a:r>
            <a:endParaRPr lang="en-US" sz="1800" dirty="0"/>
          </a:p>
        </p:txBody>
      </p:sp>
      <p:sp>
        <p:nvSpPr>
          <p:cNvPr id="5" name="mec body 0"/>
          <p:cNvSpPr txBox="1"/>
          <p:nvPr/>
        </p:nvSpPr>
        <p:spPr>
          <a:xfrm>
            <a:off x="3657600" y="1463040"/>
            <a:ext cx="4297680" cy="1097280"/>
          </a:xfrm>
          <a:prstGeom prst="rect">
            <a:avLst/>
          </a:prstGeom>
          <a:noFill/>
          <a:ln/>
        </p:spPr>
        <p:txBody>
          <a:bodyPr wrap="square" lIns="0" tIns="0" rIns="0" bIns="0" rtlCol="0" anchor="t"/>
          <a:lstStyle/>
          <a:p>
            <a:pPr indent="0" marL="0">
              <a:buNone/>
            </a:pPr>
            <a:r>
              <a:rPr lang="en-US" sz="1400" dirty="0">
                <a:solidFill>
                  <a:schemeClr val="tx1"/>
                </a:solidFill>
              </a:rPr>
              <a:t>The MEC-IPE polls MEC 013 Location and MEC 012 RNIS and writes them as oneM2M resources (location/&lt;ue&gt;, rnis/&lt;cell&gt;), so the MEC app reads MEC data like any other device data.</a:t>
            </a:r>
            <a:endParaRPr lang="en-US" sz="1400" dirty="0"/>
          </a:p>
        </p:txBody>
      </p:sp>
      <p:sp>
        <p:nvSpPr>
          <p:cNvPr id="6" name="mec evidence 0"/>
          <p:cNvSpPr txBox="1"/>
          <p:nvPr/>
        </p:nvSpPr>
        <p:spPr>
          <a:xfrm>
            <a:off x="8138160" y="146304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Location: positions for people without a UWB fix</a:t>
            </a:r>
            <a:endParaRPr lang="en-US" sz="1400" dirty="0"/>
          </a:p>
          <a:p>
            <a:pPr indent="0" marL="0">
              <a:buNone/>
            </a:pPr>
            <a:r>
              <a:rPr lang="en-US" sz="1400" dirty="0">
                <a:solidFill>
                  <a:schemeClr val="accent2"/>
                </a:solidFill>
              </a:rPr>
              <a:t>RNIS: cell load → adaptive reporting rate, alert priority</a:t>
            </a:r>
            <a:endParaRPr lang="en-US" sz="1400" dirty="0"/>
          </a:p>
        </p:txBody>
      </p:sp>
      <p:sp>
        <p:nvSpPr>
          <p:cNvPr id="7" name="mec row 1"/>
          <p:cNvSpPr/>
          <p:nvPr/>
        </p:nvSpPr>
        <p:spPr>
          <a:xfrm>
            <a:off x="548640" y="2926080"/>
            <a:ext cx="11064240" cy="1463040"/>
          </a:xfrm>
          <a:prstGeom prst="roundRect">
            <a:avLst>
              <a:gd name="adj" fmla="val 5000"/>
            </a:avLst>
          </a:prstGeom>
          <a:solidFill>
            <a:schemeClr val="bg2"/>
          </a:solidFill>
          <a:ln w="12700">
            <a:solidFill>
              <a:schemeClr val="bg2"/>
            </a:solidFill>
            <a:prstDash val="solid"/>
          </a:ln>
        </p:spPr>
      </p:sp>
      <p:sp>
        <p:nvSpPr>
          <p:cNvPr id="8" name="mec head 1"/>
          <p:cNvSpPr txBox="1"/>
          <p:nvPr/>
        </p:nvSpPr>
        <p:spPr>
          <a:xfrm>
            <a:off x="822960" y="310896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application deployment</a:t>
            </a:r>
            <a:endParaRPr lang="en-US" sz="1800" dirty="0"/>
          </a:p>
        </p:txBody>
      </p:sp>
      <p:sp>
        <p:nvSpPr>
          <p:cNvPr id="9" name="mec body 1"/>
          <p:cNvSpPr txBox="1"/>
          <p:nvPr/>
        </p:nvSpPr>
        <p:spPr>
          <a:xfrm>
            <a:off x="3657600" y="3108960"/>
            <a:ext cx="4297680" cy="1097280"/>
          </a:xfrm>
          <a:prstGeom prst="rect">
            <a:avLst/>
          </a:prstGeom>
          <a:noFill/>
          <a:ln/>
        </p:spPr>
        <p:txBody>
          <a:bodyPr wrap="square" lIns="0" tIns="0" rIns="0" bIns="0" rtlCol="0" anchor="t"/>
          <a:lstStyle/>
          <a:p>
            <a:pPr indent="0" marL="0">
              <a:buNone/>
            </a:pPr>
            <a:r>
              <a:rPr lang="en-US" sz="1400" dirty="0">
                <a:solidFill>
                  <a:schemeClr val="tx1"/>
                </a:solidFill>
              </a:rPr>
              <a:t>The EdgeGuard MEC app runs as a Docker container on the MEC host, next to the edge CSE; an active-standby pair shares a lease container in oneM2M.</a:t>
            </a:r>
            <a:endParaRPr lang="en-US" sz="1400" dirty="0"/>
          </a:p>
        </p:txBody>
      </p:sp>
      <p:sp>
        <p:nvSpPr>
          <p:cNvPr id="10" name="mec evidence 1"/>
          <p:cNvSpPr txBox="1"/>
          <p:nvPr/>
        </p:nvSpPr>
        <p:spPr>
          <a:xfrm>
            <a:off x="8138160" y="310896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Self-hosted AdvantEDGE with a custom warehouse scenario: 70 alerts in 2 minutes</a:t>
            </a:r>
            <a:endParaRPr lang="en-US" sz="1400" dirty="0"/>
          </a:p>
        </p:txBody>
      </p:sp>
      <p:sp>
        <p:nvSpPr>
          <p:cNvPr id="11" name="mec row 2"/>
          <p:cNvSpPr/>
          <p:nvPr/>
        </p:nvSpPr>
        <p:spPr>
          <a:xfrm>
            <a:off x="548640" y="4572000"/>
            <a:ext cx="11064240" cy="1463040"/>
          </a:xfrm>
          <a:prstGeom prst="roundRect">
            <a:avLst>
              <a:gd name="adj" fmla="val 5000"/>
            </a:avLst>
          </a:prstGeom>
          <a:solidFill>
            <a:schemeClr val="bg2"/>
          </a:solidFill>
          <a:ln w="12700">
            <a:solidFill>
              <a:schemeClr val="bg2"/>
            </a:solidFill>
            <a:prstDash val="solid"/>
          </a:ln>
        </p:spPr>
      </p:sp>
      <p:sp>
        <p:nvSpPr>
          <p:cNvPr id="12" name="mec head 2"/>
          <p:cNvSpPr txBox="1"/>
          <p:nvPr/>
        </p:nvSpPr>
        <p:spPr>
          <a:xfrm>
            <a:off x="822960" y="475488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Live ETSI MEC Sandbox</a:t>
            </a:r>
            <a:endParaRPr lang="en-US" sz="1800" dirty="0"/>
          </a:p>
        </p:txBody>
      </p:sp>
      <p:sp>
        <p:nvSpPr>
          <p:cNvPr id="13" name="mec body 2"/>
          <p:cNvSpPr txBox="1"/>
          <p:nvPr/>
        </p:nvSpPr>
        <p:spPr>
          <a:xfrm>
            <a:off x="3657600" y="4754880"/>
            <a:ext cx="4297680" cy="1097280"/>
          </a:xfrm>
          <a:prstGeom prst="rect">
            <a:avLst/>
          </a:prstGeom>
          <a:noFill/>
          <a:ln/>
        </p:spPr>
        <p:txBody>
          <a:bodyPr wrap="square" lIns="0" tIns="0" rIns="0" bIns="0" rtlCol="0" anchor="t"/>
          <a:lstStyle/>
          <a:p>
            <a:pPr indent="0" marL="0">
              <a:buNone/>
            </a:pPr>
            <a:r>
              <a:rPr lang="en-US" sz="1400" dirty="0">
                <a:solidFill>
                  <a:schemeClr val="tx1"/>
                </a:solidFill>
              </a:rPr>
              <a:t>Connected to the public Sandbox (try-mec.etsi.org): Location and RNIS queries feed the same pipeline as the local mock.</a:t>
            </a:r>
            <a:endParaRPr lang="en-US" sz="1400" dirty="0"/>
          </a:p>
        </p:txBody>
      </p:sp>
      <p:sp>
        <p:nvSpPr>
          <p:cNvPr id="14" name="mec evidence 2"/>
          <p:cNvSpPr txBox="1"/>
          <p:nvPr/>
        </p:nvSpPr>
        <p:spPr>
          <a:xfrm>
            <a:off x="8138160" y="475488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Planned: Location zone subscriptions → geofencing events into oneM2M (bidirectional)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End-to-end flow: from a position to a cue</a:t>
            </a:r>
            <a:endParaRPr lang="en-US" sz="3000" dirty="0"/>
          </a:p>
        </p:txBody>
      </p:sp>
      <p:sp>
        <p:nvSpPr>
          <p:cNvPr id="3" name="step dot 1"/>
          <p:cNvSpPr/>
          <p:nvPr/>
        </p:nvSpPr>
        <p:spPr>
          <a:xfrm>
            <a:off x="1143000" y="1417320"/>
            <a:ext cx="548640" cy="548640"/>
          </a:xfrm>
          <a:prstGeom prst="ellipse">
            <a:avLst/>
          </a:prstGeom>
          <a:solidFill>
            <a:schemeClr val="tx2"/>
          </a:solidFill>
          <a:ln w="12700">
            <a:solidFill>
              <a:schemeClr val="tx2"/>
            </a:solidFill>
            <a:prstDash val="solid"/>
          </a:ln>
        </p:spPr>
      </p:sp>
      <p:sp>
        <p:nvSpPr>
          <p:cNvPr id="4" name="step num 1"/>
          <p:cNvSpPr txBox="1"/>
          <p:nvPr/>
        </p:nvSpPr>
        <p:spPr>
          <a:xfrm>
            <a:off x="11430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link 1"/>
          <p:cNvSpPr/>
          <p:nvPr/>
        </p:nvSpPr>
        <p:spPr>
          <a:xfrm>
            <a:off x="1783080" y="1691640"/>
            <a:ext cx="1600200" cy="0"/>
          </a:xfrm>
          <a:prstGeom prst="line">
            <a:avLst/>
          </a:prstGeom>
          <a:noFill/>
          <a:ln w="19050">
            <a:solidFill>
              <a:srgbClr val="C9D0D8"/>
            </a:solidFill>
            <a:prstDash val="solid"/>
          </a:ln>
        </p:spPr>
      </p:sp>
      <p:sp>
        <p:nvSpPr>
          <p:cNvPr id="6" name="step head 1"/>
          <p:cNvSpPr txBox="1"/>
          <p:nvPr/>
        </p:nvSpPr>
        <p:spPr>
          <a:xfrm>
            <a:off x="5486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Sense</a:t>
            </a:r>
            <a:endParaRPr lang="en-US" sz="1600" dirty="0"/>
          </a:p>
        </p:txBody>
      </p:sp>
      <p:sp>
        <p:nvSpPr>
          <p:cNvPr id="7" name="step body 1"/>
          <p:cNvSpPr txBox="1"/>
          <p:nvPr/>
        </p:nvSpPr>
        <p:spPr>
          <a:xfrm>
            <a:off x="5486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Tag / module creates a CIN in its own AE</a:t>
            </a:r>
            <a:endParaRPr lang="en-US" sz="1300" dirty="0"/>
          </a:p>
        </p:txBody>
      </p:sp>
      <p:sp>
        <p:nvSpPr>
          <p:cNvPr id="8" name="step dot 2"/>
          <p:cNvSpPr/>
          <p:nvPr/>
        </p:nvSpPr>
        <p:spPr>
          <a:xfrm>
            <a:off x="3017520" y="1417320"/>
            <a:ext cx="548640" cy="548640"/>
          </a:xfrm>
          <a:prstGeom prst="ellipse">
            <a:avLst/>
          </a:prstGeom>
          <a:solidFill>
            <a:schemeClr val="tx2"/>
          </a:solidFill>
          <a:ln w="12700">
            <a:solidFill>
              <a:schemeClr val="tx2"/>
            </a:solidFill>
            <a:prstDash val="solid"/>
          </a:ln>
        </p:spPr>
      </p:sp>
      <p:sp>
        <p:nvSpPr>
          <p:cNvPr id="9" name="step num 2"/>
          <p:cNvSpPr txBox="1"/>
          <p:nvPr/>
        </p:nvSpPr>
        <p:spPr>
          <a:xfrm>
            <a:off x="301752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tep link 2"/>
          <p:cNvSpPr/>
          <p:nvPr/>
        </p:nvSpPr>
        <p:spPr>
          <a:xfrm>
            <a:off x="3657600" y="1691640"/>
            <a:ext cx="1600200" cy="0"/>
          </a:xfrm>
          <a:prstGeom prst="line">
            <a:avLst/>
          </a:prstGeom>
          <a:noFill/>
          <a:ln w="19050">
            <a:solidFill>
              <a:srgbClr val="C9D0D8"/>
            </a:solidFill>
            <a:prstDash val="solid"/>
          </a:ln>
        </p:spPr>
      </p:sp>
      <p:sp>
        <p:nvSpPr>
          <p:cNvPr id="11" name="step head 2"/>
          <p:cNvSpPr txBox="1"/>
          <p:nvPr/>
        </p:nvSpPr>
        <p:spPr>
          <a:xfrm>
            <a:off x="242316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Notify</a:t>
            </a:r>
            <a:endParaRPr lang="en-US" sz="1600" dirty="0"/>
          </a:p>
        </p:txBody>
      </p:sp>
      <p:sp>
        <p:nvSpPr>
          <p:cNvPr id="12" name="step body 2"/>
          <p:cNvSpPr txBox="1"/>
          <p:nvPr/>
        </p:nvSpPr>
        <p:spPr>
          <a:xfrm>
            <a:off x="242316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MN-CSE notifies the MEC app (subscription)</a:t>
            </a:r>
            <a:endParaRPr lang="en-US" sz="1300" dirty="0"/>
          </a:p>
        </p:txBody>
      </p:sp>
      <p:sp>
        <p:nvSpPr>
          <p:cNvPr id="13" name="step dot 3"/>
          <p:cNvSpPr/>
          <p:nvPr/>
        </p:nvSpPr>
        <p:spPr>
          <a:xfrm>
            <a:off x="4892040" y="1417320"/>
            <a:ext cx="548640" cy="548640"/>
          </a:xfrm>
          <a:prstGeom prst="ellipse">
            <a:avLst/>
          </a:prstGeom>
          <a:solidFill>
            <a:schemeClr val="tx2"/>
          </a:solidFill>
          <a:ln w="12700">
            <a:solidFill>
              <a:schemeClr val="tx2"/>
            </a:solidFill>
            <a:prstDash val="solid"/>
          </a:ln>
        </p:spPr>
      </p:sp>
      <p:sp>
        <p:nvSpPr>
          <p:cNvPr id="14" name="step num 3"/>
          <p:cNvSpPr txBox="1"/>
          <p:nvPr/>
        </p:nvSpPr>
        <p:spPr>
          <a:xfrm>
            <a:off x="489204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tep link 3"/>
          <p:cNvSpPr/>
          <p:nvPr/>
        </p:nvSpPr>
        <p:spPr>
          <a:xfrm>
            <a:off x="5532120" y="1691640"/>
            <a:ext cx="1600200" cy="0"/>
          </a:xfrm>
          <a:prstGeom prst="line">
            <a:avLst/>
          </a:prstGeom>
          <a:noFill/>
          <a:ln w="19050">
            <a:solidFill>
              <a:srgbClr val="C9D0D8"/>
            </a:solidFill>
            <a:prstDash val="solid"/>
          </a:ln>
        </p:spPr>
      </p:sp>
      <p:sp>
        <p:nvSpPr>
          <p:cNvPr id="16" name="step head 3"/>
          <p:cNvSpPr txBox="1"/>
          <p:nvPr/>
        </p:nvSpPr>
        <p:spPr>
          <a:xfrm>
            <a:off x="429768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Predict</a:t>
            </a:r>
            <a:endParaRPr lang="en-US" sz="1600" dirty="0"/>
          </a:p>
        </p:txBody>
      </p:sp>
      <p:sp>
        <p:nvSpPr>
          <p:cNvPr id="17" name="step body 3"/>
          <p:cNvSpPr txBox="1"/>
          <p:nvPr/>
        </p:nvSpPr>
        <p:spPr>
          <a:xfrm>
            <a:off x="429768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Kalman tracking, forklift turn model or shared route</a:t>
            </a:r>
            <a:endParaRPr lang="en-US" sz="1300" dirty="0"/>
          </a:p>
        </p:txBody>
      </p:sp>
      <p:sp>
        <p:nvSpPr>
          <p:cNvPr id="18" name="step dot 4"/>
          <p:cNvSpPr/>
          <p:nvPr/>
        </p:nvSpPr>
        <p:spPr>
          <a:xfrm>
            <a:off x="6766560" y="1417320"/>
            <a:ext cx="548640" cy="548640"/>
          </a:xfrm>
          <a:prstGeom prst="ellipse">
            <a:avLst/>
          </a:prstGeom>
          <a:solidFill>
            <a:schemeClr val="tx2"/>
          </a:solidFill>
          <a:ln w="12700">
            <a:solidFill>
              <a:schemeClr val="tx2"/>
            </a:solidFill>
            <a:prstDash val="solid"/>
          </a:ln>
        </p:spPr>
      </p:sp>
      <p:sp>
        <p:nvSpPr>
          <p:cNvPr id="19" name="step num 4"/>
          <p:cNvSpPr txBox="1"/>
          <p:nvPr/>
        </p:nvSpPr>
        <p:spPr>
          <a:xfrm>
            <a:off x="676656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step link 4"/>
          <p:cNvSpPr/>
          <p:nvPr/>
        </p:nvSpPr>
        <p:spPr>
          <a:xfrm>
            <a:off x="7406640" y="1691640"/>
            <a:ext cx="1600200" cy="0"/>
          </a:xfrm>
          <a:prstGeom prst="line">
            <a:avLst/>
          </a:prstGeom>
          <a:noFill/>
          <a:ln w="19050">
            <a:solidFill>
              <a:srgbClr val="C9D0D8"/>
            </a:solidFill>
            <a:prstDash val="solid"/>
          </a:ln>
        </p:spPr>
      </p:sp>
      <p:sp>
        <p:nvSpPr>
          <p:cNvPr id="21" name="step head 4"/>
          <p:cNvSpPr txBox="1"/>
          <p:nvPr/>
        </p:nvSpPr>
        <p:spPr>
          <a:xfrm>
            <a:off x="617220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Decide</a:t>
            </a:r>
            <a:endParaRPr lang="en-US" sz="1600" dirty="0"/>
          </a:p>
        </p:txBody>
      </p:sp>
      <p:sp>
        <p:nvSpPr>
          <p:cNvPr id="22" name="step body 4"/>
          <p:cNvSpPr txBox="1"/>
          <p:nvPr/>
        </p:nvSpPr>
        <p:spPr>
          <a:xfrm>
            <a:off x="617220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Collision course: LOS rate + closest approach</a:t>
            </a:r>
            <a:endParaRPr lang="en-US" sz="1300" dirty="0"/>
          </a:p>
        </p:txBody>
      </p:sp>
      <p:sp>
        <p:nvSpPr>
          <p:cNvPr id="23" name="step dot 5"/>
          <p:cNvSpPr/>
          <p:nvPr/>
        </p:nvSpPr>
        <p:spPr>
          <a:xfrm>
            <a:off x="8641080" y="1417320"/>
            <a:ext cx="548640" cy="548640"/>
          </a:xfrm>
          <a:prstGeom prst="ellipse">
            <a:avLst/>
          </a:prstGeom>
          <a:solidFill>
            <a:schemeClr val="accent1"/>
          </a:solidFill>
          <a:ln w="12700">
            <a:solidFill>
              <a:schemeClr val="accent1"/>
            </a:solidFill>
            <a:prstDash val="solid"/>
          </a:ln>
        </p:spPr>
      </p:sp>
      <p:sp>
        <p:nvSpPr>
          <p:cNvPr id="24" name="step num 5"/>
          <p:cNvSpPr txBox="1"/>
          <p:nvPr/>
        </p:nvSpPr>
        <p:spPr>
          <a:xfrm>
            <a:off x="8641080" y="14173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25" name="step link 5"/>
          <p:cNvSpPr/>
          <p:nvPr/>
        </p:nvSpPr>
        <p:spPr>
          <a:xfrm>
            <a:off x="9281160" y="1691640"/>
            <a:ext cx="1600200" cy="0"/>
          </a:xfrm>
          <a:prstGeom prst="line">
            <a:avLst/>
          </a:prstGeom>
          <a:noFill/>
          <a:ln w="19050">
            <a:solidFill>
              <a:srgbClr val="C9D0D8"/>
            </a:solidFill>
            <a:prstDash val="solid"/>
          </a:ln>
        </p:spPr>
      </p:sp>
      <p:sp>
        <p:nvSpPr>
          <p:cNvPr id="26" name="step head 5"/>
          <p:cNvSpPr txBox="1"/>
          <p:nvPr/>
        </p:nvSpPr>
        <p:spPr>
          <a:xfrm>
            <a:off x="804672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Cue</a:t>
            </a:r>
            <a:endParaRPr lang="en-US" sz="1600" dirty="0"/>
          </a:p>
        </p:txBody>
      </p:sp>
      <p:sp>
        <p:nvSpPr>
          <p:cNvPr id="27" name="step body 5"/>
          <p:cNvSpPr txBox="1"/>
          <p:nvPr/>
        </p:nvSpPr>
        <p:spPr>
          <a:xfrm>
            <a:off x="804672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Alert CIN → tag WAIT / STEP ASIDE / GO, forklift limit</a:t>
            </a:r>
            <a:endParaRPr lang="en-US" sz="1300" dirty="0"/>
          </a:p>
        </p:txBody>
      </p:sp>
      <p:sp>
        <p:nvSpPr>
          <p:cNvPr id="28" name="step dot 6"/>
          <p:cNvSpPr/>
          <p:nvPr/>
        </p:nvSpPr>
        <p:spPr>
          <a:xfrm>
            <a:off x="10515600" y="1417320"/>
            <a:ext cx="548640" cy="548640"/>
          </a:xfrm>
          <a:prstGeom prst="ellipse">
            <a:avLst/>
          </a:prstGeom>
          <a:solidFill>
            <a:schemeClr val="tx2"/>
          </a:solidFill>
          <a:ln w="12700">
            <a:solidFill>
              <a:schemeClr val="tx2"/>
            </a:solidFill>
            <a:prstDash val="solid"/>
          </a:ln>
        </p:spPr>
      </p:sp>
      <p:sp>
        <p:nvSpPr>
          <p:cNvPr id="29" name="step num 6"/>
          <p:cNvSpPr txBox="1"/>
          <p:nvPr/>
        </p:nvSpPr>
        <p:spPr>
          <a:xfrm>
            <a:off x="105156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0" name="step head 6"/>
          <p:cNvSpPr txBox="1"/>
          <p:nvPr/>
        </p:nvSpPr>
        <p:spPr>
          <a:xfrm>
            <a:off x="99212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Confirm</a:t>
            </a:r>
            <a:endParaRPr lang="en-US" sz="1600" dirty="0"/>
          </a:p>
        </p:txBody>
      </p:sp>
      <p:sp>
        <p:nvSpPr>
          <p:cNvPr id="31" name="step body 6"/>
          <p:cNvSpPr txBox="1"/>
          <p:nvPr/>
        </p:nvSpPr>
        <p:spPr>
          <a:xfrm>
            <a:off x="99212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Device writes what it did into its status CNT</a:t>
            </a:r>
            <a:endParaRPr lang="en-US" sz="1300" dirty="0"/>
          </a:p>
        </p:txBody>
      </p:sp>
      <p:sp>
        <p:nvSpPr>
          <p:cNvPr id="32" name="kpi 0"/>
          <p:cNvSpPr/>
          <p:nvPr/>
        </p:nvSpPr>
        <p:spPr>
          <a:xfrm>
            <a:off x="548640" y="3931920"/>
            <a:ext cx="3566160" cy="1371600"/>
          </a:xfrm>
          <a:prstGeom prst="roundRect">
            <a:avLst>
              <a:gd name="adj" fmla="val 5333"/>
            </a:avLst>
          </a:prstGeom>
          <a:solidFill>
            <a:schemeClr val="bg2"/>
          </a:solidFill>
          <a:ln w="12700">
            <a:solidFill>
              <a:schemeClr val="bg2"/>
            </a:solidFill>
            <a:prstDash val="solid"/>
          </a:ln>
        </p:spPr>
      </p:sp>
      <p:sp>
        <p:nvSpPr>
          <p:cNvPr id="33" name="kpi number 0"/>
          <p:cNvSpPr txBox="1"/>
          <p:nvPr/>
        </p:nvSpPr>
        <p:spPr>
          <a:xfrm>
            <a:off x="82296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25 ms</a:t>
            </a:r>
            <a:endParaRPr lang="en-US" sz="3000" dirty="0"/>
          </a:p>
        </p:txBody>
      </p:sp>
      <p:sp>
        <p:nvSpPr>
          <p:cNvPr id="34" name="kpi label 0"/>
          <p:cNvSpPr txBox="1"/>
          <p:nvPr/>
        </p:nvSpPr>
        <p:spPr>
          <a:xfrm>
            <a:off x="82296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alert latency on the edge (cloud only: 85 ms)</a:t>
            </a:r>
            <a:endParaRPr lang="en-US" sz="1300" dirty="0"/>
          </a:p>
        </p:txBody>
      </p:sp>
      <p:sp>
        <p:nvSpPr>
          <p:cNvPr id="35" name="kpi 1"/>
          <p:cNvSpPr/>
          <p:nvPr/>
        </p:nvSpPr>
        <p:spPr>
          <a:xfrm>
            <a:off x="4297680" y="3931920"/>
            <a:ext cx="3566160" cy="1371600"/>
          </a:xfrm>
          <a:prstGeom prst="roundRect">
            <a:avLst>
              <a:gd name="adj" fmla="val 5333"/>
            </a:avLst>
          </a:prstGeom>
          <a:solidFill>
            <a:schemeClr val="bg2"/>
          </a:solidFill>
          <a:ln w="12700">
            <a:solidFill>
              <a:schemeClr val="bg2"/>
            </a:solidFill>
            <a:prstDash val="solid"/>
          </a:ln>
        </p:spPr>
      </p:sp>
      <p:sp>
        <p:nvSpPr>
          <p:cNvPr id="36" name="kpi number 1"/>
          <p:cNvSpPr txBox="1"/>
          <p:nvPr/>
        </p:nvSpPr>
        <p:spPr>
          <a:xfrm>
            <a:off x="457200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2.4 s</a:t>
            </a:r>
            <a:endParaRPr lang="en-US" sz="3000" dirty="0"/>
          </a:p>
        </p:txBody>
      </p:sp>
      <p:sp>
        <p:nvSpPr>
          <p:cNvPr id="37" name="kpi label 1"/>
          <p:cNvSpPr txBox="1"/>
          <p:nvPr/>
        </p:nvSpPr>
        <p:spPr>
          <a:xfrm>
            <a:off x="457200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warning lead time; 100 % detected ≥ 1 s before contact</a:t>
            </a:r>
            <a:endParaRPr lang="en-US" sz="1300" dirty="0"/>
          </a:p>
        </p:txBody>
      </p:sp>
      <p:sp>
        <p:nvSpPr>
          <p:cNvPr id="38" name="kpi 2"/>
          <p:cNvSpPr/>
          <p:nvPr/>
        </p:nvSpPr>
        <p:spPr>
          <a:xfrm>
            <a:off x="8046720" y="3931920"/>
            <a:ext cx="3566160" cy="1371600"/>
          </a:xfrm>
          <a:prstGeom prst="roundRect">
            <a:avLst>
              <a:gd name="adj" fmla="val 5333"/>
            </a:avLst>
          </a:prstGeom>
          <a:solidFill>
            <a:schemeClr val="bg2"/>
          </a:solidFill>
          <a:ln w="12700">
            <a:solidFill>
              <a:schemeClr val="bg2"/>
            </a:solidFill>
            <a:prstDash val="solid"/>
          </a:ln>
        </p:spPr>
      </p:sp>
      <p:sp>
        <p:nvSpPr>
          <p:cNvPr id="39" name="kpi number 2"/>
          <p:cNvSpPr txBox="1"/>
          <p:nvPr/>
        </p:nvSpPr>
        <p:spPr>
          <a:xfrm>
            <a:off x="832104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0.73 s</a:t>
            </a:r>
            <a:endParaRPr lang="en-US" sz="3000" dirty="0"/>
          </a:p>
        </p:txBody>
      </p:sp>
      <p:sp>
        <p:nvSpPr>
          <p:cNvPr id="40" name="kpi label 2"/>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standby MEC app takeover</a:t>
            </a:r>
            <a:endParaRPr lang="en-US" sz="1300" dirty="0"/>
          </a:p>
        </p:txBody>
      </p:sp>
      <p:sp>
        <p:nvSpPr>
          <p:cNvPr id="41" name="failure path"/>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b="1" dirty="0">
                <a:solidFill>
                  <a:schemeClr val="accent3"/>
                </a:solidFill>
              </a:rPr>
              <a:t>Failure path: </a:t>
            </a:r>
            <a:pPr indent="0" marL="0">
              <a:buNone/>
            </a:pPr>
            <a:r>
              <a:rPr lang="en-US" sz="1400" dirty="0">
                <a:solidFill>
                  <a:schemeClr val="tx1"/>
                </a:solidFill>
              </a:rPr>
              <a:t>no heartbeat from the MEC app for 2 s → devices switch to UWB ranging and D2D state exchange; neighbours relay alerts to devices in coverage holes; stop only when nothing else is known.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Status today: working end to end</a:t>
            </a:r>
            <a:endParaRPr lang="en-US" sz="3000" dirty="0"/>
          </a:p>
        </p:txBody>
      </p:sp>
      <p:pic>
        <p:nvPicPr>
          <p:cNvPr id="3" name="done icon 0" descr="preencoded.png">    </p:cNvPr>
          <p:cNvPicPr>
            <a:picLocks noChangeAspect="1"/>
          </p:cNvPicPr>
          <p:nvPr/>
        </p:nvPicPr>
        <p:blipFill>
          <a:blip r:embed="rId1"/>
          <a:stretch>
            <a:fillRect/>
          </a:stretch>
        </p:blipFill>
        <p:spPr>
          <a:xfrm>
            <a:off x="548640" y="1399032"/>
            <a:ext cx="329184" cy="329184"/>
          </a:xfrm>
          <a:prstGeom prst="rect">
            <a:avLst/>
          </a:prstGeom>
        </p:spPr>
      </p:pic>
      <p:sp>
        <p:nvSpPr>
          <p:cNvPr id="4" name="done item 0"/>
          <p:cNvSpPr txBox="1"/>
          <p:nvPr/>
        </p:nvSpPr>
        <p:spPr>
          <a:xfrm>
            <a:off x="1005840" y="1325880"/>
            <a:ext cx="5120640" cy="594360"/>
          </a:xfrm>
          <a:prstGeom prst="rect">
            <a:avLst/>
          </a:prstGeom>
          <a:noFill/>
          <a:ln/>
        </p:spPr>
        <p:txBody>
          <a:bodyPr wrap="square" lIns="0" tIns="0" rIns="0" bIns="0" rtlCol="0" anchor="ctr"/>
          <a:lstStyle/>
          <a:p>
            <a:pPr indent="0" marL="0">
              <a:buNone/>
            </a:pPr>
            <a:r>
              <a:rPr lang="en-US" sz="1400" dirty="0">
                <a:solidFill>
                  <a:schemeClr val="tx1"/>
                </a:solidFill>
              </a:rPr>
              <a:t>Per-device AEs and ACPs on Mobius 3.0.1 and ACME; access checks in CI (8/8)</a:t>
            </a:r>
            <a:endParaRPr lang="en-US" sz="1400" dirty="0"/>
          </a:p>
        </p:txBody>
      </p:sp>
      <p:pic>
        <p:nvPicPr>
          <p:cNvPr id="5" name="done icon 1" descr="preencoded.png">    </p:cNvPr>
          <p:cNvPicPr>
            <a:picLocks noChangeAspect="1"/>
          </p:cNvPicPr>
          <p:nvPr/>
        </p:nvPicPr>
        <p:blipFill>
          <a:blip r:embed="rId2"/>
          <a:stretch>
            <a:fillRect/>
          </a:stretch>
        </p:blipFill>
        <p:spPr>
          <a:xfrm>
            <a:off x="548640" y="2148840"/>
            <a:ext cx="329184" cy="329184"/>
          </a:xfrm>
          <a:prstGeom prst="rect">
            <a:avLst/>
          </a:prstGeom>
        </p:spPr>
      </p:pic>
      <p:sp>
        <p:nvSpPr>
          <p:cNvPr id="6" name="done item 1"/>
          <p:cNvSpPr txBox="1"/>
          <p:nvPr/>
        </p:nvSpPr>
        <p:spPr>
          <a:xfrm>
            <a:off x="1005840" y="2075688"/>
            <a:ext cx="5120640" cy="594360"/>
          </a:xfrm>
          <a:prstGeom prst="rect">
            <a:avLst/>
          </a:prstGeom>
          <a:noFill/>
          <a:ln/>
        </p:spPr>
        <p:txBody>
          <a:bodyPr wrap="square" lIns="0" tIns="0" rIns="0" bIns="0" rtlCol="0" anchor="ctr"/>
          <a:lstStyle/>
          <a:p>
            <a:pPr indent="0" marL="0">
              <a:buNone/>
            </a:pPr>
            <a:r>
              <a:rPr lang="en-US" sz="1400" dirty="0">
                <a:solidFill>
                  <a:schemeClr val="tx1"/>
                </a:solidFill>
              </a:rPr>
              <a:t>MN-CSE ↔ IN-CSE registration (Mcc); 7 interoperability issues documented</a:t>
            </a:r>
            <a:endParaRPr lang="en-US" sz="1400" dirty="0"/>
          </a:p>
        </p:txBody>
      </p:sp>
      <p:pic>
        <p:nvPicPr>
          <p:cNvPr id="7" name="done icon 2" descr="preencoded.png">    </p:cNvPr>
          <p:cNvPicPr>
            <a:picLocks noChangeAspect="1"/>
          </p:cNvPicPr>
          <p:nvPr/>
        </p:nvPicPr>
        <p:blipFill>
          <a:blip r:embed="rId3"/>
          <a:stretch>
            <a:fillRect/>
          </a:stretch>
        </p:blipFill>
        <p:spPr>
          <a:xfrm>
            <a:off x="548640" y="2898648"/>
            <a:ext cx="329184" cy="329184"/>
          </a:xfrm>
          <a:prstGeom prst="rect">
            <a:avLst/>
          </a:prstGeom>
        </p:spPr>
      </p:pic>
      <p:sp>
        <p:nvSpPr>
          <p:cNvPr id="8" name="done item 2"/>
          <p:cNvSpPr txBox="1"/>
          <p:nvPr/>
        </p:nvSpPr>
        <p:spPr>
          <a:xfrm>
            <a:off x="1005840" y="2825496"/>
            <a:ext cx="5120640" cy="594360"/>
          </a:xfrm>
          <a:prstGeom prst="rect">
            <a:avLst/>
          </a:prstGeom>
          <a:noFill/>
          <a:ln/>
        </p:spPr>
        <p:txBody>
          <a:bodyPr wrap="square" lIns="0" tIns="0" rIns="0" bIns="0" rtlCol="0" anchor="ctr"/>
          <a:lstStyle/>
          <a:p>
            <a:pPr indent="0" marL="0">
              <a:buNone/>
            </a:pPr>
            <a:r>
              <a:rPr lang="en-US" sz="1400" dirty="0">
                <a:solidFill>
                  <a:schemeClr val="tx1"/>
                </a:solidFill>
              </a:rPr>
              <a:t>MEC app with HA, monitoring, near-miss analysis, dashboard, phone tag</a:t>
            </a:r>
            <a:endParaRPr lang="en-US" sz="1400" dirty="0"/>
          </a:p>
        </p:txBody>
      </p:sp>
      <p:pic>
        <p:nvPicPr>
          <p:cNvPr id="9" name="done icon 3" descr="preencoded.png">    </p:cNvPr>
          <p:cNvPicPr>
            <a:picLocks noChangeAspect="1"/>
          </p:cNvPicPr>
          <p:nvPr/>
        </p:nvPicPr>
        <p:blipFill>
          <a:blip r:embed="rId4"/>
          <a:stretch>
            <a:fillRect/>
          </a:stretch>
        </p:blipFill>
        <p:spPr>
          <a:xfrm>
            <a:off x="548640" y="3648456"/>
            <a:ext cx="329184" cy="329184"/>
          </a:xfrm>
          <a:prstGeom prst="rect">
            <a:avLst/>
          </a:prstGeom>
        </p:spPr>
      </p:pic>
      <p:sp>
        <p:nvSpPr>
          <p:cNvPr id="10" name="done item 3"/>
          <p:cNvSpPr txBox="1"/>
          <p:nvPr/>
        </p:nvSpPr>
        <p:spPr>
          <a:xfrm>
            <a:off x="1005840" y="3575304"/>
            <a:ext cx="5120640" cy="594360"/>
          </a:xfrm>
          <a:prstGeom prst="rect">
            <a:avLst/>
          </a:prstGeom>
          <a:noFill/>
          <a:ln/>
        </p:spPr>
        <p:txBody>
          <a:bodyPr wrap="square" lIns="0" tIns="0" rIns="0" bIns="0" rtlCol="0" anchor="ctr"/>
          <a:lstStyle/>
          <a:p>
            <a:pPr indent="0" marL="0">
              <a:buNone/>
            </a:pPr>
            <a:r>
              <a:rPr lang="en-US" sz="1400" dirty="0">
                <a:solidFill>
                  <a:schemeClr val="tx1"/>
                </a:solidFill>
              </a:rPr>
              <a:t>ETSI MEC Sandbox connected; AdvantEDGE warehouse scenario</a:t>
            </a:r>
            <a:endParaRPr lang="en-US" sz="1400" dirty="0"/>
          </a:p>
        </p:txBody>
      </p:sp>
      <p:pic>
        <p:nvPicPr>
          <p:cNvPr id="11" name="done icon 4" descr="preencoded.png">    </p:cNvPr>
          <p:cNvPicPr>
            <a:picLocks noChangeAspect="1"/>
          </p:cNvPicPr>
          <p:nvPr/>
        </p:nvPicPr>
        <p:blipFill>
          <a:blip r:embed="rId5"/>
          <a:stretch>
            <a:fillRect/>
          </a:stretch>
        </p:blipFill>
        <p:spPr>
          <a:xfrm>
            <a:off x="548640" y="4398264"/>
            <a:ext cx="329184" cy="329184"/>
          </a:xfrm>
          <a:prstGeom prst="rect">
            <a:avLst/>
          </a:prstGeom>
        </p:spPr>
      </p:pic>
      <p:sp>
        <p:nvSpPr>
          <p:cNvPr id="12" name="done item 4"/>
          <p:cNvSpPr txBox="1"/>
          <p:nvPr/>
        </p:nvSpPr>
        <p:spPr>
          <a:xfrm>
            <a:off x="1005840" y="4325112"/>
            <a:ext cx="5120640" cy="594360"/>
          </a:xfrm>
          <a:prstGeom prst="rect">
            <a:avLst/>
          </a:prstGeom>
          <a:noFill/>
          <a:ln/>
        </p:spPr>
        <p:txBody>
          <a:bodyPr wrap="square" lIns="0" tIns="0" rIns="0" bIns="0" rtlCol="0" anchor="ctr"/>
          <a:lstStyle/>
          <a:p>
            <a:pPr indent="0" marL="0">
              <a:buNone/>
            </a:pPr>
            <a:r>
              <a:rPr lang="en-US" sz="1400" dirty="0">
                <a:solidFill>
                  <a:schemeClr val="tx1"/>
                </a:solidFill>
              </a:rPr>
              <a:t>ESP32 firmware for tag and forklift module, run unmodified against a real CSE in CI (6/6)</a:t>
            </a:r>
            <a:endParaRPr lang="en-US" sz="1400" dirty="0"/>
          </a:p>
        </p:txBody>
      </p:sp>
      <p:pic>
        <p:nvPicPr>
          <p:cNvPr id="13" name="done icon 5" descr="preencoded.png">    </p:cNvPr>
          <p:cNvPicPr>
            <a:picLocks noChangeAspect="1"/>
          </p:cNvPicPr>
          <p:nvPr/>
        </p:nvPicPr>
        <p:blipFill>
          <a:blip r:embed="rId6"/>
          <a:stretch>
            <a:fillRect/>
          </a:stretch>
        </p:blipFill>
        <p:spPr>
          <a:xfrm>
            <a:off x="548640" y="5148072"/>
            <a:ext cx="329184" cy="329184"/>
          </a:xfrm>
          <a:prstGeom prst="rect">
            <a:avLst/>
          </a:prstGeom>
        </p:spPr>
      </p:pic>
      <p:sp>
        <p:nvSpPr>
          <p:cNvPr id="14" name="done item 5"/>
          <p:cNvSpPr txBox="1"/>
          <p:nvPr/>
        </p:nvSpPr>
        <p:spPr>
          <a:xfrm>
            <a:off x="1005840" y="5074920"/>
            <a:ext cx="5120640" cy="594360"/>
          </a:xfrm>
          <a:prstGeom prst="rect">
            <a:avLst/>
          </a:prstGeom>
          <a:noFill/>
          <a:ln/>
        </p:spPr>
        <p:txBody>
          <a:bodyPr wrap="square" lIns="0" tIns="0" rIns="0" bIns="0" rtlCol="0" anchor="ctr"/>
          <a:lstStyle/>
          <a:p>
            <a:pPr indent="0" marL="0">
              <a:buNone/>
            </a:pPr>
            <a:r>
              <a:rPr lang="en-US" sz="1400" dirty="0">
                <a:solidFill>
                  <a:schemeClr val="tx1"/>
                </a:solidFill>
              </a:rPr>
              <a:t>Live demo and videos; README and 11 documents in English</a:t>
            </a:r>
            <a:endParaRPr lang="en-US" sz="1400" dirty="0"/>
          </a:p>
        </p:txBody>
      </p:sp>
      <p:sp>
        <p:nvSpPr>
          <p:cNvPr id="15" name="result 0"/>
          <p:cNvSpPr/>
          <p:nvPr/>
        </p:nvSpPr>
        <p:spPr>
          <a:xfrm>
            <a:off x="6583680" y="1325880"/>
            <a:ext cx="5029200" cy="1325880"/>
          </a:xfrm>
          <a:prstGeom prst="roundRect">
            <a:avLst>
              <a:gd name="adj" fmla="val 5517"/>
            </a:avLst>
          </a:prstGeom>
          <a:solidFill>
            <a:schemeClr val="bg2"/>
          </a:solidFill>
          <a:ln w="12700">
            <a:solidFill>
              <a:schemeClr val="bg2"/>
            </a:solidFill>
            <a:prstDash val="solid"/>
          </a:ln>
        </p:spPr>
      </p:sp>
      <p:sp>
        <p:nvSpPr>
          <p:cNvPr id="16" name="result number 0"/>
          <p:cNvSpPr txBox="1"/>
          <p:nvPr/>
        </p:nvSpPr>
        <p:spPr>
          <a:xfrm>
            <a:off x="6858000" y="146304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100 → 4</a:t>
            </a:r>
            <a:endParaRPr lang="en-US" sz="3000" dirty="0"/>
          </a:p>
        </p:txBody>
      </p:sp>
      <p:sp>
        <p:nvSpPr>
          <p:cNvPr id="17" name="result label 0"/>
          <p:cNvSpPr txBox="1"/>
          <p:nvPr/>
        </p:nvSpPr>
        <p:spPr>
          <a:xfrm>
            <a:off x="6858000" y="205740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many-to-many site (8 workers, 4 forklifts, 750 conflicts)</a:t>
            </a:r>
            <a:endParaRPr lang="en-US" sz="1300" dirty="0"/>
          </a:p>
        </p:txBody>
      </p:sp>
      <p:sp>
        <p:nvSpPr>
          <p:cNvPr id="18" name="result 1"/>
          <p:cNvSpPr/>
          <p:nvPr/>
        </p:nvSpPr>
        <p:spPr>
          <a:xfrm>
            <a:off x="6583680" y="2834640"/>
            <a:ext cx="5029200" cy="1325880"/>
          </a:xfrm>
          <a:prstGeom prst="roundRect">
            <a:avLst>
              <a:gd name="adj" fmla="val 5517"/>
            </a:avLst>
          </a:prstGeom>
          <a:solidFill>
            <a:schemeClr val="bg2"/>
          </a:solidFill>
          <a:ln w="12700">
            <a:solidFill>
              <a:schemeClr val="bg2"/>
            </a:solidFill>
            <a:prstDash val="solid"/>
          </a:ln>
        </p:spPr>
      </p:sp>
      <p:sp>
        <p:nvSpPr>
          <p:cNvPr id="19" name="result number 1"/>
          <p:cNvSpPr txBox="1"/>
          <p:nvPr/>
        </p:nvSpPr>
        <p:spPr>
          <a:xfrm>
            <a:off x="6858000" y="297180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61.7 → 86.0 %</a:t>
            </a:r>
            <a:endParaRPr lang="en-US" sz="3000" dirty="0"/>
          </a:p>
        </p:txBody>
      </p:sp>
      <p:sp>
        <p:nvSpPr>
          <p:cNvPr id="20" name="result label 1"/>
          <p:cNvSpPr txBox="1"/>
          <p:nvPr/>
        </p:nvSpPr>
        <p:spPr>
          <a:xfrm>
            <a:off x="6858000" y="356616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forklift throughput on the same site</a:t>
            </a:r>
            <a:endParaRPr lang="en-US" sz="1300" dirty="0"/>
          </a:p>
        </p:txBody>
      </p:sp>
      <p:sp>
        <p:nvSpPr>
          <p:cNvPr id="21" name="result 2"/>
          <p:cNvSpPr/>
          <p:nvPr/>
        </p:nvSpPr>
        <p:spPr>
          <a:xfrm>
            <a:off x="6583680" y="4343400"/>
            <a:ext cx="5029200" cy="1325880"/>
          </a:xfrm>
          <a:prstGeom prst="roundRect">
            <a:avLst>
              <a:gd name="adj" fmla="val 5517"/>
            </a:avLst>
          </a:prstGeom>
          <a:solidFill>
            <a:schemeClr val="bg2"/>
          </a:solidFill>
          <a:ln w="12700">
            <a:solidFill>
              <a:schemeClr val="bg2"/>
            </a:solidFill>
            <a:prstDash val="solid"/>
          </a:ln>
        </p:spPr>
      </p:sp>
      <p:sp>
        <p:nvSpPr>
          <p:cNvPr id="22" name="result number 2"/>
          <p:cNvSpPr txBox="1"/>
          <p:nvPr/>
        </p:nvSpPr>
        <p:spPr>
          <a:xfrm>
            <a:off x="6858000" y="448056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180 → 2</a:t>
            </a:r>
            <a:endParaRPr lang="en-US" sz="3000" dirty="0"/>
          </a:p>
        </p:txBody>
      </p:sp>
      <p:sp>
        <p:nvSpPr>
          <p:cNvPr id="23" name="result label 2"/>
          <p:cNvSpPr txBox="1"/>
          <p:nvPr/>
        </p:nvSpPr>
        <p:spPr>
          <a:xfrm>
            <a:off x="6858000" y="507492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during a total network outage</a:t>
            </a:r>
            <a:endParaRPr lang="en-US" sz="1300" dirty="0"/>
          </a:p>
        </p:txBody>
      </p:sp>
      <p:sp>
        <p:nvSpPr>
          <p:cNvPr id="24" name="result note"/>
          <p:cNvSpPr txBox="1"/>
          <p:nvPr/>
        </p:nvSpPr>
        <p:spPr>
          <a:xfrm>
            <a:off x="6583680" y="5897880"/>
            <a:ext cx="5029200" cy="320040"/>
          </a:xfrm>
          <a:prstGeom prst="rect">
            <a:avLst/>
          </a:prstGeom>
          <a:noFill/>
          <a:ln/>
        </p:spPr>
        <p:txBody>
          <a:bodyPr wrap="square" lIns="0" tIns="0" rIns="0" bIns="0" rtlCol="0" anchor="ctr"/>
          <a:lstStyle/>
          <a:p>
            <a:pPr indent="0" marL="0">
              <a:buNone/>
            </a:pPr>
            <a:r>
              <a:rPr lang="en-US" sz="1100" dirty="0">
                <a:solidFill>
                  <a:schemeClr val="accent6"/>
                </a:solidFill>
              </a:rPr>
              <a:t>Closed-loop simulation; baseline = our v1.0 vibration-only alert, same simulator.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Development plan: Oct 12 – Nov 25</a:t>
            </a:r>
            <a:endParaRPr lang="en-US" sz="3000" dirty="0"/>
          </a:p>
        </p:txBody>
      </p:sp>
      <p:sp>
        <p:nvSpPr>
          <p:cNvPr id="3" name="week line 0"/>
          <p:cNvSpPr/>
          <p:nvPr/>
        </p:nvSpPr>
        <p:spPr>
          <a:xfrm>
            <a:off x="3566160" y="1600200"/>
            <a:ext cx="0" cy="4069080"/>
          </a:xfrm>
          <a:prstGeom prst="line">
            <a:avLst/>
          </a:prstGeom>
          <a:noFill/>
          <a:ln w="9525">
            <a:solidFill>
              <a:srgbClr val="D5DAE0"/>
            </a:solidFill>
            <a:prstDash val="solid"/>
          </a:ln>
        </p:spPr>
      </p:sp>
      <p:sp>
        <p:nvSpPr>
          <p:cNvPr id="4" name="week label 0"/>
          <p:cNvSpPr txBox="1"/>
          <p:nvPr/>
        </p:nvSpPr>
        <p:spPr>
          <a:xfrm>
            <a:off x="320040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12</a:t>
            </a:r>
            <a:endParaRPr lang="en-US" sz="1100" dirty="0"/>
          </a:p>
        </p:txBody>
      </p:sp>
      <p:sp>
        <p:nvSpPr>
          <p:cNvPr id="5" name="week line 1"/>
          <p:cNvSpPr/>
          <p:nvPr/>
        </p:nvSpPr>
        <p:spPr>
          <a:xfrm>
            <a:off x="4817872" y="1600200"/>
            <a:ext cx="0" cy="4069080"/>
          </a:xfrm>
          <a:prstGeom prst="line">
            <a:avLst/>
          </a:prstGeom>
          <a:noFill/>
          <a:ln w="9525">
            <a:solidFill>
              <a:srgbClr val="D5DAE0"/>
            </a:solidFill>
            <a:prstDash val="solid"/>
          </a:ln>
        </p:spPr>
      </p:sp>
      <p:sp>
        <p:nvSpPr>
          <p:cNvPr id="6" name="week label 1"/>
          <p:cNvSpPr txBox="1"/>
          <p:nvPr/>
        </p:nvSpPr>
        <p:spPr>
          <a:xfrm>
            <a:off x="445211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19</a:t>
            </a:r>
            <a:endParaRPr lang="en-US" sz="1100" dirty="0"/>
          </a:p>
        </p:txBody>
      </p:sp>
      <p:sp>
        <p:nvSpPr>
          <p:cNvPr id="7" name="week line 2"/>
          <p:cNvSpPr/>
          <p:nvPr/>
        </p:nvSpPr>
        <p:spPr>
          <a:xfrm>
            <a:off x="6069584" y="1600200"/>
            <a:ext cx="0" cy="4069080"/>
          </a:xfrm>
          <a:prstGeom prst="line">
            <a:avLst/>
          </a:prstGeom>
          <a:noFill/>
          <a:ln w="9525">
            <a:solidFill>
              <a:srgbClr val="D5DAE0"/>
            </a:solidFill>
            <a:prstDash val="solid"/>
          </a:ln>
        </p:spPr>
      </p:sp>
      <p:sp>
        <p:nvSpPr>
          <p:cNvPr id="8" name="week label 2"/>
          <p:cNvSpPr txBox="1"/>
          <p:nvPr/>
        </p:nvSpPr>
        <p:spPr>
          <a:xfrm>
            <a:off x="5703824"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26</a:t>
            </a:r>
            <a:endParaRPr lang="en-US" sz="1100" dirty="0"/>
          </a:p>
        </p:txBody>
      </p:sp>
      <p:sp>
        <p:nvSpPr>
          <p:cNvPr id="9" name="week line 3"/>
          <p:cNvSpPr/>
          <p:nvPr/>
        </p:nvSpPr>
        <p:spPr>
          <a:xfrm>
            <a:off x="7321296" y="1600200"/>
            <a:ext cx="0" cy="4069080"/>
          </a:xfrm>
          <a:prstGeom prst="line">
            <a:avLst/>
          </a:prstGeom>
          <a:noFill/>
          <a:ln w="9525">
            <a:solidFill>
              <a:srgbClr val="D5DAE0"/>
            </a:solidFill>
            <a:prstDash val="solid"/>
          </a:ln>
        </p:spPr>
      </p:sp>
      <p:sp>
        <p:nvSpPr>
          <p:cNvPr id="10" name="week label 3"/>
          <p:cNvSpPr txBox="1"/>
          <p:nvPr/>
        </p:nvSpPr>
        <p:spPr>
          <a:xfrm>
            <a:off x="6955536"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a:t>
            </a:r>
            <a:endParaRPr lang="en-US" sz="1100" dirty="0"/>
          </a:p>
        </p:txBody>
      </p:sp>
      <p:sp>
        <p:nvSpPr>
          <p:cNvPr id="11" name="week line 4"/>
          <p:cNvSpPr/>
          <p:nvPr/>
        </p:nvSpPr>
        <p:spPr>
          <a:xfrm>
            <a:off x="8573008" y="1600200"/>
            <a:ext cx="0" cy="4069080"/>
          </a:xfrm>
          <a:prstGeom prst="line">
            <a:avLst/>
          </a:prstGeom>
          <a:noFill/>
          <a:ln w="9525">
            <a:solidFill>
              <a:srgbClr val="D5DAE0"/>
            </a:solidFill>
            <a:prstDash val="solid"/>
          </a:ln>
        </p:spPr>
      </p:sp>
      <p:sp>
        <p:nvSpPr>
          <p:cNvPr id="12" name="week label 4"/>
          <p:cNvSpPr txBox="1"/>
          <p:nvPr/>
        </p:nvSpPr>
        <p:spPr>
          <a:xfrm>
            <a:off x="8207248"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9</a:t>
            </a:r>
            <a:endParaRPr lang="en-US" sz="1100" dirty="0"/>
          </a:p>
        </p:txBody>
      </p:sp>
      <p:sp>
        <p:nvSpPr>
          <p:cNvPr id="13" name="week line 5"/>
          <p:cNvSpPr/>
          <p:nvPr/>
        </p:nvSpPr>
        <p:spPr>
          <a:xfrm>
            <a:off x="9824720" y="1600200"/>
            <a:ext cx="0" cy="4069080"/>
          </a:xfrm>
          <a:prstGeom prst="line">
            <a:avLst/>
          </a:prstGeom>
          <a:noFill/>
          <a:ln w="9525">
            <a:solidFill>
              <a:srgbClr val="D5DAE0"/>
            </a:solidFill>
            <a:prstDash val="solid"/>
          </a:ln>
        </p:spPr>
      </p:sp>
      <p:sp>
        <p:nvSpPr>
          <p:cNvPr id="14" name="week label 5"/>
          <p:cNvSpPr txBox="1"/>
          <p:nvPr/>
        </p:nvSpPr>
        <p:spPr>
          <a:xfrm>
            <a:off x="945896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16</a:t>
            </a:r>
            <a:endParaRPr lang="en-US" sz="1100" dirty="0"/>
          </a:p>
        </p:txBody>
      </p:sp>
      <p:sp>
        <p:nvSpPr>
          <p:cNvPr id="15" name="week line 6"/>
          <p:cNvSpPr/>
          <p:nvPr/>
        </p:nvSpPr>
        <p:spPr>
          <a:xfrm>
            <a:off x="11076432" y="1600200"/>
            <a:ext cx="0" cy="4069080"/>
          </a:xfrm>
          <a:prstGeom prst="line">
            <a:avLst/>
          </a:prstGeom>
          <a:noFill/>
          <a:ln w="9525">
            <a:solidFill>
              <a:srgbClr val="D5DAE0"/>
            </a:solidFill>
            <a:prstDash val="solid"/>
          </a:ln>
        </p:spPr>
      </p:sp>
      <p:sp>
        <p:nvSpPr>
          <p:cNvPr id="16" name="week label 6"/>
          <p:cNvSpPr txBox="1"/>
          <p:nvPr/>
        </p:nvSpPr>
        <p:spPr>
          <a:xfrm>
            <a:off x="1071067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23</a:t>
            </a:r>
            <a:endParaRPr lang="en-US" sz="1100" dirty="0"/>
          </a:p>
        </p:txBody>
      </p:sp>
      <p:sp>
        <p:nvSpPr>
          <p:cNvPr id="17" name="bar label 0"/>
          <p:cNvSpPr txBox="1"/>
          <p:nvPr/>
        </p:nvSpPr>
        <p:spPr>
          <a:xfrm>
            <a:off x="548640" y="1737360"/>
            <a:ext cx="2926080" cy="502920"/>
          </a:xfrm>
          <a:prstGeom prst="rect">
            <a:avLst/>
          </a:prstGeom>
          <a:noFill/>
          <a:ln/>
        </p:spPr>
        <p:txBody>
          <a:bodyPr wrap="square" lIns="0" tIns="0" rIns="0" bIns="0" rtlCol="0" anchor="ctr"/>
          <a:lstStyle/>
          <a:p>
            <a:pPr indent="0" marL="0">
              <a:buNone/>
            </a:pPr>
            <a:r>
              <a:rPr lang="en-US" sz="1200" dirty="0">
                <a:solidFill>
                  <a:schemeClr val="tx1"/>
                </a:solidFill>
              </a:rPr>
              <a:t>M1  Interim report, FlexContainer data model, discovery</a:t>
            </a:r>
            <a:endParaRPr lang="en-US" sz="1200" dirty="0"/>
          </a:p>
        </p:txBody>
      </p:sp>
      <p:sp>
        <p:nvSpPr>
          <p:cNvPr id="18" name="bar 0"/>
          <p:cNvSpPr/>
          <p:nvPr/>
        </p:nvSpPr>
        <p:spPr>
          <a:xfrm>
            <a:off x="3566160" y="1828800"/>
            <a:ext cx="1609344" cy="329184"/>
          </a:xfrm>
          <a:prstGeom prst="roundRect">
            <a:avLst>
              <a:gd name="adj" fmla="val 16667"/>
            </a:avLst>
          </a:prstGeom>
          <a:solidFill>
            <a:schemeClr val="accent2"/>
          </a:solidFill>
          <a:ln w="12700">
            <a:solidFill>
              <a:schemeClr val="accent2"/>
            </a:solidFill>
            <a:prstDash val="solid"/>
          </a:ln>
        </p:spPr>
      </p:sp>
      <p:sp>
        <p:nvSpPr>
          <p:cNvPr id="19" name="bar label 1"/>
          <p:cNvSpPr txBox="1"/>
          <p:nvPr/>
        </p:nvSpPr>
        <p:spPr>
          <a:xfrm>
            <a:off x="548640" y="2395728"/>
            <a:ext cx="2926080" cy="502920"/>
          </a:xfrm>
          <a:prstGeom prst="rect">
            <a:avLst/>
          </a:prstGeom>
          <a:noFill/>
          <a:ln/>
        </p:spPr>
        <p:txBody>
          <a:bodyPr wrap="square" lIns="0" tIns="0" rIns="0" bIns="0" rtlCol="0" anchor="ctr"/>
          <a:lstStyle/>
          <a:p>
            <a:pPr indent="0" marL="0">
              <a:buNone/>
            </a:pPr>
            <a:r>
              <a:rPr lang="en-US" sz="1200" dirty="0">
                <a:solidFill>
                  <a:schemeClr val="tx1"/>
                </a:solidFill>
              </a:rPr>
              <a:t>M2  group, pollingChannel, announcement, MQTT, TLS</a:t>
            </a:r>
            <a:endParaRPr lang="en-US" sz="1200" dirty="0"/>
          </a:p>
        </p:txBody>
      </p:sp>
      <p:sp>
        <p:nvSpPr>
          <p:cNvPr id="20" name="bar 1"/>
          <p:cNvSpPr/>
          <p:nvPr/>
        </p:nvSpPr>
        <p:spPr>
          <a:xfrm>
            <a:off x="5175504" y="2487168"/>
            <a:ext cx="1966976" cy="329184"/>
          </a:xfrm>
          <a:prstGeom prst="roundRect">
            <a:avLst>
              <a:gd name="adj" fmla="val 16667"/>
            </a:avLst>
          </a:prstGeom>
          <a:solidFill>
            <a:schemeClr val="accent2"/>
          </a:solidFill>
          <a:ln w="12700">
            <a:solidFill>
              <a:schemeClr val="accent2"/>
            </a:solidFill>
            <a:prstDash val="solid"/>
          </a:ln>
        </p:spPr>
      </p:sp>
      <p:sp>
        <p:nvSpPr>
          <p:cNvPr id="21" name="bar label 2"/>
          <p:cNvSpPr txBox="1"/>
          <p:nvPr/>
        </p:nvSpPr>
        <p:spPr>
          <a:xfrm>
            <a:off x="548640" y="3054096"/>
            <a:ext cx="2926080" cy="502920"/>
          </a:xfrm>
          <a:prstGeom prst="rect">
            <a:avLst/>
          </a:prstGeom>
          <a:noFill/>
          <a:ln/>
        </p:spPr>
        <p:txBody>
          <a:bodyPr wrap="square" lIns="0" tIns="0" rIns="0" bIns="0" rtlCol="0" anchor="ctr"/>
          <a:lstStyle/>
          <a:p>
            <a:pPr indent="0" marL="0">
              <a:buNone/>
            </a:pPr>
            <a:r>
              <a:rPr lang="en-US" sz="1200" dirty="0">
                <a:solidFill>
                  <a:schemeClr val="tx1"/>
                </a:solidFill>
              </a:rPr>
              <a:t>M3  CSE handover between MEC zones, geofencing, multi-host</a:t>
            </a:r>
            <a:endParaRPr lang="en-US" sz="1200" dirty="0"/>
          </a:p>
        </p:txBody>
      </p:sp>
      <p:sp>
        <p:nvSpPr>
          <p:cNvPr id="22" name="bar 2"/>
          <p:cNvSpPr/>
          <p:nvPr/>
        </p:nvSpPr>
        <p:spPr>
          <a:xfrm>
            <a:off x="7142480" y="3145536"/>
            <a:ext cx="1788160" cy="329184"/>
          </a:xfrm>
          <a:prstGeom prst="roundRect">
            <a:avLst>
              <a:gd name="adj" fmla="val 16667"/>
            </a:avLst>
          </a:prstGeom>
          <a:solidFill>
            <a:schemeClr val="accent4"/>
          </a:solidFill>
          <a:ln w="12700">
            <a:solidFill>
              <a:schemeClr val="accent4"/>
            </a:solidFill>
            <a:prstDash val="solid"/>
          </a:ln>
        </p:spPr>
      </p:sp>
      <p:sp>
        <p:nvSpPr>
          <p:cNvPr id="23" name="bar label 3"/>
          <p:cNvSpPr txBox="1"/>
          <p:nvPr/>
        </p:nvSpPr>
        <p:spPr>
          <a:xfrm>
            <a:off x="548640" y="3712464"/>
            <a:ext cx="2926080" cy="502920"/>
          </a:xfrm>
          <a:prstGeom prst="rect">
            <a:avLst/>
          </a:prstGeom>
          <a:noFill/>
          <a:ln/>
        </p:spPr>
        <p:txBody>
          <a:bodyPr wrap="square" lIns="0" tIns="0" rIns="0" bIns="0" rtlCol="0" anchor="ctr"/>
          <a:lstStyle/>
          <a:p>
            <a:pPr indent="0" marL="0">
              <a:buNone/>
            </a:pPr>
            <a:r>
              <a:rPr lang="en-US" sz="1200" dirty="0">
                <a:solidFill>
                  <a:schemeClr val="tx1"/>
                </a:solidFill>
              </a:rPr>
              <a:t>M4  MCP safety agent (FL as stretch goal)</a:t>
            </a:r>
            <a:endParaRPr lang="en-US" sz="1200" dirty="0"/>
          </a:p>
        </p:txBody>
      </p:sp>
      <p:sp>
        <p:nvSpPr>
          <p:cNvPr id="24" name="bar 3"/>
          <p:cNvSpPr/>
          <p:nvPr/>
        </p:nvSpPr>
        <p:spPr>
          <a:xfrm>
            <a:off x="8930640" y="3803904"/>
            <a:ext cx="1251712" cy="329184"/>
          </a:xfrm>
          <a:prstGeom prst="roundRect">
            <a:avLst>
              <a:gd name="adj" fmla="val 16667"/>
            </a:avLst>
          </a:prstGeom>
          <a:solidFill>
            <a:schemeClr val="accent5"/>
          </a:solidFill>
          <a:ln w="12700">
            <a:solidFill>
              <a:schemeClr val="accent5"/>
            </a:solidFill>
            <a:prstDash val="solid"/>
          </a:ln>
        </p:spPr>
      </p:sp>
      <p:sp>
        <p:nvSpPr>
          <p:cNvPr id="25" name="bar label 4"/>
          <p:cNvSpPr txBox="1"/>
          <p:nvPr/>
        </p:nvSpPr>
        <p:spPr>
          <a:xfrm>
            <a:off x="548640" y="4370832"/>
            <a:ext cx="2926080" cy="502920"/>
          </a:xfrm>
          <a:prstGeom prst="rect">
            <a:avLst/>
          </a:prstGeom>
          <a:noFill/>
          <a:ln/>
        </p:spPr>
        <p:txBody>
          <a:bodyPr wrap="square" lIns="0" tIns="0" rIns="0" bIns="0" rtlCol="0" anchor="ctr"/>
          <a:lstStyle/>
          <a:p>
            <a:pPr indent="0" marL="0">
              <a:buNone/>
            </a:pPr>
            <a:r>
              <a:rPr lang="en-US" sz="1200" dirty="0">
                <a:solidFill>
                  <a:schemeClr val="tx1"/>
                </a:solidFill>
              </a:rPr>
              <a:t>M5  ESP32 boards, user study, article, video, public repo</a:t>
            </a:r>
            <a:endParaRPr lang="en-US" sz="1200" dirty="0"/>
          </a:p>
        </p:txBody>
      </p:sp>
      <p:sp>
        <p:nvSpPr>
          <p:cNvPr id="26" name="bar 4"/>
          <p:cNvSpPr/>
          <p:nvPr/>
        </p:nvSpPr>
        <p:spPr>
          <a:xfrm>
            <a:off x="8751824" y="4462272"/>
            <a:ext cx="1966976" cy="329184"/>
          </a:xfrm>
          <a:prstGeom prst="roundRect">
            <a:avLst>
              <a:gd name="adj" fmla="val 16667"/>
            </a:avLst>
          </a:prstGeom>
          <a:solidFill>
            <a:schemeClr val="accent3"/>
          </a:solidFill>
          <a:ln w="12700">
            <a:solidFill>
              <a:schemeClr val="accent3"/>
            </a:solidFill>
            <a:prstDash val="solid"/>
          </a:ln>
        </p:spPr>
      </p:sp>
      <p:sp>
        <p:nvSpPr>
          <p:cNvPr id="27" name="bar label 5"/>
          <p:cNvSpPr txBox="1"/>
          <p:nvPr/>
        </p:nvSpPr>
        <p:spPr>
          <a:xfrm>
            <a:off x="548640" y="5029200"/>
            <a:ext cx="2926080" cy="502920"/>
          </a:xfrm>
          <a:prstGeom prst="rect">
            <a:avLst/>
          </a:prstGeom>
          <a:noFill/>
          <a:ln/>
        </p:spPr>
        <p:txBody>
          <a:bodyPr wrap="square" lIns="0" tIns="0" rIns="0" bIns="0" rtlCol="0" anchor="ctr"/>
          <a:lstStyle/>
          <a:p>
            <a:pPr indent="0" marL="0">
              <a:buNone/>
            </a:pPr>
            <a:r>
              <a:rPr lang="en-US" sz="1200" dirty="0">
                <a:solidFill>
                  <a:schemeClr val="tx1"/>
                </a:solidFill>
              </a:rPr>
              <a:t>Finals</a:t>
            </a:r>
            <a:endParaRPr lang="en-US" sz="1200" dirty="0"/>
          </a:p>
        </p:txBody>
      </p:sp>
      <p:sp>
        <p:nvSpPr>
          <p:cNvPr id="28" name="bar 5"/>
          <p:cNvSpPr/>
          <p:nvPr/>
        </p:nvSpPr>
        <p:spPr>
          <a:xfrm>
            <a:off x="11076432" y="5120640"/>
            <a:ext cx="536448" cy="329184"/>
          </a:xfrm>
          <a:prstGeom prst="roundRect">
            <a:avLst>
              <a:gd name="adj" fmla="val 16667"/>
            </a:avLst>
          </a:prstGeom>
          <a:solidFill>
            <a:schemeClr val="tx2"/>
          </a:solidFill>
          <a:ln w="12700">
            <a:solidFill>
              <a:schemeClr val="tx2"/>
            </a:solidFill>
            <a:prstDash val="solid"/>
          </a:ln>
        </p:spPr>
      </p:sp>
      <p:sp>
        <p:nvSpPr>
          <p:cNvPr id="29" name="deadline 0"/>
          <p:cNvSpPr/>
          <p:nvPr/>
        </p:nvSpPr>
        <p:spPr>
          <a:xfrm>
            <a:off x="5175504" y="1600200"/>
            <a:ext cx="0" cy="4069080"/>
          </a:xfrm>
          <a:prstGeom prst="line">
            <a:avLst/>
          </a:prstGeom>
          <a:noFill/>
          <a:ln w="19050">
            <a:solidFill>
              <a:schemeClr val="accent3"/>
            </a:solidFill>
            <a:prstDash val="dash"/>
          </a:ln>
        </p:spPr>
      </p:sp>
      <p:sp>
        <p:nvSpPr>
          <p:cNvPr id="30" name="deadline label 0"/>
          <p:cNvSpPr txBox="1"/>
          <p:nvPr/>
        </p:nvSpPr>
        <p:spPr>
          <a:xfrm>
            <a:off x="4352544"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Oct 20 interim</a:t>
            </a:r>
            <a:endParaRPr lang="en-US" sz="1100" dirty="0"/>
          </a:p>
        </p:txBody>
      </p:sp>
      <p:sp>
        <p:nvSpPr>
          <p:cNvPr id="31" name="deadline 1"/>
          <p:cNvSpPr/>
          <p:nvPr/>
        </p:nvSpPr>
        <p:spPr>
          <a:xfrm>
            <a:off x="10718800" y="1600200"/>
            <a:ext cx="0" cy="4069080"/>
          </a:xfrm>
          <a:prstGeom prst="line">
            <a:avLst/>
          </a:prstGeom>
          <a:noFill/>
          <a:ln w="19050">
            <a:solidFill>
              <a:schemeClr val="accent3"/>
            </a:solidFill>
            <a:prstDash val="dash"/>
          </a:ln>
        </p:spPr>
      </p:sp>
      <p:sp>
        <p:nvSpPr>
          <p:cNvPr id="32" name="deadline label 1"/>
          <p:cNvSpPr txBox="1"/>
          <p:nvPr/>
        </p:nvSpPr>
        <p:spPr>
          <a:xfrm>
            <a:off x="9895840"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Nov 20 code freeze</a:t>
            </a:r>
            <a:endParaRPr lang="en-US" sz="1100" dirty="0"/>
          </a:p>
        </p:txBody>
      </p:sp>
      <p:sp>
        <p:nvSpPr>
          <p:cNvPr id="33" name="legend"/>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dirty="0">
                <a:solidFill>
                  <a:schemeClr val="accent6"/>
                </a:solidFill>
              </a:rPr>
              <a:t>Blue: oneM2M depth  ·  Orange: MEC and continuity  ·  Green: AI agent  ·  Red: demo and communication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Milestones, rubric criteria and acceptance checks</a:t>
            </a:r>
            <a:endParaRPr lang="en-US" sz="3000" dirty="0"/>
          </a:p>
        </p:txBody>
      </p:sp>
      <p:graphicFrame>
        <p:nvGraphicFramePr>
          <p:cNvPr id="13" name="mileston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371600"/>
                <a:gridCol w="4663440"/>
                <a:gridCol w="2377440"/>
                <a:gridCol w="2651760"/>
              </a:tblGrid>
              <a:tr h="0">
                <a:tc>
                  <a:txBody>
                    <a:bodyPr/>
                    <a:lstStyle/>
                    <a:p>
                      <a:pPr indent="0" marL="0">
                        <a:buNone/>
                      </a:pPr>
                      <a:r>
                        <a:rPr lang="en-US" sz="1200" b="1" dirty="0">
                          <a:solidFill>
                            <a:schemeClr val="bg1"/>
                          </a:solidFill>
                        </a:rPr>
                        <a:t>Milestone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Deliverables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Rubric criteria</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Done when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M1 · Oct 20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Interim report; device state as FlexContainers with labels; MEC app discovers devices by label</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Data interoperability, Article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Devices onboard without config; CI test passes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M2 · Oct 31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&lt;group&gt; fan-out of alerts per zone; &lt;pollingChannel&gt; for tags; near misses announced to IN-CSE; MQTT for devices, HTTP for apps; TLS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Innovative use of oneM2M, Protocols, Security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 scenarios pass over MQTT; alerts reach tags behind NAT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M3 · Nov 10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Forklift AE hands over between two zone MN-CSEs, triggered by MEC Location; subscriptions rebuilt; geofence events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CSE handover, Geolocation, MEC services, Deployment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Interruption and data loss measured in a scripted run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M4 · Nov 17</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MCP server for oneM2M + safety agent: queries near misses, explains alerts, proposes changes; FL of the trajectory model (stretch)</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AI agents and MCP, Federated learning</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Agent completes a multi-step report task with validation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M5 · Nov 20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ESP32 board demo; user study (10+); hackster.io article; final video; public GitHub</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Video, GitHub, Promotion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published; repo public; video under 3 min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Risks and mitigations</a:t>
            </a:r>
            <a:endParaRPr lang="en-US" sz="3000" dirty="0"/>
          </a:p>
        </p:txBody>
      </p:sp>
      <p:sp>
        <p:nvSpPr>
          <p:cNvPr id="3" name="risk row 0"/>
          <p:cNvSpPr/>
          <p:nvPr/>
        </p:nvSpPr>
        <p:spPr>
          <a:xfrm>
            <a:off x="548640" y="1280160"/>
            <a:ext cx="11064240" cy="822960"/>
          </a:xfrm>
          <a:prstGeom prst="roundRect">
            <a:avLst>
              <a:gd name="adj" fmla="val 8889"/>
            </a:avLst>
          </a:prstGeom>
          <a:solidFill>
            <a:schemeClr val="bg2"/>
          </a:solidFill>
          <a:ln w="12700">
            <a:solidFill>
              <a:schemeClr val="bg2"/>
            </a:solidFill>
            <a:prstDash val="solid"/>
          </a:ln>
        </p:spPr>
      </p:sp>
      <p:sp>
        <p:nvSpPr>
          <p:cNvPr id="4" name="risk 0"/>
          <p:cNvSpPr txBox="1"/>
          <p:nvPr/>
        </p:nvSpPr>
        <p:spPr>
          <a:xfrm>
            <a:off x="822960" y="128016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Scope: many features in five weeks</a:t>
            </a:r>
            <a:endParaRPr lang="en-US" sz="1500" dirty="0"/>
          </a:p>
        </p:txBody>
      </p:sp>
      <p:sp>
        <p:nvSpPr>
          <p:cNvPr id="5" name="mitigation 0"/>
          <p:cNvSpPr txBox="1"/>
          <p:nvPr/>
        </p:nvSpPr>
        <p:spPr>
          <a:xfrm>
            <a:off x="5577840" y="1280160"/>
            <a:ext cx="5852160" cy="822960"/>
          </a:xfrm>
          <a:prstGeom prst="rect">
            <a:avLst/>
          </a:prstGeom>
          <a:noFill/>
          <a:ln/>
        </p:spPr>
        <p:txBody>
          <a:bodyPr wrap="square" lIns="0" tIns="0" rIns="0" bIns="0" rtlCol="0" anchor="ctr"/>
          <a:lstStyle/>
          <a:p>
            <a:pPr indent="0" marL="0">
              <a:buNone/>
            </a:pPr>
            <a:r>
              <a:rPr lang="en-US" sz="1400" dirty="0">
                <a:solidFill>
                  <a:schemeClr val="tx1"/>
                </a:solidFill>
              </a:rPr>
              <a:t>Ordered by rubric impact; each feature lands with a CI test, so the working demo never breaks</a:t>
            </a:r>
            <a:endParaRPr lang="en-US" sz="1400" dirty="0"/>
          </a:p>
        </p:txBody>
      </p:sp>
      <p:sp>
        <p:nvSpPr>
          <p:cNvPr id="6" name="risk row 1"/>
          <p:cNvSpPr/>
          <p:nvPr/>
        </p:nvSpPr>
        <p:spPr>
          <a:xfrm>
            <a:off x="548640" y="2240280"/>
            <a:ext cx="11064240" cy="822960"/>
          </a:xfrm>
          <a:prstGeom prst="roundRect">
            <a:avLst>
              <a:gd name="adj" fmla="val 8889"/>
            </a:avLst>
          </a:prstGeom>
          <a:solidFill>
            <a:schemeClr val="bg2"/>
          </a:solidFill>
          <a:ln w="12700">
            <a:solidFill>
              <a:schemeClr val="bg2"/>
            </a:solidFill>
            <a:prstDash val="solid"/>
          </a:ln>
        </p:spPr>
      </p:sp>
      <p:sp>
        <p:nvSpPr>
          <p:cNvPr id="7" name="risk 1"/>
          <p:cNvSpPr txBox="1"/>
          <p:nvPr/>
        </p:nvSpPr>
        <p:spPr>
          <a:xfrm>
            <a:off x="822960" y="224028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CSE feature support differs (pollingChannel, FlexContainer, MQTT)</a:t>
            </a:r>
            <a:endParaRPr lang="en-US" sz="1500" dirty="0"/>
          </a:p>
        </p:txBody>
      </p:sp>
      <p:sp>
        <p:nvSpPr>
          <p:cNvPr id="8" name="mitigation 1"/>
          <p:cNvSpPr txBox="1"/>
          <p:nvPr/>
        </p:nvSpPr>
        <p:spPr>
          <a:xfrm>
            <a:off x="5577840" y="2240280"/>
            <a:ext cx="5852160" cy="822960"/>
          </a:xfrm>
          <a:prstGeom prst="rect">
            <a:avLst/>
          </a:prstGeom>
          <a:noFill/>
          <a:ln/>
        </p:spPr>
        <p:txBody>
          <a:bodyPr wrap="square" lIns="0" tIns="0" rIns="0" bIns="0" rtlCol="0" anchor="ctr"/>
          <a:lstStyle/>
          <a:p>
            <a:pPr indent="0" marL="0">
              <a:buNone/>
            </a:pPr>
            <a:r>
              <a:rPr lang="en-US" sz="1400" dirty="0">
                <a:solidFill>
                  <a:schemeClr val="tx1"/>
                </a:solidFill>
              </a:rPr>
              <a:t>Advanced features on ACME first; Mobius kept for the base flow; differences documented</a:t>
            </a:r>
            <a:endParaRPr lang="en-US" sz="1400" dirty="0"/>
          </a:p>
        </p:txBody>
      </p:sp>
      <p:sp>
        <p:nvSpPr>
          <p:cNvPr id="9" name="risk row 2"/>
          <p:cNvSpPr/>
          <p:nvPr/>
        </p:nvSpPr>
        <p:spPr>
          <a:xfrm>
            <a:off x="548640" y="3200400"/>
            <a:ext cx="11064240" cy="822960"/>
          </a:xfrm>
          <a:prstGeom prst="roundRect">
            <a:avLst>
              <a:gd name="adj" fmla="val 8889"/>
            </a:avLst>
          </a:prstGeom>
          <a:solidFill>
            <a:schemeClr val="bg2"/>
          </a:solidFill>
          <a:ln w="12700">
            <a:solidFill>
              <a:schemeClr val="bg2"/>
            </a:solidFill>
            <a:prstDash val="solid"/>
          </a:ln>
        </p:spPr>
      </p:sp>
      <p:sp>
        <p:nvSpPr>
          <p:cNvPr id="10" name="risk 2"/>
          <p:cNvSpPr txBox="1"/>
          <p:nvPr/>
        </p:nvSpPr>
        <p:spPr>
          <a:xfrm>
            <a:off x="822960" y="320040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Hardware delivery or wiring issues</a:t>
            </a:r>
            <a:endParaRPr lang="en-US" sz="1500" dirty="0"/>
          </a:p>
        </p:txBody>
      </p:sp>
      <p:sp>
        <p:nvSpPr>
          <p:cNvPr id="11" name="mitigation 2"/>
          <p:cNvSpPr txBox="1"/>
          <p:nvPr/>
        </p:nvSpPr>
        <p:spPr>
          <a:xfrm>
            <a:off x="5577840" y="3200400"/>
            <a:ext cx="5852160" cy="822960"/>
          </a:xfrm>
          <a:prstGeom prst="rect">
            <a:avLst/>
          </a:prstGeom>
          <a:noFill/>
          <a:ln/>
        </p:spPr>
        <p:txBody>
          <a:bodyPr wrap="square" lIns="0" tIns="0" rIns="0" bIns="0" rtlCol="0" anchor="ctr"/>
          <a:lstStyle/>
          <a:p>
            <a:pPr indent="0" marL="0">
              <a:buNone/>
            </a:pPr>
            <a:r>
              <a:rPr lang="en-US" sz="1400" dirty="0">
                <a:solidFill>
                  <a:schemeClr val="tx1"/>
                </a:solidFill>
              </a:rPr>
              <a:t>Firmware already verified against a real CSE in CI; boards only replace the PC runtime</a:t>
            </a:r>
            <a:endParaRPr lang="en-US" sz="1400" dirty="0"/>
          </a:p>
        </p:txBody>
      </p:sp>
      <p:sp>
        <p:nvSpPr>
          <p:cNvPr id="12" name="risk row 3"/>
          <p:cNvSpPr/>
          <p:nvPr/>
        </p:nvSpPr>
        <p:spPr>
          <a:xfrm>
            <a:off x="548640" y="4160520"/>
            <a:ext cx="11064240" cy="822960"/>
          </a:xfrm>
          <a:prstGeom prst="roundRect">
            <a:avLst>
              <a:gd name="adj" fmla="val 8889"/>
            </a:avLst>
          </a:prstGeom>
          <a:solidFill>
            <a:schemeClr val="bg2"/>
          </a:solidFill>
          <a:ln w="12700">
            <a:solidFill>
              <a:schemeClr val="bg2"/>
            </a:solidFill>
            <a:prstDash val="solid"/>
          </a:ln>
        </p:spPr>
      </p:sp>
      <p:sp>
        <p:nvSpPr>
          <p:cNvPr id="13" name="risk 3"/>
          <p:cNvSpPr txBox="1"/>
          <p:nvPr/>
        </p:nvSpPr>
        <p:spPr>
          <a:xfrm>
            <a:off x="822960" y="416052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Human behaviour is modelled, not measured</a:t>
            </a:r>
            <a:endParaRPr lang="en-US" sz="1500" dirty="0"/>
          </a:p>
        </p:txBody>
      </p:sp>
      <p:sp>
        <p:nvSpPr>
          <p:cNvPr id="14" name="mitigation 3"/>
          <p:cNvSpPr txBox="1"/>
          <p:nvPr/>
        </p:nvSpPr>
        <p:spPr>
          <a:xfrm>
            <a:off x="5577840" y="4160520"/>
            <a:ext cx="5852160" cy="822960"/>
          </a:xfrm>
          <a:prstGeom prst="rect">
            <a:avLst/>
          </a:prstGeom>
          <a:noFill/>
          <a:ln/>
        </p:spPr>
        <p:txBody>
          <a:bodyPr wrap="square" lIns="0" tIns="0" rIns="0" bIns="0" rtlCol="0" anchor="ctr"/>
          <a:lstStyle/>
          <a:p>
            <a:pPr indent="0" marL="0">
              <a:buNone/>
            </a:pPr>
            <a:r>
              <a:rPr lang="en-US" sz="1400" dirty="0">
                <a:solidFill>
                  <a:schemeClr val="tx1"/>
                </a:solidFill>
              </a:rPr>
              <a:t>User study with a phone tag; measured compliance fed back into the simulation</a:t>
            </a:r>
            <a:endParaRPr lang="en-US" sz="1400" dirty="0"/>
          </a:p>
        </p:txBody>
      </p:sp>
      <p:sp>
        <p:nvSpPr>
          <p:cNvPr id="15" name="risk row 4"/>
          <p:cNvSpPr/>
          <p:nvPr/>
        </p:nvSpPr>
        <p:spPr>
          <a:xfrm>
            <a:off x="548640" y="5120640"/>
            <a:ext cx="11064240" cy="822960"/>
          </a:xfrm>
          <a:prstGeom prst="roundRect">
            <a:avLst>
              <a:gd name="adj" fmla="val 8889"/>
            </a:avLst>
          </a:prstGeom>
          <a:solidFill>
            <a:schemeClr val="bg2"/>
          </a:solidFill>
          <a:ln w="12700">
            <a:solidFill>
              <a:schemeClr val="bg2"/>
            </a:solidFill>
            <a:prstDash val="solid"/>
          </a:ln>
        </p:spPr>
      </p:sp>
      <p:sp>
        <p:nvSpPr>
          <p:cNvPr id="16" name="risk 4"/>
          <p:cNvSpPr txBox="1"/>
          <p:nvPr/>
        </p:nvSpPr>
        <p:spPr>
          <a:xfrm>
            <a:off x="822960" y="512064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Sandbox availability</a:t>
            </a:r>
            <a:endParaRPr lang="en-US" sz="1500" dirty="0"/>
          </a:p>
        </p:txBody>
      </p:sp>
      <p:sp>
        <p:nvSpPr>
          <p:cNvPr id="17" name="mitigation 4"/>
          <p:cNvSpPr txBox="1"/>
          <p:nvPr/>
        </p:nvSpPr>
        <p:spPr>
          <a:xfrm>
            <a:off x="5577840" y="5120640"/>
            <a:ext cx="5852160" cy="822960"/>
          </a:xfrm>
          <a:prstGeom prst="rect">
            <a:avLst/>
          </a:prstGeom>
          <a:noFill/>
          <a:ln/>
        </p:spPr>
        <p:txBody>
          <a:bodyPr wrap="square" lIns="0" tIns="0" rIns="0" bIns="0" rtlCol="0" anchor="ctr"/>
          <a:lstStyle/>
          <a:p>
            <a:pPr indent="0" marL="0">
              <a:buNone/>
            </a:pPr>
            <a:r>
              <a:rPr lang="en-US" sz="1400" dirty="0">
                <a:solidFill>
                  <a:schemeClr val="tx1"/>
                </a:solidFill>
              </a:rPr>
              <a:t>Self-hosted AdvantEDGE and a local MEC mock run the same scenarios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Next: deeper oneM2M, continuity across MEC zones, and a real-world demo</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Team EdgeGuard · Sejong University</a:t>
            </a:r>
            <a:endParaRPr lang="en-US" sz="2000" dirty="0"/>
          </a:p>
          <a:p>
            <a:pPr algn="l" indent="0" marL="0">
              <a:buNone/>
            </a:pPr>
            <a:r>
              <a:rPr lang="en-US" sz="2000" dirty="0">
                <a:solidFill>
                  <a:schemeClr val="bg2"/>
                </a:solidFill>
              </a:rPr>
              <a:t>Thank you</a:t>
            </a:r>
            <a:endParaRPr lang="en-US" sz="2000" dirty="0"/>
          </a:p>
        </p:txBody>
      </p:sp>
      <p:sp>
        <p:nvSpPr>
          <p:cNvPr id="4" name="end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5" name="end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6" name="end band GO"/>
          <p:cNvSpPr/>
          <p:nvPr/>
        </p:nvSpPr>
        <p:spPr>
          <a:xfrm>
            <a:off x="11338560" y="0"/>
            <a:ext cx="777240" cy="6858000"/>
          </a:xfrm>
          <a:prstGeom prst="rect">
            <a:avLst/>
          </a:prstGeom>
          <a:solidFill>
            <a:schemeClr val="accent5"/>
          </a:solidFill>
          <a:ln w="12700">
            <a:solidFill>
              <a:schemeClr val="accent5"/>
            </a:solidFill>
            <a:prstDash val="solid"/>
          </a:ln>
        </p:spPr>
      </p:sp>
    </p:spTree>
  </p:cSld>
  <p:clrMapOvr>
    <a:masterClrMapping/>
  </p:clrMapOvr>
</p:sld>
</file>

<file path=ppt/theme/theme1.xml><?xml version="1.0" encoding="utf-8"?>
<a:theme xmlns:a="http://schemas.openxmlformats.org/drawingml/2006/main" name="EdgeGuard">
  <a:themeElements>
    <a:clrScheme name="EdgeGuard">
      <a:dk1>
        <a:srgbClr val="18212B"/>
      </a:dk1>
      <a:lt1>
        <a:srgbClr val="FFFFFF"/>
      </a:lt1>
      <a:dk2>
        <a:srgbClr val="121C26"/>
      </a:dk2>
      <a:lt2>
        <a:srgbClr val="EEF1F4"/>
      </a:lt2>
      <a:accent1>
        <a:srgbClr val="F2A900"/>
      </a:accent1>
      <a:accent2>
        <a:srgbClr val="2F6FD0"/>
      </a:accent2>
      <a:accent3>
        <a:srgbClr val="C62828"/>
      </a:accent3>
      <a:accent4>
        <a:srgbClr val="B84A06"/>
      </a:accent4>
      <a:accent5>
        <a:srgbClr val="2E7D32"/>
      </a:accent5>
      <a:accent6>
        <a:srgbClr val="5A6573"/>
      </a:accent6>
      <a:hlink>
        <a:srgbClr val="2F6FD0"/>
      </a:hlink>
      <a:folHlink>
        <a:srgbClr val="5A6573"/>
      </a:folHlink>
    </a:clrScheme>
    <a:fontScheme name="EdgeGuar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EdgeGuard - Interim Use Case and Architecture Report</dc:title>
  <dc:subject>PptxGenJS Presentation</dc:subject>
  <dc:creator>Team EdgeGuard</dc:creator>
  <cp:lastModifiedBy>Team EdgeGuard</cp:lastModifiedBy>
  <cp:revision>1</cp:revision>
  <dcterms:created xsi:type="dcterms:W3CDTF">2026-10-10T22:53:15Z</dcterms:created>
  <dcterms:modified xsi:type="dcterms:W3CDTF">2026-10-10T22:53:15Z</dcterms:modified>
</cp:coreProperties>
</file>