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ed821e7-1c1a-71f1-d2b0-4db05531ac2e}">
          <p14:sldIdLst>
            <p14:sldId id="256"/>
            <p14:sldId id="257"/>
          </p14:sldIdLst>
        </p14:section>
        <p14:section name="Use case" id="{a568a412-942f-5242-435d-16a7c4ea2011}">
          <p14:sldIdLst>
            <p14:sldId id="258"/>
            <p14:sldId id="259"/>
            <p14:sldId id="260"/>
          </p14:sldIdLst>
        </p14:section>
        <p14:section name="Architecture" id="{93568bcc-abda-86f6-8699-cc0498c7a657}">
          <p14:sldIdLst>
            <p14:sldId id="261"/>
            <p14:sldId id="262"/>
            <p14:sldId id="263"/>
            <p14:sldId id="264"/>
            <p14:sldId id="265"/>
          </p14:sldIdLst>
        </p14:section>
        <p14:section name="Status and plan" id="{c57fa3dc-2eae-fd5a-a37b-ddb0b4a43977}">
          <p14:sldIdLst>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EdgeGuard interim report: use case, high-level oneM2M + ETSI MEC architecture, and the development plan to the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per required item: use case, architecture, current status, development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scenario. Over 2,500 forklift casualties in two years in Korea; one injury costs about USD 116k. Proximity alarms exist but produce mostly false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concrete moments define the requirements: a blind-corner crossing, a standoff with the worker in the forklift lane, and a network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requirements follow the ESTIMED themes: low latency, local processing, context awareness, service continuity, orchestration, distributed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option C of the ESTIMED continuum: oneM2M MN-CSE and the MEC app share the MEC host. Devices talk Mca to the edge CSE; the CSE notifies the MEC app; alerts go back the same way. MEC Location and RNIS reach the app as oneM2M resources through the MEC-IPE. The edge CSE registers with the cloud IN-CSE over Mcc for dashboards and other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warehouse zone has its own MEC host with an MN-CSE and the EdgeGuard MEC app. The MN-CSEs register with the IN-CSE over Mcc. Devices hand over between zones; the IN-CSE keeps their home records, the federated learning coordinator and the AI safety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device registers its own AE with its own ACP. The MEC app's decisions are oneM2M resources in its own AE, so any oneM2M app can subscribe. Planned additions target the rubric: FlexContainer, discovery, group, pollingChannel, announcement.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 services reach the application through oneM2M via the MEC-IPE. The MEC app is deployed on AdvantEDGE with a custom warehouse scenario and connected to the public ETSI MEC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from a position to a confirmed cue, all through oneM2M resources and subscriptions. If the MEC app goes silent, devices degrade gracefully to local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already works, with evidence. Numbers are from closed-loop simulation against our own first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items from the original plan are already built and verified in CI: the SDT data model, CSE handover, federated learning and the AI safety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milestones to the November 20 code freeze, ordered by rubric impact. Hardware, user study and communication work run in parallel from Nov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milestone names its deliverables, the rubric criteria it targets, and an acceptance check we can demonstrate.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risks and how we contain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868680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r>
              <a:rPr lang="en-US" sz="4800" b="1" dirty="0">
                <a:solidFill>
                  <a:schemeClr val="bg1"/>
                </a:solidFill>
              </a:rPr>
              <a:t>Title</a:t>
            </a:r>
            <a:endParaRPr lang="en-US" sz="4800" dirty="0"/>
          </a:p>
        </p:txBody>
      </p:sp>
      <p:sp>
        <p:nvSpPr>
          <p:cNvPr id="3" name="Text 0"/>
          <p:cNvSpPr/>
          <p:nvPr>
            <p:ph idx="101" type="body" hasCustomPrompt="1"/>
          </p:nvPr>
        </p:nvSpPr>
        <p:spPr>
          <a:xfrm>
            <a:off x="731520" y="3657600"/>
            <a:ext cx="868680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r>
              <a:rPr lang="en-US" sz="2000" dirty="0">
                <a:solidFill>
                  <a:schemeClr val="bg2"/>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r>
              <a:rPr lang="en-US" sz="3000" b="1" dirty="0">
                <a:solidFill>
                  <a:schemeClr val="tx2"/>
                </a:solidFill>
              </a:rPr>
              <a:t>Title</a:t>
            </a: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EdgeGuard  ·  Interim use case and architecture report  ·  2026 oneM2M Hackathon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8686800" cy="1463040"/>
          </a:xfrm>
          <a:prstGeom prst="rect">
            <a:avLst/>
          </a:prstGeom>
          <a:noFill/>
          <a:ln/>
        </p:spPr>
        <p:txBody>
          <a:bodyPr wrap="square" lIns="0" tIns="0" rIns="0" bIns="0" rtlCol="0" anchor="b"/>
          <a:lstStyle/>
          <a:p>
            <a:pPr algn="l" indent="0" marL="0">
              <a:buNone/>
            </a:pPr>
            <a:r>
              <a:rPr lang="en-US" sz="4800" b="1" dirty="0">
                <a:solidFill>
                  <a:schemeClr val="bg1"/>
                </a:solidFill>
              </a:rPr>
              <a:t>EdgeGuard</a:t>
            </a:r>
            <a:endParaRPr lang="en-US" sz="4800" dirty="0"/>
          </a:p>
        </p:txBody>
      </p:sp>
      <p:sp>
        <p:nvSpPr>
          <p:cNvPr id="3" name="Text 0"/>
          <p:cNvSpPr/>
          <p:nvPr>
            <p:ph idx="101" type="body" hasCustomPrompt="1"/>
          </p:nvPr>
        </p:nvSpPr>
        <p:spPr>
          <a:xfrm>
            <a:off x="731520" y="3657600"/>
            <a:ext cx="8686800" cy="1097280"/>
          </a:xfrm>
          <a:prstGeom prst="rect">
            <a:avLst/>
          </a:prstGeom>
          <a:noFill/>
          <a:ln/>
        </p:spPr>
        <p:txBody>
          <a:bodyPr wrap="square" lIns="0" tIns="0" rIns="0" bIns="0" rtlCol="0" anchor="t"/>
          <a:lstStyle/>
          <a:p>
            <a:pPr algn="l" indent="0" marL="0">
              <a:buNone/>
            </a:pPr>
            <a:r>
              <a:rPr lang="en-US" sz="2000" dirty="0">
                <a:solidFill>
                  <a:schemeClr val="bg2"/>
                </a:solidFill>
              </a:rPr>
              <a:t>Interim Use Case and Architecture Report</a:t>
            </a:r>
            <a:endParaRPr lang="en-US" sz="2000" dirty="0"/>
          </a:p>
          <a:p>
            <a:pPr algn="l" indent="0" marL="0">
              <a:buNone/>
            </a:pPr>
            <a:r>
              <a:rPr lang="en-US" sz="2000" dirty="0">
                <a:solidFill>
                  <a:schemeClr val="bg2"/>
                </a:solidFill>
              </a:rPr>
              <a:t>MEC-based worker–forklift collision prediction with oneM2M and ETSI MEC</a:t>
            </a:r>
            <a:endParaRPr lang="en-US" sz="2000" dirty="0"/>
          </a:p>
        </p:txBody>
      </p:sp>
      <p:sp>
        <p:nvSpPr>
          <p:cNvPr id="4" name="event line"/>
          <p:cNvSpPr txBox="1"/>
          <p:nvPr/>
        </p:nvSpPr>
        <p:spPr>
          <a:xfrm>
            <a:off x="731520" y="5852160"/>
            <a:ext cx="9144000" cy="365760"/>
          </a:xfrm>
          <a:prstGeom prst="rect">
            <a:avLst/>
          </a:prstGeom>
          <a:noFill/>
          <a:ln/>
        </p:spPr>
        <p:txBody>
          <a:bodyPr wrap="square" lIns="0" tIns="0" rIns="0" bIns="0" rtlCol="0" anchor="ctr"/>
          <a:lstStyle/>
          <a:p>
            <a:pPr indent="0" marL="0">
              <a:buNone/>
            </a:pPr>
            <a:r>
              <a:rPr lang="en-US" sz="1400" dirty="0">
                <a:solidFill>
                  <a:schemeClr val="accent1"/>
                </a:solidFill>
              </a:rPr>
              <a:t>2026 oneM2M International Hackathon  ·  Team EdgeGuard  ·  Sejong University  ·  October 2026</a:t>
            </a:r>
            <a:endParaRPr lang="en-US" sz="1400" dirty="0"/>
          </a:p>
        </p:txBody>
      </p:sp>
      <p:sp>
        <p:nvSpPr>
          <p:cNvPr id="5" name="cue band WAIT"/>
          <p:cNvSpPr/>
          <p:nvPr/>
        </p:nvSpPr>
        <p:spPr>
          <a:xfrm>
            <a:off x="9784080" y="0"/>
            <a:ext cx="777240" cy="6858000"/>
          </a:xfrm>
          <a:prstGeom prst="rect">
            <a:avLst/>
          </a:prstGeom>
          <a:solidFill>
            <a:schemeClr val="accent3"/>
          </a:solidFill>
          <a:ln w="12700">
            <a:solidFill>
              <a:schemeClr val="accent3"/>
            </a:solidFill>
            <a:prstDash val="solid"/>
          </a:ln>
        </p:spPr>
      </p:sp>
      <p:sp>
        <p:nvSpPr>
          <p:cNvPr id="6" name="cue label WAIT"/>
          <p:cNvSpPr txBox="1"/>
          <p:nvPr/>
        </p:nvSpPr>
        <p:spPr>
          <a:xfrm>
            <a:off x="9784080" y="3200400"/>
            <a:ext cx="777240" cy="457200"/>
          </a:xfrm>
          <a:prstGeom prst="rect">
            <a:avLst/>
          </a:prstGeom>
          <a:noFill/>
          <a:ln/>
        </p:spPr>
        <p:txBody>
          <a:bodyPr wrap="square" lIns="0" tIns="0" rIns="0" bIns="0" rtlCol="0" anchor="ctr"/>
          <a:lstStyle/>
          <a:p>
            <a:pPr algn="ctr" indent="0" marL="0">
              <a:buNone/>
            </a:pPr>
            <a:r>
              <a:rPr lang="en-US" sz="1400" b="1" dirty="0">
                <a:solidFill>
                  <a:schemeClr val="bg1"/>
                </a:solidFill>
              </a:rPr>
              <a:t>WAIT</a:t>
            </a:r>
            <a:endParaRPr lang="en-US" sz="1400" dirty="0"/>
          </a:p>
        </p:txBody>
      </p:sp>
      <p:sp>
        <p:nvSpPr>
          <p:cNvPr id="7" name="cue band ASIDE"/>
          <p:cNvSpPr/>
          <p:nvPr/>
        </p:nvSpPr>
        <p:spPr>
          <a:xfrm>
            <a:off x="10561320" y="0"/>
            <a:ext cx="777240" cy="6858000"/>
          </a:xfrm>
          <a:prstGeom prst="rect">
            <a:avLst/>
          </a:prstGeom>
          <a:solidFill>
            <a:schemeClr val="accent4"/>
          </a:solidFill>
          <a:ln w="12700">
            <a:solidFill>
              <a:schemeClr val="accent4"/>
            </a:solidFill>
            <a:prstDash val="solid"/>
          </a:ln>
        </p:spPr>
      </p:sp>
      <p:sp>
        <p:nvSpPr>
          <p:cNvPr id="8" name="cue label ASIDE"/>
          <p:cNvSpPr txBox="1"/>
          <p:nvPr/>
        </p:nvSpPr>
        <p:spPr>
          <a:xfrm>
            <a:off x="10561320" y="3200400"/>
            <a:ext cx="777240" cy="457200"/>
          </a:xfrm>
          <a:prstGeom prst="rect">
            <a:avLst/>
          </a:prstGeom>
          <a:noFill/>
          <a:ln/>
        </p:spPr>
        <p:txBody>
          <a:bodyPr wrap="square" lIns="0" tIns="0" rIns="0" bIns="0" rtlCol="0" anchor="ctr"/>
          <a:lstStyle/>
          <a:p>
            <a:pPr algn="ctr" indent="0" marL="0">
              <a:buNone/>
            </a:pPr>
            <a:r>
              <a:rPr lang="en-US" sz="1400" b="1" dirty="0">
                <a:solidFill>
                  <a:schemeClr val="bg1"/>
                </a:solidFill>
              </a:rPr>
              <a:t>ASIDE</a:t>
            </a:r>
            <a:endParaRPr lang="en-US" sz="1400" dirty="0"/>
          </a:p>
        </p:txBody>
      </p:sp>
      <p:sp>
        <p:nvSpPr>
          <p:cNvPr id="9" name="cue band GO"/>
          <p:cNvSpPr/>
          <p:nvPr/>
        </p:nvSpPr>
        <p:spPr>
          <a:xfrm>
            <a:off x="11338560" y="0"/>
            <a:ext cx="777240" cy="6858000"/>
          </a:xfrm>
          <a:prstGeom prst="rect">
            <a:avLst/>
          </a:prstGeom>
          <a:solidFill>
            <a:schemeClr val="accent5"/>
          </a:solidFill>
          <a:ln w="12700">
            <a:solidFill>
              <a:schemeClr val="accent5"/>
            </a:solidFill>
            <a:prstDash val="solid"/>
          </a:ln>
        </p:spPr>
      </p:sp>
      <p:sp>
        <p:nvSpPr>
          <p:cNvPr id="10" name="cue label GO"/>
          <p:cNvSpPr txBox="1"/>
          <p:nvPr/>
        </p:nvSpPr>
        <p:spPr>
          <a:xfrm>
            <a:off x="11338560" y="3200400"/>
            <a:ext cx="777240" cy="457200"/>
          </a:xfrm>
          <a:prstGeom prst="rect">
            <a:avLst/>
          </a:prstGeom>
          <a:noFill/>
          <a:ln/>
        </p:spPr>
        <p:txBody>
          <a:bodyPr wrap="square" lIns="0" tIns="0" rIns="0" bIns="0" rtlCol="0" anchor="ctr"/>
          <a:lstStyle/>
          <a:p>
            <a:pPr algn="ctr" indent="0" marL="0">
              <a:buNone/>
            </a:pPr>
            <a:r>
              <a:rPr lang="en-US" sz="1400" b="1" dirty="0">
                <a:solidFill>
                  <a:schemeClr val="bg1"/>
                </a:solidFill>
              </a:rPr>
              <a:t>GO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Summary</a:t>
            </a:r>
            <a:endParaRPr lang="en-US" sz="3000" dirty="0"/>
          </a:p>
        </p:txBody>
      </p:sp>
      <p:sp>
        <p:nvSpPr>
          <p:cNvPr id="3" name="summary card Use case"/>
          <p:cNvSpPr/>
          <p:nvPr/>
        </p:nvSpPr>
        <p:spPr>
          <a:xfrm>
            <a:off x="548640" y="1325880"/>
            <a:ext cx="5440680" cy="2286000"/>
          </a:xfrm>
          <a:prstGeom prst="roundRect">
            <a:avLst>
              <a:gd name="adj" fmla="val 3200"/>
            </a:avLst>
          </a:prstGeom>
          <a:solidFill>
            <a:schemeClr val="bg2"/>
          </a:solidFill>
          <a:ln w="12700">
            <a:solidFill>
              <a:schemeClr val="bg2"/>
            </a:solidFill>
            <a:prstDash val="solid"/>
          </a:ln>
        </p:spPr>
      </p:sp>
      <p:sp>
        <p:nvSpPr>
          <p:cNvPr id="4" name="summary head Use case"/>
          <p:cNvSpPr txBox="1"/>
          <p:nvPr/>
        </p:nvSpPr>
        <p:spPr>
          <a:xfrm>
            <a:off x="822960" y="1554480"/>
            <a:ext cx="4892040" cy="411480"/>
          </a:xfrm>
          <a:prstGeom prst="rect">
            <a:avLst/>
          </a:prstGeom>
          <a:noFill/>
          <a:ln/>
        </p:spPr>
        <p:txBody>
          <a:bodyPr wrap="square" lIns="0" tIns="0" rIns="0" bIns="0" rtlCol="0" anchor="ctr"/>
          <a:lstStyle/>
          <a:p>
            <a:pPr indent="0" marL="0">
              <a:buNone/>
            </a:pPr>
            <a:r>
              <a:rPr lang="en-US" sz="2000" b="1" dirty="0">
                <a:solidFill>
                  <a:schemeClr val="tx2"/>
                </a:solidFill>
              </a:rPr>
              <a:t>Use case</a:t>
            </a:r>
            <a:endParaRPr lang="en-US" sz="2000" dirty="0"/>
          </a:p>
        </p:txBody>
      </p:sp>
      <p:sp>
        <p:nvSpPr>
          <p:cNvPr id="5" name="summary body Use case"/>
          <p:cNvSpPr txBox="1"/>
          <p:nvPr/>
        </p:nvSpPr>
        <p:spPr>
          <a:xfrm>
            <a:off x="822960" y="2057400"/>
            <a:ext cx="4892040" cy="1371600"/>
          </a:xfrm>
          <a:prstGeom prst="rect">
            <a:avLst/>
          </a:prstGeom>
          <a:noFill/>
          <a:ln/>
        </p:spPr>
        <p:txBody>
          <a:bodyPr wrap="square" lIns="0" tIns="0" rIns="0" bIns="0" rtlCol="0" anchor="t"/>
          <a:lstStyle/>
          <a:p>
            <a:pPr indent="0" marL="0">
              <a:buNone/>
            </a:pPr>
            <a:r>
              <a:rPr lang="en-US" sz="1500" dirty="0">
                <a:solidFill>
                  <a:schemeClr val="tx1"/>
                </a:solidFill>
              </a:rPr>
              <a:t>Warehouse workers and forklifts share aisles. EdgeGuard predicts collisions 1–3 s ahead on the MEC edge and tells each worker WAIT, STEP ASIDE or GO, while the forklift slows only as much as needed.</a:t>
            </a:r>
            <a:endParaRPr lang="en-US" sz="1500" dirty="0"/>
          </a:p>
        </p:txBody>
      </p:sp>
      <p:sp>
        <p:nvSpPr>
          <p:cNvPr id="6" name="summary card Architecture"/>
          <p:cNvSpPr/>
          <p:nvPr/>
        </p:nvSpPr>
        <p:spPr>
          <a:xfrm>
            <a:off x="6172200" y="1325880"/>
            <a:ext cx="5440680" cy="2286000"/>
          </a:xfrm>
          <a:prstGeom prst="roundRect">
            <a:avLst>
              <a:gd name="adj" fmla="val 3200"/>
            </a:avLst>
          </a:prstGeom>
          <a:solidFill>
            <a:schemeClr val="bg2"/>
          </a:solidFill>
          <a:ln w="12700">
            <a:solidFill>
              <a:schemeClr val="bg2"/>
            </a:solidFill>
            <a:prstDash val="solid"/>
          </a:ln>
        </p:spPr>
      </p:sp>
      <p:sp>
        <p:nvSpPr>
          <p:cNvPr id="7" name="summary head Architecture"/>
          <p:cNvSpPr txBox="1"/>
          <p:nvPr/>
        </p:nvSpPr>
        <p:spPr>
          <a:xfrm>
            <a:off x="6446520" y="1554480"/>
            <a:ext cx="4892040" cy="411480"/>
          </a:xfrm>
          <a:prstGeom prst="rect">
            <a:avLst/>
          </a:prstGeom>
          <a:noFill/>
          <a:ln/>
        </p:spPr>
        <p:txBody>
          <a:bodyPr wrap="square" lIns="0" tIns="0" rIns="0" bIns="0" rtlCol="0" anchor="ctr"/>
          <a:lstStyle/>
          <a:p>
            <a:pPr indent="0" marL="0">
              <a:buNone/>
            </a:pPr>
            <a:r>
              <a:rPr lang="en-US" sz="2000" b="1" dirty="0">
                <a:solidFill>
                  <a:schemeClr val="tx2"/>
                </a:solidFill>
              </a:rPr>
              <a:t>Architecture</a:t>
            </a:r>
            <a:endParaRPr lang="en-US" sz="2000" dirty="0"/>
          </a:p>
        </p:txBody>
      </p:sp>
      <p:sp>
        <p:nvSpPr>
          <p:cNvPr id="8" name="summary body Architecture"/>
          <p:cNvSpPr txBox="1"/>
          <p:nvPr/>
        </p:nvSpPr>
        <p:spPr>
          <a:xfrm>
            <a:off x="6446520" y="2057400"/>
            <a:ext cx="4892040" cy="1371600"/>
          </a:xfrm>
          <a:prstGeom prst="rect">
            <a:avLst/>
          </a:prstGeom>
          <a:noFill/>
          <a:ln/>
        </p:spPr>
        <p:txBody>
          <a:bodyPr wrap="square" lIns="0" tIns="0" rIns="0" bIns="0" rtlCol="0" anchor="t"/>
          <a:lstStyle/>
          <a:p>
            <a:pPr indent="0" marL="0">
              <a:buNone/>
            </a:pPr>
            <a:r>
              <a:rPr lang="en-US" sz="1500" dirty="0">
                <a:solidFill>
                  <a:schemeClr val="tx1"/>
                </a:solidFill>
              </a:rPr>
              <a:t>Devices register their own oneM2M AEs on an edge CSE co-located with the EdgeGuard MEC app. ETSI MEC Location and RNIS reach the app as oneM2M resources through a MEC-IPE. Cloud IN-CSE via Mcc.</a:t>
            </a:r>
            <a:endParaRPr lang="en-US" sz="1500" dirty="0"/>
          </a:p>
        </p:txBody>
      </p:sp>
      <p:sp>
        <p:nvSpPr>
          <p:cNvPr id="9" name="summary card Status today"/>
          <p:cNvSpPr/>
          <p:nvPr/>
        </p:nvSpPr>
        <p:spPr>
          <a:xfrm>
            <a:off x="548640" y="3794760"/>
            <a:ext cx="5440680" cy="2286000"/>
          </a:xfrm>
          <a:prstGeom prst="roundRect">
            <a:avLst>
              <a:gd name="adj" fmla="val 3200"/>
            </a:avLst>
          </a:prstGeom>
          <a:solidFill>
            <a:schemeClr val="bg2"/>
          </a:solidFill>
          <a:ln w="12700">
            <a:solidFill>
              <a:schemeClr val="bg2"/>
            </a:solidFill>
            <a:prstDash val="solid"/>
          </a:ln>
        </p:spPr>
      </p:sp>
      <p:sp>
        <p:nvSpPr>
          <p:cNvPr id="10" name="summary head Status today"/>
          <p:cNvSpPr txBox="1"/>
          <p:nvPr/>
        </p:nvSpPr>
        <p:spPr>
          <a:xfrm>
            <a:off x="822960" y="4023360"/>
            <a:ext cx="4892040" cy="411480"/>
          </a:xfrm>
          <a:prstGeom prst="rect">
            <a:avLst/>
          </a:prstGeom>
          <a:noFill/>
          <a:ln/>
        </p:spPr>
        <p:txBody>
          <a:bodyPr wrap="square" lIns="0" tIns="0" rIns="0" bIns="0" rtlCol="0" anchor="ctr"/>
          <a:lstStyle/>
          <a:p>
            <a:pPr indent="0" marL="0">
              <a:buNone/>
            </a:pPr>
            <a:r>
              <a:rPr lang="en-US" sz="2000" b="1" dirty="0">
                <a:solidFill>
                  <a:schemeClr val="tx2"/>
                </a:solidFill>
              </a:rPr>
              <a:t>Status today</a:t>
            </a:r>
            <a:endParaRPr lang="en-US" sz="2000" dirty="0"/>
          </a:p>
        </p:txBody>
      </p:sp>
      <p:sp>
        <p:nvSpPr>
          <p:cNvPr id="11" name="summary body Status today"/>
          <p:cNvSpPr txBox="1"/>
          <p:nvPr/>
        </p:nvSpPr>
        <p:spPr>
          <a:xfrm>
            <a:off x="822960" y="4526280"/>
            <a:ext cx="4892040" cy="1371600"/>
          </a:xfrm>
          <a:prstGeom prst="rect">
            <a:avLst/>
          </a:prstGeom>
          <a:noFill/>
          <a:ln/>
        </p:spPr>
        <p:txBody>
          <a:bodyPr wrap="square" lIns="0" tIns="0" rIns="0" bIns="0" rtlCol="0" anchor="t"/>
          <a:lstStyle/>
          <a:p>
            <a:pPr indent="0" marL="0">
              <a:buNone/>
            </a:pPr>
            <a:r>
              <a:rPr lang="en-US" sz="1500" dirty="0">
                <a:solidFill>
                  <a:schemeClr val="tx1"/>
                </a:solidFill>
              </a:rPr>
              <a:t>Working end to end on Mobius and ACME. Already built: SDT flexContainer data model with SAREF semantics, CSE handover between zone MN-CSEs (3–9 ms interruption), federated learning through oneM2M, an AI safety agent over MCP. Collisions 100 → 4 in simulation.</a:t>
            </a:r>
            <a:endParaRPr lang="en-US" sz="1500" dirty="0"/>
          </a:p>
        </p:txBody>
      </p:sp>
      <p:sp>
        <p:nvSpPr>
          <p:cNvPr id="12" name="summary card Plan to Nov 20"/>
          <p:cNvSpPr/>
          <p:nvPr/>
        </p:nvSpPr>
        <p:spPr>
          <a:xfrm>
            <a:off x="6172200" y="3794760"/>
            <a:ext cx="5440680" cy="2286000"/>
          </a:xfrm>
          <a:prstGeom prst="roundRect">
            <a:avLst>
              <a:gd name="adj" fmla="val 3200"/>
            </a:avLst>
          </a:prstGeom>
          <a:solidFill>
            <a:schemeClr val="bg2"/>
          </a:solidFill>
          <a:ln w="12700">
            <a:solidFill>
              <a:schemeClr val="bg2"/>
            </a:solidFill>
            <a:prstDash val="solid"/>
          </a:ln>
        </p:spPr>
      </p:sp>
      <p:sp>
        <p:nvSpPr>
          <p:cNvPr id="13" name="summary head Plan to Nov 20"/>
          <p:cNvSpPr txBox="1"/>
          <p:nvPr/>
        </p:nvSpPr>
        <p:spPr>
          <a:xfrm>
            <a:off x="6446520" y="4023360"/>
            <a:ext cx="4892040" cy="411480"/>
          </a:xfrm>
          <a:prstGeom prst="rect">
            <a:avLst/>
          </a:prstGeom>
          <a:noFill/>
          <a:ln/>
        </p:spPr>
        <p:txBody>
          <a:bodyPr wrap="square" lIns="0" tIns="0" rIns="0" bIns="0" rtlCol="0" anchor="ctr"/>
          <a:lstStyle/>
          <a:p>
            <a:pPr indent="0" marL="0">
              <a:buNone/>
            </a:pPr>
            <a:r>
              <a:rPr lang="en-US" sz="2000" b="1" dirty="0">
                <a:solidFill>
                  <a:schemeClr val="accent2"/>
                </a:solidFill>
              </a:rPr>
              <a:t>Plan to Nov 20</a:t>
            </a:r>
            <a:endParaRPr lang="en-US" sz="2000" dirty="0"/>
          </a:p>
        </p:txBody>
      </p:sp>
      <p:sp>
        <p:nvSpPr>
          <p:cNvPr id="14" name="summary body Plan to Nov 20"/>
          <p:cNvSpPr txBox="1"/>
          <p:nvPr/>
        </p:nvSpPr>
        <p:spPr>
          <a:xfrm>
            <a:off x="6446520" y="4526280"/>
            <a:ext cx="4892040" cy="1371600"/>
          </a:xfrm>
          <a:prstGeom prst="rect">
            <a:avLst/>
          </a:prstGeom>
          <a:noFill/>
          <a:ln/>
        </p:spPr>
        <p:txBody>
          <a:bodyPr wrap="square" lIns="0" tIns="0" rIns="0" bIns="0" rtlCol="0" anchor="t"/>
          <a:lstStyle/>
          <a:p>
            <a:pPr indent="0" marL="0">
              <a:buNone/>
            </a:pPr>
            <a:r>
              <a:rPr lang="en-US" sz="1500" dirty="0">
                <a:solidFill>
                  <a:schemeClr val="tx1"/>
                </a:solidFill>
              </a:rPr>
              <a:t>group and pollingChannel, MQTT for devices and TLS; MEC Location zone events for geofencing and handover; multi-host deployment; ESP32 board demo, user study, hackster.io article, final video, public repository.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Problem: forklifts and people share the same aisles</a:t>
            </a:r>
            <a:endParaRPr lang="en-US" sz="3000" dirty="0"/>
          </a:p>
        </p:txBody>
      </p:sp>
      <p:sp>
        <p:nvSpPr>
          <p:cNvPr id="3" name="stat card 0"/>
          <p:cNvSpPr/>
          <p:nvPr/>
        </p:nvSpPr>
        <p:spPr>
          <a:xfrm>
            <a:off x="548640" y="1371600"/>
            <a:ext cx="3566160" cy="3108960"/>
          </a:xfrm>
          <a:prstGeom prst="roundRect">
            <a:avLst>
              <a:gd name="adj" fmla="val 2353"/>
            </a:avLst>
          </a:prstGeom>
          <a:solidFill>
            <a:schemeClr val="bg2"/>
          </a:solidFill>
          <a:ln w="12700">
            <a:solidFill>
              <a:schemeClr val="bg2"/>
            </a:solidFill>
            <a:prstDash val="solid"/>
          </a:ln>
        </p:spPr>
      </p:sp>
      <p:sp>
        <p:nvSpPr>
          <p:cNvPr id="4" name="stat number 0"/>
          <p:cNvSpPr txBox="1"/>
          <p:nvPr/>
        </p:nvSpPr>
        <p:spPr>
          <a:xfrm>
            <a:off x="822960" y="1645920"/>
            <a:ext cx="3017520" cy="914400"/>
          </a:xfrm>
          <a:prstGeom prst="rect">
            <a:avLst/>
          </a:prstGeom>
          <a:noFill/>
          <a:ln/>
        </p:spPr>
        <p:txBody>
          <a:bodyPr wrap="square" lIns="0" tIns="0" rIns="0" bIns="0" rtlCol="0" anchor="ctr"/>
          <a:lstStyle/>
          <a:p>
            <a:pPr indent="0" marL="0">
              <a:buNone/>
            </a:pPr>
            <a:r>
              <a:rPr lang="en-US" sz="4400" b="1" dirty="0">
                <a:solidFill>
                  <a:schemeClr val="accent3"/>
                </a:solidFill>
                <a:latin typeface="Arial" pitchFamily="34" charset="0"/>
                <a:ea typeface="Arial" pitchFamily="34" charset="-122"/>
                <a:cs typeface="Arial" pitchFamily="34" charset="-120"/>
              </a:rPr>
              <a:t>2,559</a:t>
            </a:r>
            <a:endParaRPr lang="en-US" sz="4400" dirty="0"/>
          </a:p>
        </p:txBody>
      </p:sp>
      <p:sp>
        <p:nvSpPr>
          <p:cNvPr id="5" name="stat label 0"/>
          <p:cNvSpPr txBox="1"/>
          <p:nvPr/>
        </p:nvSpPr>
        <p:spPr>
          <a:xfrm>
            <a:off x="822960" y="2651760"/>
            <a:ext cx="3017520" cy="1097280"/>
          </a:xfrm>
          <a:prstGeom prst="rect">
            <a:avLst/>
          </a:prstGeom>
          <a:noFill/>
          <a:ln/>
        </p:spPr>
        <p:txBody>
          <a:bodyPr wrap="square" lIns="0" tIns="0" rIns="0" bIns="0" rtlCol="0" anchor="t"/>
          <a:lstStyle/>
          <a:p>
            <a:pPr indent="0" marL="0">
              <a:buNone/>
            </a:pPr>
            <a:r>
              <a:rPr lang="en-US" sz="1600" dirty="0">
                <a:solidFill>
                  <a:schemeClr val="tx1"/>
                </a:solidFill>
              </a:rPr>
              <a:t>forklift accident casualties in Korea, 2021–2022</a:t>
            </a:r>
            <a:endParaRPr lang="en-US" sz="1600" dirty="0"/>
          </a:p>
        </p:txBody>
      </p:sp>
      <p:sp>
        <p:nvSpPr>
          <p:cNvPr id="6" name="stat source 0"/>
          <p:cNvSpPr txBox="1"/>
          <p:nvPr/>
        </p:nvSpPr>
        <p:spPr>
          <a:xfrm>
            <a:off x="822960" y="3977640"/>
            <a:ext cx="3017520" cy="320040"/>
          </a:xfrm>
          <a:prstGeom prst="rect">
            <a:avLst/>
          </a:prstGeom>
          <a:noFill/>
          <a:ln/>
        </p:spPr>
        <p:txBody>
          <a:bodyPr wrap="square" lIns="0" tIns="0" rIns="0" bIns="0" rtlCol="0" anchor="ctr"/>
          <a:lstStyle/>
          <a:p>
            <a:pPr indent="0" marL="0">
              <a:buNone/>
            </a:pPr>
            <a:r>
              <a:rPr lang="en-US" sz="1100" dirty="0">
                <a:solidFill>
                  <a:schemeClr val="accent6"/>
                </a:solidFill>
              </a:rPr>
              <a:t>KOSHA statistics</a:t>
            </a:r>
            <a:endParaRPr lang="en-US" sz="1100" dirty="0"/>
          </a:p>
        </p:txBody>
      </p:sp>
      <p:sp>
        <p:nvSpPr>
          <p:cNvPr id="7" name="stat card 1"/>
          <p:cNvSpPr/>
          <p:nvPr/>
        </p:nvSpPr>
        <p:spPr>
          <a:xfrm>
            <a:off x="4297680" y="1371600"/>
            <a:ext cx="3566160" cy="3108960"/>
          </a:xfrm>
          <a:prstGeom prst="roundRect">
            <a:avLst>
              <a:gd name="adj" fmla="val 2353"/>
            </a:avLst>
          </a:prstGeom>
          <a:solidFill>
            <a:schemeClr val="bg2"/>
          </a:solidFill>
          <a:ln w="12700">
            <a:solidFill>
              <a:schemeClr val="bg2"/>
            </a:solidFill>
            <a:prstDash val="solid"/>
          </a:ln>
        </p:spPr>
      </p:sp>
      <p:sp>
        <p:nvSpPr>
          <p:cNvPr id="8" name="stat number 1"/>
          <p:cNvSpPr txBox="1"/>
          <p:nvPr/>
        </p:nvSpPr>
        <p:spPr>
          <a:xfrm>
            <a:off x="4572000" y="1645920"/>
            <a:ext cx="3017520" cy="914400"/>
          </a:xfrm>
          <a:prstGeom prst="rect">
            <a:avLst/>
          </a:prstGeom>
          <a:noFill/>
          <a:ln/>
        </p:spPr>
        <p:txBody>
          <a:bodyPr wrap="square" lIns="0" tIns="0" rIns="0" bIns="0" rtlCol="0" anchor="ctr"/>
          <a:lstStyle/>
          <a:p>
            <a:pPr indent="0" marL="0">
              <a:buNone/>
            </a:pPr>
            <a:r>
              <a:rPr lang="en-US" sz="4400" b="1" dirty="0">
                <a:solidFill>
                  <a:schemeClr val="accent3"/>
                </a:solidFill>
                <a:latin typeface="Arial" pitchFamily="34" charset="0"/>
                <a:ea typeface="Arial" pitchFamily="34" charset="-122"/>
                <a:cs typeface="Arial" pitchFamily="34" charset="-120"/>
              </a:rPr>
              <a:t>USD 116k</a:t>
            </a:r>
            <a:endParaRPr lang="en-US" sz="4400" dirty="0"/>
          </a:p>
        </p:txBody>
      </p:sp>
      <p:sp>
        <p:nvSpPr>
          <p:cNvPr id="9" name="stat label 1"/>
          <p:cNvSpPr txBox="1"/>
          <p:nvPr/>
        </p:nvSpPr>
        <p:spPr>
          <a:xfrm>
            <a:off x="4572000" y="2651760"/>
            <a:ext cx="3017520" cy="1097280"/>
          </a:xfrm>
          <a:prstGeom prst="rect">
            <a:avLst/>
          </a:prstGeom>
          <a:noFill/>
          <a:ln/>
        </p:spPr>
        <p:txBody>
          <a:bodyPr wrap="square" lIns="0" tIns="0" rIns="0" bIns="0" rtlCol="0" anchor="t"/>
          <a:lstStyle/>
          <a:p>
            <a:pPr indent="0" marL="0">
              <a:buNone/>
            </a:pPr>
            <a:r>
              <a:rPr lang="en-US" sz="1600" dirty="0">
                <a:solidFill>
                  <a:schemeClr val="tx1"/>
                </a:solidFill>
              </a:rPr>
              <a:t>total cost of one workplace injury, including indirect costs</a:t>
            </a:r>
            <a:endParaRPr lang="en-US" sz="1600" dirty="0"/>
          </a:p>
        </p:txBody>
      </p:sp>
      <p:sp>
        <p:nvSpPr>
          <p:cNvPr id="10" name="stat source 1"/>
          <p:cNvSpPr txBox="1"/>
          <p:nvPr/>
        </p:nvSpPr>
        <p:spPr>
          <a:xfrm>
            <a:off x="4572000" y="3977640"/>
            <a:ext cx="3017520" cy="320040"/>
          </a:xfrm>
          <a:prstGeom prst="rect">
            <a:avLst/>
          </a:prstGeom>
          <a:noFill/>
          <a:ln/>
        </p:spPr>
        <p:txBody>
          <a:bodyPr wrap="square" lIns="0" tIns="0" rIns="0" bIns="0" rtlCol="0" anchor="ctr"/>
          <a:lstStyle/>
          <a:p>
            <a:pPr indent="0" marL="0">
              <a:buNone/>
            </a:pPr>
            <a:r>
              <a:rPr lang="en-US" sz="1100" dirty="0">
                <a:solidFill>
                  <a:schemeClr val="accent6"/>
                </a:solidFill>
              </a:rPr>
              <a:t>NSC Injury Facts · OSHA 3885</a:t>
            </a:r>
            <a:endParaRPr lang="en-US" sz="1100" dirty="0"/>
          </a:p>
        </p:txBody>
      </p:sp>
      <p:sp>
        <p:nvSpPr>
          <p:cNvPr id="11" name="stat card 2"/>
          <p:cNvSpPr/>
          <p:nvPr/>
        </p:nvSpPr>
        <p:spPr>
          <a:xfrm>
            <a:off x="8046720" y="1371600"/>
            <a:ext cx="3566160" cy="3108960"/>
          </a:xfrm>
          <a:prstGeom prst="roundRect">
            <a:avLst>
              <a:gd name="adj" fmla="val 2353"/>
            </a:avLst>
          </a:prstGeom>
          <a:solidFill>
            <a:schemeClr val="bg2"/>
          </a:solidFill>
          <a:ln w="12700">
            <a:solidFill>
              <a:schemeClr val="bg2"/>
            </a:solidFill>
            <a:prstDash val="solid"/>
          </a:ln>
        </p:spPr>
      </p:sp>
      <p:sp>
        <p:nvSpPr>
          <p:cNvPr id="12" name="stat number 2"/>
          <p:cNvSpPr txBox="1"/>
          <p:nvPr/>
        </p:nvSpPr>
        <p:spPr>
          <a:xfrm>
            <a:off x="8321040" y="1645920"/>
            <a:ext cx="3017520" cy="914400"/>
          </a:xfrm>
          <a:prstGeom prst="rect">
            <a:avLst/>
          </a:prstGeom>
          <a:noFill/>
          <a:ln/>
        </p:spPr>
        <p:txBody>
          <a:bodyPr wrap="square" lIns="0" tIns="0" rIns="0" bIns="0" rtlCol="0" anchor="ctr"/>
          <a:lstStyle/>
          <a:p>
            <a:pPr indent="0" marL="0">
              <a:buNone/>
            </a:pPr>
            <a:r>
              <a:rPr lang="en-US" sz="4400" b="1" dirty="0">
                <a:solidFill>
                  <a:schemeClr val="accent3"/>
                </a:solidFill>
                <a:latin typeface="Arial" pitchFamily="34" charset="0"/>
                <a:ea typeface="Arial" pitchFamily="34" charset="-122"/>
                <a:cs typeface="Arial" pitchFamily="34" charset="-120"/>
              </a:rPr>
              <a:t>85 %</a:t>
            </a:r>
            <a:endParaRPr lang="en-US" sz="4400" dirty="0"/>
          </a:p>
        </p:txBody>
      </p:sp>
      <p:sp>
        <p:nvSpPr>
          <p:cNvPr id="13" name="stat label 2"/>
          <p:cNvSpPr txBox="1"/>
          <p:nvPr/>
        </p:nvSpPr>
        <p:spPr>
          <a:xfrm>
            <a:off x="8321040" y="2651760"/>
            <a:ext cx="3017520" cy="1097280"/>
          </a:xfrm>
          <a:prstGeom prst="rect">
            <a:avLst/>
          </a:prstGeom>
          <a:noFill/>
          <a:ln/>
        </p:spPr>
        <p:txBody>
          <a:bodyPr wrap="square" lIns="0" tIns="0" rIns="0" bIns="0" rtlCol="0" anchor="t"/>
          <a:lstStyle/>
          <a:p>
            <a:pPr indent="0" marL="0">
              <a:buNone/>
            </a:pPr>
            <a:r>
              <a:rPr lang="en-US" sz="1600" dirty="0">
                <a:solidFill>
                  <a:schemeClr val="tx1"/>
                </a:solidFill>
              </a:rPr>
              <a:t>of alerts from a 5 m proximity alarm are false, so workers learn to ignore them</a:t>
            </a:r>
            <a:endParaRPr lang="en-US" sz="1600" dirty="0"/>
          </a:p>
        </p:txBody>
      </p:sp>
      <p:sp>
        <p:nvSpPr>
          <p:cNvPr id="14" name="stat source 2"/>
          <p:cNvSpPr txBox="1"/>
          <p:nvPr/>
        </p:nvSpPr>
        <p:spPr>
          <a:xfrm>
            <a:off x="8321040" y="3977640"/>
            <a:ext cx="3017520" cy="320040"/>
          </a:xfrm>
          <a:prstGeom prst="rect">
            <a:avLst/>
          </a:prstGeom>
          <a:noFill/>
          <a:ln/>
        </p:spPr>
        <p:txBody>
          <a:bodyPr wrap="square" lIns="0" tIns="0" rIns="0" bIns="0" rtlCol="0" anchor="ctr"/>
          <a:lstStyle/>
          <a:p>
            <a:pPr indent="0" marL="0">
              <a:buNone/>
            </a:pPr>
            <a:r>
              <a:rPr lang="en-US" sz="1100" dirty="0">
                <a:solidFill>
                  <a:schemeClr val="accent6"/>
                </a:solidFill>
              </a:rPr>
              <a:t>EdgeGuard simulation baseline</a:t>
            </a:r>
            <a:endParaRPr lang="en-US" sz="1100" dirty="0"/>
          </a:p>
        </p:txBody>
      </p:sp>
      <p:sp>
        <p:nvSpPr>
          <p:cNvPr id="15" name="gap statement"/>
          <p:cNvSpPr txBox="1"/>
          <p:nvPr/>
        </p:nvSpPr>
        <p:spPr>
          <a:xfrm>
            <a:off x="548640" y="4800600"/>
            <a:ext cx="11064240" cy="1188720"/>
          </a:xfrm>
          <a:prstGeom prst="rect">
            <a:avLst/>
          </a:prstGeom>
          <a:noFill/>
          <a:ln/>
        </p:spPr>
        <p:txBody>
          <a:bodyPr wrap="square" lIns="0" tIns="0" rIns="0" bIns="0" rtlCol="0" anchor="t"/>
          <a:lstStyle/>
          <a:p>
            <a:pPr indent="0" marL="0">
              <a:buNone/>
            </a:pPr>
            <a:r>
              <a:rPr lang="en-US" sz="1600" b="1" dirty="0">
                <a:solidFill>
                  <a:schemeClr val="tx2"/>
                </a:solidFill>
              </a:rPr>
              <a:t>Why existing systems fall short: </a:t>
            </a:r>
            <a:pPr indent="0" marL="0">
              <a:buNone/>
            </a:pPr>
            <a:r>
              <a:rPr lang="en-US" sz="1600" dirty="0">
                <a:solidFill>
                  <a:schemeClr val="tx1"/>
                </a:solidFill>
              </a:rPr>
              <a:t>distance alarms fire on forklifts that will pass safely; a single buzz says "danger" but not what to do, so workers step back into the lane too early; and server-based systems go silent when the network fails.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Use-case scenario: three moments in a warehouse aisle</a:t>
            </a:r>
            <a:endParaRPr lang="en-US" sz="3000" dirty="0"/>
          </a:p>
        </p:txBody>
      </p:sp>
      <p:sp>
        <p:nvSpPr>
          <p:cNvPr id="3" name="scenario card 0"/>
          <p:cNvSpPr/>
          <p:nvPr/>
        </p:nvSpPr>
        <p:spPr>
          <a:xfrm>
            <a:off x="548640" y="1325880"/>
            <a:ext cx="3566160" cy="4206240"/>
          </a:xfrm>
          <a:prstGeom prst="roundRect">
            <a:avLst>
              <a:gd name="adj" fmla="val 2051"/>
            </a:avLst>
          </a:prstGeom>
          <a:solidFill>
            <a:schemeClr val="bg2"/>
          </a:solidFill>
          <a:ln w="12700">
            <a:solidFill>
              <a:schemeClr val="bg2"/>
            </a:solidFill>
            <a:prstDash val="solid"/>
          </a:ln>
        </p:spPr>
      </p:sp>
      <p:pic>
        <p:nvPicPr>
          <p:cNvPr id="4" name="scenario icon 0" descr="preencoded.png">    </p:cNvPr>
          <p:cNvPicPr>
            <a:picLocks noChangeAspect="1"/>
          </p:cNvPicPr>
          <p:nvPr/>
        </p:nvPicPr>
        <p:blipFill>
          <a:blip r:embed="rId1"/>
          <a:stretch>
            <a:fillRect/>
          </a:stretch>
        </p:blipFill>
        <p:spPr>
          <a:xfrm>
            <a:off x="822960" y="1554480"/>
            <a:ext cx="548640" cy="548640"/>
          </a:xfrm>
          <a:prstGeom prst="rect">
            <a:avLst/>
          </a:prstGeom>
        </p:spPr>
      </p:pic>
      <p:sp>
        <p:nvSpPr>
          <p:cNvPr id="5" name="scenario head 0"/>
          <p:cNvSpPr txBox="1"/>
          <p:nvPr/>
        </p:nvSpPr>
        <p:spPr>
          <a:xfrm>
            <a:off x="822960" y="2240280"/>
            <a:ext cx="3017520" cy="411480"/>
          </a:xfrm>
          <a:prstGeom prst="rect">
            <a:avLst/>
          </a:prstGeom>
          <a:noFill/>
          <a:ln/>
        </p:spPr>
        <p:txBody>
          <a:bodyPr wrap="square" lIns="0" tIns="0" rIns="0" bIns="0" rtlCol="0" anchor="ctr"/>
          <a:lstStyle/>
          <a:p>
            <a:pPr indent="0" marL="0">
              <a:buNone/>
            </a:pPr>
            <a:r>
              <a:rPr lang="en-US" sz="1800" b="1" dirty="0">
                <a:solidFill>
                  <a:schemeClr val="tx2"/>
                </a:solidFill>
              </a:rPr>
              <a:t>1 · Blind-corner crossing</a:t>
            </a:r>
            <a:endParaRPr lang="en-US" sz="1800" dirty="0"/>
          </a:p>
        </p:txBody>
      </p:sp>
      <p:sp>
        <p:nvSpPr>
          <p:cNvPr id="6" name="scenario situation 0"/>
          <p:cNvSpPr txBox="1"/>
          <p:nvPr/>
        </p:nvSpPr>
        <p:spPr>
          <a:xfrm>
            <a:off x="822960" y="2697480"/>
            <a:ext cx="3017520" cy="914400"/>
          </a:xfrm>
          <a:prstGeom prst="rect">
            <a:avLst/>
          </a:prstGeom>
          <a:noFill/>
          <a:ln/>
        </p:spPr>
        <p:txBody>
          <a:bodyPr wrap="square" lIns="0" tIns="0" rIns="0" bIns="0" rtlCol="0" anchor="t"/>
          <a:lstStyle/>
          <a:p>
            <a:pPr indent="0" marL="0">
              <a:buNone/>
            </a:pPr>
            <a:r>
              <a:rPr lang="en-US" sz="1400" dirty="0">
                <a:solidFill>
                  <a:schemeClr val="accent6"/>
                </a:solidFill>
              </a:rPr>
              <a:t>A worker walks toward a cross-aisle; a forklift approaches behind racks.</a:t>
            </a:r>
            <a:endParaRPr lang="en-US" sz="1400" dirty="0"/>
          </a:p>
        </p:txBody>
      </p:sp>
      <p:sp>
        <p:nvSpPr>
          <p:cNvPr id="7" name="scenario response 0"/>
          <p:cNvSpPr txBox="1"/>
          <p:nvPr/>
        </p:nvSpPr>
        <p:spPr>
          <a:xfrm>
            <a:off x="822960" y="3657600"/>
            <a:ext cx="3017520" cy="1737360"/>
          </a:xfrm>
          <a:prstGeom prst="rect">
            <a:avLst/>
          </a:prstGeom>
          <a:noFill/>
          <a:ln/>
        </p:spPr>
        <p:txBody>
          <a:bodyPr wrap="square" lIns="0" tIns="0" rIns="0" bIns="0" rtlCol="0" anchor="t"/>
          <a:lstStyle/>
          <a:p>
            <a:pPr indent="0" marL="0">
              <a:buNone/>
            </a:pPr>
            <a:r>
              <a:rPr lang="en-US" sz="1500" dirty="0">
                <a:solidFill>
                  <a:schemeClr val="tx1"/>
                </a:solidFill>
              </a:rPr>
              <a:t>Tag: WAIT (pulses until the forklift passes) → GO.</a:t>
            </a:r>
            <a:endParaRPr lang="en-US" sz="1500" dirty="0"/>
          </a:p>
          <a:p>
            <a:pPr indent="0" marL="0">
              <a:buNone/>
            </a:pPr>
            <a:r>
              <a:rPr lang="en-US" sz="1500" dirty="0">
                <a:solidFill>
                  <a:schemeClr val="tx1"/>
                </a:solidFill>
              </a:rPr>
              <a:t>Forklift: slowed just enough to pass safely.</a:t>
            </a:r>
            <a:endParaRPr lang="en-US" sz="1500" dirty="0"/>
          </a:p>
        </p:txBody>
      </p:sp>
      <p:sp>
        <p:nvSpPr>
          <p:cNvPr id="8" name="scenario card 1"/>
          <p:cNvSpPr/>
          <p:nvPr/>
        </p:nvSpPr>
        <p:spPr>
          <a:xfrm>
            <a:off x="4297680" y="1325880"/>
            <a:ext cx="3566160" cy="4206240"/>
          </a:xfrm>
          <a:prstGeom prst="roundRect">
            <a:avLst>
              <a:gd name="adj" fmla="val 2051"/>
            </a:avLst>
          </a:prstGeom>
          <a:solidFill>
            <a:schemeClr val="bg2"/>
          </a:solidFill>
          <a:ln w="12700">
            <a:solidFill>
              <a:schemeClr val="bg2"/>
            </a:solidFill>
            <a:prstDash val="solid"/>
          </a:ln>
        </p:spPr>
      </p:sp>
      <p:pic>
        <p:nvPicPr>
          <p:cNvPr id="9" name="scenario icon 1" descr="preencoded.png">    </p:cNvPr>
          <p:cNvPicPr>
            <a:picLocks noChangeAspect="1"/>
          </p:cNvPicPr>
          <p:nvPr/>
        </p:nvPicPr>
        <p:blipFill>
          <a:blip r:embed="rId2"/>
          <a:stretch>
            <a:fillRect/>
          </a:stretch>
        </p:blipFill>
        <p:spPr>
          <a:xfrm>
            <a:off x="4572000" y="1554480"/>
            <a:ext cx="548640" cy="548640"/>
          </a:xfrm>
          <a:prstGeom prst="rect">
            <a:avLst/>
          </a:prstGeom>
        </p:spPr>
      </p:pic>
      <p:sp>
        <p:nvSpPr>
          <p:cNvPr id="10" name="scenario head 1"/>
          <p:cNvSpPr txBox="1"/>
          <p:nvPr/>
        </p:nvSpPr>
        <p:spPr>
          <a:xfrm>
            <a:off x="4572000" y="2240280"/>
            <a:ext cx="3017520" cy="411480"/>
          </a:xfrm>
          <a:prstGeom prst="rect">
            <a:avLst/>
          </a:prstGeom>
          <a:noFill/>
          <a:ln/>
        </p:spPr>
        <p:txBody>
          <a:bodyPr wrap="square" lIns="0" tIns="0" rIns="0" bIns="0" rtlCol="0" anchor="ctr"/>
          <a:lstStyle/>
          <a:p>
            <a:pPr indent="0" marL="0">
              <a:buNone/>
            </a:pPr>
            <a:r>
              <a:rPr lang="en-US" sz="1800" b="1" dirty="0">
                <a:solidFill>
                  <a:schemeClr val="tx2"/>
                </a:solidFill>
              </a:rPr>
              <a:t>2 · Worker standing in the lane</a:t>
            </a:r>
            <a:endParaRPr lang="en-US" sz="1800" dirty="0"/>
          </a:p>
        </p:txBody>
      </p:sp>
      <p:sp>
        <p:nvSpPr>
          <p:cNvPr id="11" name="scenario situation 1"/>
          <p:cNvSpPr txBox="1"/>
          <p:nvPr/>
        </p:nvSpPr>
        <p:spPr>
          <a:xfrm>
            <a:off x="4572000" y="2697480"/>
            <a:ext cx="3017520" cy="914400"/>
          </a:xfrm>
          <a:prstGeom prst="rect">
            <a:avLst/>
          </a:prstGeom>
          <a:noFill/>
          <a:ln/>
        </p:spPr>
        <p:txBody>
          <a:bodyPr wrap="square" lIns="0" tIns="0" rIns="0" bIns="0" rtlCol="0" anchor="t"/>
          <a:lstStyle/>
          <a:p>
            <a:pPr indent="0" marL="0">
              <a:buNone/>
            </a:pPr>
            <a:r>
              <a:rPr lang="en-US" sz="1400" dirty="0">
                <a:solidFill>
                  <a:schemeClr val="accent6"/>
                </a:solidFill>
              </a:rPr>
              <a:t>The forklift stopped for a worker who is standing in its path; nobody can move.</a:t>
            </a:r>
            <a:endParaRPr lang="en-US" sz="1400" dirty="0"/>
          </a:p>
        </p:txBody>
      </p:sp>
      <p:sp>
        <p:nvSpPr>
          <p:cNvPr id="12" name="scenario response 1"/>
          <p:cNvSpPr txBox="1"/>
          <p:nvPr/>
        </p:nvSpPr>
        <p:spPr>
          <a:xfrm>
            <a:off x="4572000" y="3657600"/>
            <a:ext cx="3017520" cy="1737360"/>
          </a:xfrm>
          <a:prstGeom prst="rect">
            <a:avLst/>
          </a:prstGeom>
          <a:noFill/>
          <a:ln/>
        </p:spPr>
        <p:txBody>
          <a:bodyPr wrap="square" lIns="0" tIns="0" rIns="0" bIns="0" rtlCol="0" anchor="t"/>
          <a:lstStyle/>
          <a:p>
            <a:pPr indent="0" marL="0">
              <a:buNone/>
            </a:pPr>
            <a:r>
              <a:rPr lang="en-US" sz="1500" dirty="0">
                <a:solidFill>
                  <a:schemeClr val="tx1"/>
                </a:solidFill>
              </a:rPr>
              <a:t>Tag: STEP ASIDE to the nearer edge, then WAIT.</a:t>
            </a:r>
            <a:endParaRPr lang="en-US" sz="1500" dirty="0"/>
          </a:p>
          <a:p>
            <a:pPr indent="0" marL="0">
              <a:buNone/>
            </a:pPr>
            <a:r>
              <a:rPr lang="en-US" sz="1500" dirty="0">
                <a:solidFill>
                  <a:schemeClr val="tx1"/>
                </a:solidFill>
              </a:rPr>
              <a:t>Forklift: holds, then passes; worker gets GO.</a:t>
            </a:r>
            <a:endParaRPr lang="en-US" sz="1500" dirty="0"/>
          </a:p>
        </p:txBody>
      </p:sp>
      <p:sp>
        <p:nvSpPr>
          <p:cNvPr id="13" name="scenario card 2"/>
          <p:cNvSpPr/>
          <p:nvPr/>
        </p:nvSpPr>
        <p:spPr>
          <a:xfrm>
            <a:off x="8046720" y="1325880"/>
            <a:ext cx="3566160" cy="4206240"/>
          </a:xfrm>
          <a:prstGeom prst="roundRect">
            <a:avLst>
              <a:gd name="adj" fmla="val 2051"/>
            </a:avLst>
          </a:prstGeom>
          <a:solidFill>
            <a:schemeClr val="bg2"/>
          </a:solidFill>
          <a:ln w="12700">
            <a:solidFill>
              <a:schemeClr val="bg2"/>
            </a:solidFill>
            <a:prstDash val="solid"/>
          </a:ln>
        </p:spPr>
      </p:sp>
      <p:pic>
        <p:nvPicPr>
          <p:cNvPr id="14" name="scenario icon 2" descr="preencoded.png">    </p:cNvPr>
          <p:cNvPicPr>
            <a:picLocks noChangeAspect="1"/>
          </p:cNvPicPr>
          <p:nvPr/>
        </p:nvPicPr>
        <p:blipFill>
          <a:blip r:embed="rId3"/>
          <a:stretch>
            <a:fillRect/>
          </a:stretch>
        </p:blipFill>
        <p:spPr>
          <a:xfrm>
            <a:off x="8321040" y="1554480"/>
            <a:ext cx="548640" cy="548640"/>
          </a:xfrm>
          <a:prstGeom prst="rect">
            <a:avLst/>
          </a:prstGeom>
        </p:spPr>
      </p:pic>
      <p:sp>
        <p:nvSpPr>
          <p:cNvPr id="15" name="scenario head 2"/>
          <p:cNvSpPr txBox="1"/>
          <p:nvPr/>
        </p:nvSpPr>
        <p:spPr>
          <a:xfrm>
            <a:off x="8321040" y="2240280"/>
            <a:ext cx="3017520" cy="411480"/>
          </a:xfrm>
          <a:prstGeom prst="rect">
            <a:avLst/>
          </a:prstGeom>
          <a:noFill/>
          <a:ln/>
        </p:spPr>
        <p:txBody>
          <a:bodyPr wrap="square" lIns="0" tIns="0" rIns="0" bIns="0" rtlCol="0" anchor="ctr"/>
          <a:lstStyle/>
          <a:p>
            <a:pPr indent="0" marL="0">
              <a:buNone/>
            </a:pPr>
            <a:r>
              <a:rPr lang="en-US" sz="1800" b="1" dirty="0">
                <a:solidFill>
                  <a:schemeClr val="tx2"/>
                </a:solidFill>
              </a:rPr>
              <a:t>3 · Network or server failure</a:t>
            </a:r>
            <a:endParaRPr lang="en-US" sz="1800" dirty="0"/>
          </a:p>
        </p:txBody>
      </p:sp>
      <p:sp>
        <p:nvSpPr>
          <p:cNvPr id="16" name="scenario situation 2"/>
          <p:cNvSpPr txBox="1"/>
          <p:nvPr/>
        </p:nvSpPr>
        <p:spPr>
          <a:xfrm>
            <a:off x="8321040" y="2697480"/>
            <a:ext cx="3017520" cy="914400"/>
          </a:xfrm>
          <a:prstGeom prst="rect">
            <a:avLst/>
          </a:prstGeom>
          <a:noFill/>
          <a:ln/>
        </p:spPr>
        <p:txBody>
          <a:bodyPr wrap="square" lIns="0" tIns="0" rIns="0" bIns="0" rtlCol="0" anchor="t"/>
          <a:lstStyle/>
          <a:p>
            <a:pPr indent="0" marL="0">
              <a:buNone/>
            </a:pPr>
            <a:r>
              <a:rPr lang="en-US" sz="1400" dirty="0">
                <a:solidFill>
                  <a:schemeClr val="accent6"/>
                </a:solidFill>
              </a:rPr>
              <a:t>The edge server or Wi-Fi drops while people keep working.</a:t>
            </a:r>
            <a:endParaRPr lang="en-US" sz="1400" dirty="0"/>
          </a:p>
        </p:txBody>
      </p:sp>
      <p:sp>
        <p:nvSpPr>
          <p:cNvPr id="17" name="scenario response 2"/>
          <p:cNvSpPr txBox="1"/>
          <p:nvPr/>
        </p:nvSpPr>
        <p:spPr>
          <a:xfrm>
            <a:off x="8321040" y="3657600"/>
            <a:ext cx="3017520" cy="1737360"/>
          </a:xfrm>
          <a:prstGeom prst="rect">
            <a:avLst/>
          </a:prstGeom>
          <a:noFill/>
          <a:ln/>
        </p:spPr>
        <p:txBody>
          <a:bodyPr wrap="square" lIns="0" tIns="0" rIns="0" bIns="0" rtlCol="0" anchor="t"/>
          <a:lstStyle/>
          <a:p>
            <a:pPr indent="0" marL="0">
              <a:buNone/>
            </a:pPr>
            <a:r>
              <a:rPr lang="en-US" sz="1500" dirty="0">
                <a:solidFill>
                  <a:schemeClr val="tx1"/>
                </a:solidFill>
              </a:rPr>
              <a:t>Devices range each other over UWB and exchange state directly (D2D); neighbours relay alerts; stop only as a last resort.</a:t>
            </a:r>
            <a:endParaRPr lang="en-US" sz="1500" dirty="0"/>
          </a:p>
        </p:txBody>
      </p:sp>
      <p:sp>
        <p:nvSpPr>
          <p:cNvPr id="18" name="actors"/>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400" b="1" dirty="0">
                <a:solidFill>
                  <a:schemeClr val="tx1"/>
                </a:solidFill>
              </a:rPr>
              <a:t>Actors: </a:t>
            </a:r>
            <a:pPr indent="0" marL="0">
              <a:buNone/>
            </a:pPr>
            <a:r>
              <a:rPr lang="en-US" sz="1400" dirty="0">
                <a:solidFill>
                  <a:schemeClr val="tx1"/>
                </a:solidFill>
              </a:rPr>
              <a:t>workers (tag), forklift drivers (module), safety manager (dashboard, near-miss reports). Site: 10,000 m² warehouse, 50 workers, 10 forklifts.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Requirements and how oneM2M and ETSI MEC meet them</a:t>
            </a:r>
            <a:endParaRPr lang="en-US" sz="3000" dirty="0"/>
          </a:p>
        </p:txBody>
      </p:sp>
      <p:graphicFrame>
        <p:nvGraphicFramePr>
          <p:cNvPr id="6" name="requirement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51760"/>
                <a:gridCol w="3566160"/>
                <a:gridCol w="4846320"/>
              </a:tblGrid>
              <a:tr h="56692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Requirement (ESTIMED theme)</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Why this use case needs it</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oneM2M / MEC enabler in EdgeGuard</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Low latency</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Warning must arrive 1–3 s before contact</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CSE and MEC app co-located on the MEC host: 25 ms median alert latency</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Local processing</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Positions of people stay on site</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EdgeGuard MEC app; only alerts and near misses go to the cloud IN-CSE</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Context awareness</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Positions without UWB fix; cell load</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MEC Location (013) and RNIS (012) mapped into oneM2M by the MEC-IPE</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Service continuity</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Safety cannot stop when a server fails</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CSE handover between zone MN-CSEs (3–9 ms, 0 lost), active-standby MEC app (0.73 s), D2D fallback</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Orchestration</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Deploy per site / per zone</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MEC app per zone MEC host; AdvantEDGE and the ETSI MEC Sandbox; multi-host orchestration next</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Distributed intelligence</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Devices must act when isolated</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Local rules on each device, D2D state exchange, alert relay</a:t>
                      </a:r>
                      <a:endParaRPr lang="en-US" sz="14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High-level architecture: oneM2M + MEC on the edge</a:t>
            </a:r>
            <a:endParaRPr lang="en-US" sz="3000" dirty="0"/>
          </a:p>
        </p:txBody>
      </p:sp>
      <p:sp>
        <p:nvSpPr>
          <p:cNvPr id="3" name="zone cloud"/>
          <p:cNvSpPr/>
          <p:nvPr/>
        </p:nvSpPr>
        <p:spPr>
          <a:xfrm>
            <a:off x="548640" y="1188720"/>
            <a:ext cx="11091672" cy="1005840"/>
          </a:xfrm>
          <a:prstGeom prst="roundRect">
            <a:avLst>
              <a:gd name="adj" fmla="val 7273"/>
            </a:avLst>
          </a:prstGeom>
          <a:solidFill>
            <a:srgbClr val="EAF1FB"/>
          </a:solidFill>
          <a:ln w="12700">
            <a:solidFill>
              <a:srgbClr val="EAF1FB"/>
            </a:solidFill>
            <a:prstDash val="solid"/>
          </a:ln>
        </p:spPr>
      </p:sp>
      <p:sp>
        <p:nvSpPr>
          <p:cNvPr id="4" name="zone field"/>
          <p:cNvSpPr/>
          <p:nvPr/>
        </p:nvSpPr>
        <p:spPr>
          <a:xfrm>
            <a:off x="548640" y="2377440"/>
            <a:ext cx="2834640" cy="3794760"/>
          </a:xfrm>
          <a:prstGeom prst="roundRect">
            <a:avLst>
              <a:gd name="adj" fmla="val 2581"/>
            </a:avLst>
          </a:prstGeom>
          <a:solidFill>
            <a:schemeClr val="bg2"/>
          </a:solidFill>
          <a:ln w="12700">
            <a:solidFill>
              <a:schemeClr val="bg2"/>
            </a:solidFill>
            <a:prstDash val="solid"/>
          </a:ln>
        </p:spPr>
      </p:sp>
      <p:sp>
        <p:nvSpPr>
          <p:cNvPr id="5" name="zone edge"/>
          <p:cNvSpPr/>
          <p:nvPr/>
        </p:nvSpPr>
        <p:spPr>
          <a:xfrm>
            <a:off x="3566160" y="2377440"/>
            <a:ext cx="8074152" cy="3794760"/>
          </a:xfrm>
          <a:prstGeom prst="roundRect">
            <a:avLst>
              <a:gd name="adj" fmla="val 1928"/>
            </a:avLst>
          </a:prstGeom>
          <a:solidFill>
            <a:srgbClr val="FDF5E1"/>
          </a:solidFill>
          <a:ln w="12700">
            <a:solidFill>
              <a:srgbClr val="FDF5E1"/>
            </a:solidFill>
            <a:prstDash val="solid"/>
          </a:ln>
        </p:spPr>
      </p:sp>
      <p:sp>
        <p:nvSpPr>
          <p:cNvPr id="6" name="label cloud"/>
          <p:cNvSpPr txBox="1"/>
          <p:nvPr/>
        </p:nvSpPr>
        <p:spPr>
          <a:xfrm>
            <a:off x="731520" y="1325880"/>
            <a:ext cx="2377440" cy="731520"/>
          </a:xfrm>
          <a:prstGeom prst="rect">
            <a:avLst/>
          </a:prstGeom>
          <a:noFill/>
          <a:ln/>
        </p:spPr>
        <p:txBody>
          <a:bodyPr wrap="square" lIns="0" tIns="0" rIns="0" bIns="0" rtlCol="0" anchor="ctr"/>
          <a:lstStyle/>
          <a:p>
            <a:pPr indent="0" marL="0">
              <a:buNone/>
            </a:pPr>
            <a:r>
              <a:rPr lang="en-US" sz="1400" b="1" dirty="0">
                <a:solidFill>
                  <a:schemeClr val="accent2"/>
                </a:solidFill>
              </a:rPr>
              <a:t>Cloud /</a:t>
            </a:r>
            <a:endParaRPr lang="en-US" sz="1400" dirty="0"/>
          </a:p>
          <a:p>
            <a:pPr indent="0" marL="0">
              <a:buNone/>
            </a:pPr>
            <a:r>
              <a:rPr lang="en-US" sz="1400" b="1" dirty="0">
                <a:solidFill>
                  <a:schemeClr val="accent2"/>
                </a:solidFill>
              </a:rPr>
              <a:t>infrastructure</a:t>
            </a:r>
            <a:endParaRPr lang="en-US" sz="1400" dirty="0"/>
          </a:p>
        </p:txBody>
      </p:sp>
      <p:sp>
        <p:nvSpPr>
          <p:cNvPr id="7" name="label field"/>
          <p:cNvSpPr txBox="1"/>
          <p:nvPr/>
        </p:nvSpPr>
        <p:spPr>
          <a:xfrm>
            <a:off x="731520" y="2468880"/>
            <a:ext cx="2468880" cy="320040"/>
          </a:xfrm>
          <a:prstGeom prst="rect">
            <a:avLst/>
          </a:prstGeom>
          <a:noFill/>
          <a:ln/>
        </p:spPr>
        <p:txBody>
          <a:bodyPr wrap="square" lIns="0" tIns="0" rIns="0" bIns="0" rtlCol="0" anchor="ctr"/>
          <a:lstStyle/>
          <a:p>
            <a:pPr indent="0" marL="0">
              <a:buNone/>
            </a:pPr>
            <a:r>
              <a:rPr lang="en-US" sz="1400" b="1" dirty="0">
                <a:solidFill>
                  <a:schemeClr val="accent6"/>
                </a:solidFill>
              </a:rPr>
              <a:t>Field domain</a:t>
            </a:r>
            <a:endParaRPr lang="en-US" sz="1400" dirty="0"/>
          </a:p>
        </p:txBody>
      </p:sp>
      <p:sp>
        <p:nvSpPr>
          <p:cNvPr id="8" name="label edge"/>
          <p:cNvSpPr txBox="1"/>
          <p:nvPr/>
        </p:nvSpPr>
        <p:spPr>
          <a:xfrm>
            <a:off x="5943600" y="2468880"/>
            <a:ext cx="5486400" cy="320040"/>
          </a:xfrm>
          <a:prstGeom prst="rect">
            <a:avLst/>
          </a:prstGeom>
          <a:noFill/>
          <a:ln/>
        </p:spPr>
        <p:txBody>
          <a:bodyPr wrap="square" lIns="0" tIns="0" rIns="0" bIns="0" rtlCol="0" anchor="ctr"/>
          <a:lstStyle/>
          <a:p>
            <a:pPr indent="0" marL="0">
              <a:buNone/>
            </a:pPr>
            <a:r>
              <a:rPr lang="en-US" sz="1400" b="1" dirty="0">
                <a:solidFill>
                  <a:schemeClr val="accent4"/>
                </a:solidFill>
              </a:rPr>
              <a:t>Edge: ETSI MEC host (deployment option C, co-location)</a:t>
            </a:r>
            <a:endParaRPr lang="en-US" sz="1400" dirty="0"/>
          </a:p>
        </p:txBody>
      </p:sp>
      <p:sp>
        <p:nvSpPr>
          <p:cNvPr id="9" name="node IN-CSE"/>
          <p:cNvSpPr/>
          <p:nvPr/>
        </p:nvSpPr>
        <p:spPr>
          <a:xfrm>
            <a:off x="3840480" y="1325880"/>
            <a:ext cx="1920240" cy="731520"/>
          </a:xfrm>
          <a:prstGeom prst="roundRect">
            <a:avLst>
              <a:gd name="adj" fmla="val 10000"/>
            </a:avLst>
          </a:prstGeom>
          <a:solidFill>
            <a:schemeClr val="bg1"/>
          </a:solidFill>
          <a:ln w="12700">
            <a:solidFill>
              <a:srgbClr val="C9D0D8"/>
            </a:solidFill>
            <a:prstDash val="solid"/>
          </a:ln>
        </p:spPr>
      </p:sp>
      <p:sp>
        <p:nvSpPr>
          <p:cNvPr id="10" name="node text IN-CSE"/>
          <p:cNvSpPr txBox="1"/>
          <p:nvPr/>
        </p:nvSpPr>
        <p:spPr>
          <a:xfrm>
            <a:off x="3950208" y="1325880"/>
            <a:ext cx="1700784" cy="731520"/>
          </a:xfrm>
          <a:prstGeom prst="rect">
            <a:avLst/>
          </a:prstGeom>
          <a:noFill/>
          <a:ln/>
        </p:spPr>
        <p:txBody>
          <a:bodyPr wrap="square" lIns="0" tIns="0" rIns="0" bIns="0" rtlCol="0" anchor="ctr"/>
          <a:lstStyle/>
          <a:p>
            <a:pPr indent="0" marL="0">
              <a:buNone/>
            </a:pPr>
            <a:r>
              <a:rPr lang="en-US" sz="1400" b="1" dirty="0">
                <a:solidFill>
                  <a:schemeClr val="tx2"/>
                </a:solidFill>
              </a:rPr>
              <a:t>IN-CSE</a:t>
            </a:r>
            <a:endParaRPr lang="en-US" sz="1400" dirty="0"/>
          </a:p>
          <a:p>
            <a:pPr indent="0" marL="0">
              <a:buNone/>
            </a:pPr>
            <a:r>
              <a:rPr lang="en-US" sz="1100" dirty="0">
                <a:solidFill>
                  <a:schemeClr val="accent6"/>
                </a:solidFill>
              </a:rPr>
              <a:t>Mobius (cloud)</a:t>
            </a:r>
            <a:endParaRPr lang="en-US" sz="1400" dirty="0"/>
          </a:p>
        </p:txBody>
      </p:sp>
      <p:sp>
        <p:nvSpPr>
          <p:cNvPr id="11" name="node Safety dashboard"/>
          <p:cNvSpPr/>
          <p:nvPr/>
        </p:nvSpPr>
        <p:spPr>
          <a:xfrm>
            <a:off x="6400800" y="1325880"/>
            <a:ext cx="2377440" cy="731520"/>
          </a:xfrm>
          <a:prstGeom prst="roundRect">
            <a:avLst>
              <a:gd name="adj" fmla="val 10000"/>
            </a:avLst>
          </a:prstGeom>
          <a:solidFill>
            <a:schemeClr val="bg1"/>
          </a:solidFill>
          <a:ln w="12700">
            <a:solidFill>
              <a:srgbClr val="C9D0D8"/>
            </a:solidFill>
            <a:prstDash val="solid"/>
          </a:ln>
        </p:spPr>
      </p:sp>
      <p:sp>
        <p:nvSpPr>
          <p:cNvPr id="12" name="node text Safety dashboard"/>
          <p:cNvSpPr txBox="1"/>
          <p:nvPr/>
        </p:nvSpPr>
        <p:spPr>
          <a:xfrm>
            <a:off x="6510528" y="1325880"/>
            <a:ext cx="2157984" cy="731520"/>
          </a:xfrm>
          <a:prstGeom prst="rect">
            <a:avLst/>
          </a:prstGeom>
          <a:noFill/>
          <a:ln/>
        </p:spPr>
        <p:txBody>
          <a:bodyPr wrap="square" lIns="0" tIns="0" rIns="0" bIns="0" rtlCol="0" anchor="ctr"/>
          <a:lstStyle/>
          <a:p>
            <a:pPr indent="0" marL="0">
              <a:buNone/>
            </a:pPr>
            <a:r>
              <a:rPr lang="en-US" sz="1400" b="1" dirty="0">
                <a:solidFill>
                  <a:schemeClr val="tx2"/>
                </a:solidFill>
              </a:rPr>
              <a:t>Safety dashboard</a:t>
            </a:r>
            <a:endParaRPr lang="en-US" sz="1400" dirty="0"/>
          </a:p>
          <a:p>
            <a:pPr indent="0" marL="0">
              <a:buNone/>
            </a:pPr>
            <a:r>
              <a:rPr lang="en-US" sz="1100" dirty="0">
                <a:solidFill>
                  <a:schemeClr val="accent6"/>
                </a:solidFill>
              </a:rPr>
              <a:t>near-miss heatmap, reports</a:t>
            </a:r>
            <a:endParaRPr lang="en-US" sz="1400" dirty="0"/>
          </a:p>
        </p:txBody>
      </p:sp>
      <p:sp>
        <p:nvSpPr>
          <p:cNvPr id="13" name="node Other oneM2M apps"/>
          <p:cNvSpPr/>
          <p:nvPr/>
        </p:nvSpPr>
        <p:spPr>
          <a:xfrm>
            <a:off x="9326880" y="1325880"/>
            <a:ext cx="2148840" cy="731520"/>
          </a:xfrm>
          <a:prstGeom prst="roundRect">
            <a:avLst>
              <a:gd name="adj" fmla="val 10000"/>
            </a:avLst>
          </a:prstGeom>
          <a:solidFill>
            <a:schemeClr val="bg1"/>
          </a:solidFill>
          <a:ln w="12700">
            <a:solidFill>
              <a:srgbClr val="C9D0D8"/>
            </a:solidFill>
            <a:prstDash val="solid"/>
          </a:ln>
        </p:spPr>
      </p:sp>
      <p:sp>
        <p:nvSpPr>
          <p:cNvPr id="14" name="node text Other oneM2M apps"/>
          <p:cNvSpPr txBox="1"/>
          <p:nvPr/>
        </p:nvSpPr>
        <p:spPr>
          <a:xfrm>
            <a:off x="9436608" y="1325880"/>
            <a:ext cx="1929384" cy="731520"/>
          </a:xfrm>
          <a:prstGeom prst="rect">
            <a:avLst/>
          </a:prstGeom>
          <a:noFill/>
          <a:ln/>
        </p:spPr>
        <p:txBody>
          <a:bodyPr wrap="square" lIns="0" tIns="0" rIns="0" bIns="0" rtlCol="0" anchor="ctr"/>
          <a:lstStyle/>
          <a:p>
            <a:pPr indent="0" marL="0">
              <a:buNone/>
            </a:pPr>
            <a:r>
              <a:rPr lang="en-US" sz="1400" b="1" dirty="0">
                <a:solidFill>
                  <a:schemeClr val="tx2"/>
                </a:solidFill>
              </a:rPr>
              <a:t>Other oneM2M apps</a:t>
            </a:r>
            <a:endParaRPr lang="en-US" sz="1400" dirty="0"/>
          </a:p>
          <a:p>
            <a:pPr indent="0" marL="0">
              <a:buNone/>
            </a:pPr>
            <a:r>
              <a:rPr lang="en-US" sz="1100" dirty="0">
                <a:solidFill>
                  <a:schemeClr val="accent6"/>
                </a:solidFill>
              </a:rPr>
              <a:t>subscribe to alerts</a:t>
            </a:r>
            <a:endParaRPr lang="en-US" sz="1400" dirty="0"/>
          </a:p>
        </p:txBody>
      </p:sp>
      <p:sp>
        <p:nvSpPr>
          <p:cNvPr id="15" name="node Worker tag"/>
          <p:cNvSpPr/>
          <p:nvPr/>
        </p:nvSpPr>
        <p:spPr>
          <a:xfrm>
            <a:off x="731520" y="2880360"/>
            <a:ext cx="2468880" cy="731520"/>
          </a:xfrm>
          <a:prstGeom prst="roundRect">
            <a:avLst>
              <a:gd name="adj" fmla="val 10000"/>
            </a:avLst>
          </a:prstGeom>
          <a:solidFill>
            <a:schemeClr val="bg1"/>
          </a:solidFill>
          <a:ln w="12700">
            <a:solidFill>
              <a:srgbClr val="C9D0D8"/>
            </a:solidFill>
            <a:prstDash val="solid"/>
          </a:ln>
        </p:spPr>
      </p:sp>
      <p:sp>
        <p:nvSpPr>
          <p:cNvPr id="16" name="node text Worker tag"/>
          <p:cNvSpPr txBox="1"/>
          <p:nvPr/>
        </p:nvSpPr>
        <p:spPr>
          <a:xfrm>
            <a:off x="841248" y="2880360"/>
            <a:ext cx="2249424" cy="731520"/>
          </a:xfrm>
          <a:prstGeom prst="rect">
            <a:avLst/>
          </a:prstGeom>
          <a:noFill/>
          <a:ln/>
        </p:spPr>
        <p:txBody>
          <a:bodyPr wrap="square" lIns="0" tIns="0" rIns="0" bIns="0" rtlCol="0" anchor="ctr"/>
          <a:lstStyle/>
          <a:p>
            <a:pPr indent="0" marL="0">
              <a:buNone/>
            </a:pPr>
            <a:r>
              <a:rPr lang="en-US" sz="1400" b="1" dirty="0">
                <a:solidFill>
                  <a:schemeClr val="tx2"/>
                </a:solidFill>
              </a:rPr>
              <a:t>Worker tag</a:t>
            </a:r>
            <a:endParaRPr lang="en-US" sz="1400" dirty="0"/>
          </a:p>
          <a:p>
            <a:pPr indent="0" marL="0">
              <a:buNone/>
            </a:pPr>
            <a:r>
              <a:rPr lang="en-US" sz="1100" dirty="0">
                <a:solidFill>
                  <a:schemeClr val="accent6"/>
                </a:solidFill>
              </a:rPr>
              <a:t>ESP32 + UWB · vibration, LED</a:t>
            </a:r>
            <a:endParaRPr lang="en-US" sz="1400" dirty="0"/>
          </a:p>
        </p:txBody>
      </p:sp>
      <p:sp>
        <p:nvSpPr>
          <p:cNvPr id="17" name="node Forklift module"/>
          <p:cNvSpPr/>
          <p:nvPr/>
        </p:nvSpPr>
        <p:spPr>
          <a:xfrm>
            <a:off x="731520" y="3749040"/>
            <a:ext cx="2468880" cy="731520"/>
          </a:xfrm>
          <a:prstGeom prst="roundRect">
            <a:avLst>
              <a:gd name="adj" fmla="val 10000"/>
            </a:avLst>
          </a:prstGeom>
          <a:solidFill>
            <a:schemeClr val="bg1"/>
          </a:solidFill>
          <a:ln w="12700">
            <a:solidFill>
              <a:srgbClr val="C9D0D8"/>
            </a:solidFill>
            <a:prstDash val="solid"/>
          </a:ln>
        </p:spPr>
      </p:sp>
      <p:sp>
        <p:nvSpPr>
          <p:cNvPr id="18" name="node text Forklift module"/>
          <p:cNvSpPr txBox="1"/>
          <p:nvPr/>
        </p:nvSpPr>
        <p:spPr>
          <a:xfrm>
            <a:off x="841248" y="3749040"/>
            <a:ext cx="2249424" cy="731520"/>
          </a:xfrm>
          <a:prstGeom prst="rect">
            <a:avLst/>
          </a:prstGeom>
          <a:noFill/>
          <a:ln/>
        </p:spPr>
        <p:txBody>
          <a:bodyPr wrap="square" lIns="0" tIns="0" rIns="0" bIns="0" rtlCol="0" anchor="ctr"/>
          <a:lstStyle/>
          <a:p>
            <a:pPr indent="0" marL="0">
              <a:buNone/>
            </a:pPr>
            <a:r>
              <a:rPr lang="en-US" sz="1400" b="1" dirty="0">
                <a:solidFill>
                  <a:schemeClr val="tx2"/>
                </a:solidFill>
              </a:rPr>
              <a:t>Forklift module</a:t>
            </a:r>
            <a:endParaRPr lang="en-US" sz="1400" dirty="0"/>
          </a:p>
          <a:p>
            <a:pPr indent="0" marL="0">
              <a:buNone/>
            </a:pPr>
            <a:r>
              <a:rPr lang="en-US" sz="1100" dirty="0">
                <a:solidFill>
                  <a:schemeClr val="accent6"/>
                </a:solidFill>
              </a:rPr>
              <a:t>UWB + IMU · speed limit</a:t>
            </a:r>
            <a:endParaRPr lang="en-US" sz="1400" dirty="0"/>
          </a:p>
        </p:txBody>
      </p:sp>
      <p:sp>
        <p:nvSpPr>
          <p:cNvPr id="19" name="node Camera node"/>
          <p:cNvSpPr/>
          <p:nvPr/>
        </p:nvSpPr>
        <p:spPr>
          <a:xfrm>
            <a:off x="731520" y="4617720"/>
            <a:ext cx="2468880" cy="731520"/>
          </a:xfrm>
          <a:prstGeom prst="roundRect">
            <a:avLst>
              <a:gd name="adj" fmla="val 10000"/>
            </a:avLst>
          </a:prstGeom>
          <a:solidFill>
            <a:schemeClr val="bg1"/>
          </a:solidFill>
          <a:ln w="12700">
            <a:solidFill>
              <a:srgbClr val="C9D0D8"/>
            </a:solidFill>
            <a:prstDash val="solid"/>
          </a:ln>
        </p:spPr>
      </p:sp>
      <p:sp>
        <p:nvSpPr>
          <p:cNvPr id="20" name="node text Camera node"/>
          <p:cNvSpPr txBox="1"/>
          <p:nvPr/>
        </p:nvSpPr>
        <p:spPr>
          <a:xfrm>
            <a:off x="841248" y="4617720"/>
            <a:ext cx="2249424" cy="731520"/>
          </a:xfrm>
          <a:prstGeom prst="rect">
            <a:avLst/>
          </a:prstGeom>
          <a:noFill/>
          <a:ln/>
        </p:spPr>
        <p:txBody>
          <a:bodyPr wrap="square" lIns="0" tIns="0" rIns="0" bIns="0" rtlCol="0" anchor="ctr"/>
          <a:lstStyle/>
          <a:p>
            <a:pPr indent="0" marL="0">
              <a:buNone/>
            </a:pPr>
            <a:r>
              <a:rPr lang="en-US" sz="1400" b="1" dirty="0">
                <a:solidFill>
                  <a:schemeClr val="tx2"/>
                </a:solidFill>
              </a:rPr>
              <a:t>Camera node</a:t>
            </a:r>
            <a:endParaRPr lang="en-US" sz="1400" dirty="0"/>
          </a:p>
          <a:p>
            <a:pPr indent="0" marL="0">
              <a:buNone/>
            </a:pPr>
            <a:r>
              <a:rPr lang="en-US" sz="1100" dirty="0">
                <a:solidFill>
                  <a:schemeClr val="accent6"/>
                </a:solidFill>
              </a:rPr>
              <a:t>untagged people (YOLOv8n)</a:t>
            </a:r>
            <a:endParaRPr lang="en-US" sz="1400" dirty="0"/>
          </a:p>
        </p:txBody>
      </p:sp>
      <p:sp>
        <p:nvSpPr>
          <p:cNvPr id="21" name="d2d note"/>
          <p:cNvSpPr txBox="1"/>
          <p:nvPr/>
        </p:nvSpPr>
        <p:spPr>
          <a:xfrm>
            <a:off x="731520" y="5486400"/>
            <a:ext cx="2468880" cy="548640"/>
          </a:xfrm>
          <a:prstGeom prst="rect">
            <a:avLst/>
          </a:prstGeom>
          <a:noFill/>
          <a:ln/>
        </p:spPr>
        <p:txBody>
          <a:bodyPr wrap="square" lIns="0" tIns="0" rIns="0" bIns="0" rtlCol="0" anchor="ctr"/>
          <a:lstStyle/>
          <a:p>
            <a:pPr indent="0" marL="0">
              <a:buNone/>
            </a:pPr>
            <a:r>
              <a:rPr lang="en-US" sz="1100" dirty="0">
                <a:solidFill>
                  <a:schemeClr val="accent2"/>
                </a:solidFill>
              </a:rPr>
              <a:t>D2D fallback: ESP-NOW + HMAC between devices</a:t>
            </a:r>
            <a:endParaRPr lang="en-US" sz="1100" dirty="0"/>
          </a:p>
        </p:txBody>
      </p:sp>
      <p:sp>
        <p:nvSpPr>
          <p:cNvPr id="22" name="node MN-CSE"/>
          <p:cNvSpPr/>
          <p:nvPr/>
        </p:nvSpPr>
        <p:spPr>
          <a:xfrm>
            <a:off x="3840480" y="2880360"/>
            <a:ext cx="1920240" cy="2468880"/>
          </a:xfrm>
          <a:prstGeom prst="roundRect">
            <a:avLst>
              <a:gd name="adj" fmla="val 3810"/>
            </a:avLst>
          </a:prstGeom>
          <a:solidFill>
            <a:schemeClr val="bg1"/>
          </a:solidFill>
          <a:ln w="25400">
            <a:solidFill>
              <a:schemeClr val="accent2"/>
            </a:solidFill>
            <a:prstDash val="solid"/>
          </a:ln>
        </p:spPr>
      </p:sp>
      <p:sp>
        <p:nvSpPr>
          <p:cNvPr id="23" name="node text MN-CSE"/>
          <p:cNvSpPr txBox="1"/>
          <p:nvPr/>
        </p:nvSpPr>
        <p:spPr>
          <a:xfrm>
            <a:off x="3950208" y="2880360"/>
            <a:ext cx="1700784" cy="2468880"/>
          </a:xfrm>
          <a:prstGeom prst="rect">
            <a:avLst/>
          </a:prstGeom>
          <a:noFill/>
          <a:ln/>
        </p:spPr>
        <p:txBody>
          <a:bodyPr wrap="square" lIns="0" tIns="0" rIns="0" bIns="0" rtlCol="0" anchor="ctr"/>
          <a:lstStyle/>
          <a:p>
            <a:pPr indent="0" marL="0">
              <a:buNone/>
            </a:pPr>
            <a:r>
              <a:rPr lang="en-US" sz="1400" b="1" dirty="0">
                <a:solidFill>
                  <a:schemeClr val="accent2"/>
                </a:solidFill>
              </a:rPr>
              <a:t>MN-CSE</a:t>
            </a:r>
            <a:endParaRPr lang="en-US" sz="1400" dirty="0"/>
          </a:p>
          <a:p>
            <a:pPr indent="0" marL="0">
              <a:buNone/>
            </a:pPr>
            <a:r>
              <a:rPr lang="en-US" sz="1100" dirty="0">
                <a:solidFill>
                  <a:schemeClr val="accent6"/>
                </a:solidFill>
              </a:rPr>
              <a:t>ACME / Mobius</a:t>
            </a:r>
            <a:endParaRPr lang="en-US" sz="1400" dirty="0"/>
          </a:p>
          <a:p>
            <a:pPr indent="0" marL="0">
              <a:buNone/>
            </a:pPr>
            <a:r>
              <a:rPr lang="en-US" sz="1100" dirty="0">
                <a:solidFill>
                  <a:schemeClr val="accent6"/>
                </a:solidFill>
              </a:rPr>
              <a:t>AE per device</a:t>
            </a:r>
            <a:endParaRPr lang="en-US" sz="1400" dirty="0"/>
          </a:p>
          <a:p>
            <a:pPr indent="0" marL="0">
              <a:buNone/>
            </a:pPr>
            <a:r>
              <a:rPr lang="en-US" sz="1100" dirty="0">
                <a:solidFill>
                  <a:schemeClr val="accent6"/>
                </a:solidFill>
              </a:rPr>
              <a:t>CNT · SUB · ACP</a:t>
            </a:r>
            <a:endParaRPr lang="en-US" sz="1400" dirty="0"/>
          </a:p>
        </p:txBody>
      </p:sp>
      <p:sp>
        <p:nvSpPr>
          <p:cNvPr id="24" name="node EdgeGuard MEC app"/>
          <p:cNvSpPr/>
          <p:nvPr/>
        </p:nvSpPr>
        <p:spPr>
          <a:xfrm>
            <a:off x="6400800" y="2880360"/>
            <a:ext cx="2377440" cy="2468880"/>
          </a:xfrm>
          <a:prstGeom prst="roundRect">
            <a:avLst>
              <a:gd name="adj" fmla="val 3077"/>
            </a:avLst>
          </a:prstGeom>
          <a:solidFill>
            <a:schemeClr val="tx2"/>
          </a:solidFill>
          <a:ln w="12700">
            <a:solidFill>
              <a:schemeClr val="tx2"/>
            </a:solidFill>
            <a:prstDash val="solid"/>
          </a:ln>
        </p:spPr>
      </p:sp>
      <p:sp>
        <p:nvSpPr>
          <p:cNvPr id="25" name="node text EdgeGuard MEC app"/>
          <p:cNvSpPr txBox="1"/>
          <p:nvPr/>
        </p:nvSpPr>
        <p:spPr>
          <a:xfrm>
            <a:off x="6510528" y="2880360"/>
            <a:ext cx="2157984" cy="2468880"/>
          </a:xfrm>
          <a:prstGeom prst="rect">
            <a:avLst/>
          </a:prstGeom>
          <a:noFill/>
          <a:ln/>
        </p:spPr>
        <p:txBody>
          <a:bodyPr wrap="square" lIns="0" tIns="0" rIns="0" bIns="0" rtlCol="0" anchor="ctr"/>
          <a:lstStyle/>
          <a:p>
            <a:pPr indent="0" marL="0">
              <a:buNone/>
            </a:pPr>
            <a:r>
              <a:rPr lang="en-US" sz="1400" b="1" dirty="0">
                <a:solidFill>
                  <a:schemeClr val="accent1"/>
                </a:solidFill>
              </a:rPr>
              <a:t>EdgeGuard MEC app</a:t>
            </a:r>
            <a:endParaRPr lang="en-US" sz="1400" dirty="0"/>
          </a:p>
          <a:p>
            <a:pPr indent="0" marL="0">
              <a:buNone/>
            </a:pPr>
            <a:r>
              <a:rPr lang="en-US" sz="1100" dirty="0">
                <a:solidFill>
                  <a:srgbClr val="DCE3EA"/>
                </a:solidFill>
              </a:rPr>
              <a:t>tracking → prediction →</a:t>
            </a:r>
            <a:endParaRPr lang="en-US" sz="1400" dirty="0"/>
          </a:p>
          <a:p>
            <a:pPr indent="0" marL="0">
              <a:buNone/>
            </a:pPr>
            <a:r>
              <a:rPr lang="en-US" sz="1100" dirty="0">
                <a:solidFill>
                  <a:srgbClr val="DCE3EA"/>
                </a:solidFill>
              </a:rPr>
              <a:t>collision course → cue</a:t>
            </a:r>
            <a:endParaRPr lang="en-US" sz="1400" dirty="0"/>
          </a:p>
          <a:p>
            <a:pPr indent="0" marL="0">
              <a:buNone/>
            </a:pPr>
            <a:r>
              <a:rPr lang="en-US" sz="1100" dirty="0">
                <a:solidFill>
                  <a:srgbClr val="DCE3EA"/>
                </a:solidFill>
              </a:rPr>
              <a:t>(Docker, HA pair)</a:t>
            </a:r>
            <a:endParaRPr lang="en-US" sz="1400" dirty="0"/>
          </a:p>
        </p:txBody>
      </p:sp>
      <p:sp>
        <p:nvSpPr>
          <p:cNvPr id="26" name="node MEC-IPE"/>
          <p:cNvSpPr/>
          <p:nvPr/>
        </p:nvSpPr>
        <p:spPr>
          <a:xfrm>
            <a:off x="3840480" y="5486400"/>
            <a:ext cx="1920240" cy="594360"/>
          </a:xfrm>
          <a:prstGeom prst="roundRect">
            <a:avLst>
              <a:gd name="adj" fmla="val 12308"/>
            </a:avLst>
          </a:prstGeom>
          <a:solidFill>
            <a:schemeClr val="bg1"/>
          </a:solidFill>
          <a:ln w="12700">
            <a:solidFill>
              <a:srgbClr val="C9D0D8"/>
            </a:solidFill>
            <a:prstDash val="solid"/>
          </a:ln>
        </p:spPr>
      </p:sp>
      <p:sp>
        <p:nvSpPr>
          <p:cNvPr id="27" name="node text MEC-IPE"/>
          <p:cNvSpPr txBox="1"/>
          <p:nvPr/>
        </p:nvSpPr>
        <p:spPr>
          <a:xfrm>
            <a:off x="3950208" y="5486400"/>
            <a:ext cx="1700784" cy="594360"/>
          </a:xfrm>
          <a:prstGeom prst="rect">
            <a:avLst/>
          </a:prstGeom>
          <a:noFill/>
          <a:ln/>
        </p:spPr>
        <p:txBody>
          <a:bodyPr wrap="square" lIns="0" tIns="0" rIns="0" bIns="0" rtlCol="0" anchor="ctr"/>
          <a:lstStyle/>
          <a:p>
            <a:pPr indent="0" marL="0">
              <a:buNone/>
            </a:pPr>
            <a:r>
              <a:rPr lang="en-US" sz="1400" b="1" dirty="0">
                <a:solidFill>
                  <a:schemeClr val="tx2"/>
                </a:solidFill>
              </a:rPr>
              <a:t>MEC-IPE</a:t>
            </a:r>
            <a:endParaRPr lang="en-US" sz="1400" dirty="0"/>
          </a:p>
          <a:p>
            <a:pPr indent="0" marL="0">
              <a:buNone/>
            </a:pPr>
            <a:r>
              <a:rPr lang="en-US" sz="1100" dirty="0">
                <a:solidFill>
                  <a:schemeClr val="accent6"/>
                </a:solidFill>
              </a:rPr>
              <a:t>MEC data → oneM2M</a:t>
            </a:r>
            <a:endParaRPr lang="en-US" sz="1400" dirty="0"/>
          </a:p>
        </p:txBody>
      </p:sp>
      <p:sp>
        <p:nvSpPr>
          <p:cNvPr id="28" name="node MEC services"/>
          <p:cNvSpPr/>
          <p:nvPr/>
        </p:nvSpPr>
        <p:spPr>
          <a:xfrm>
            <a:off x="6400800" y="5486400"/>
            <a:ext cx="2377440" cy="594360"/>
          </a:xfrm>
          <a:prstGeom prst="roundRect">
            <a:avLst>
              <a:gd name="adj" fmla="val 12308"/>
            </a:avLst>
          </a:prstGeom>
          <a:solidFill>
            <a:schemeClr val="bg1"/>
          </a:solidFill>
          <a:ln w="12700">
            <a:solidFill>
              <a:srgbClr val="C9D0D8"/>
            </a:solidFill>
            <a:prstDash val="solid"/>
          </a:ln>
        </p:spPr>
      </p:sp>
      <p:sp>
        <p:nvSpPr>
          <p:cNvPr id="29" name="node text MEC services"/>
          <p:cNvSpPr txBox="1"/>
          <p:nvPr/>
        </p:nvSpPr>
        <p:spPr>
          <a:xfrm>
            <a:off x="6510528" y="5486400"/>
            <a:ext cx="2157984" cy="594360"/>
          </a:xfrm>
          <a:prstGeom prst="rect">
            <a:avLst/>
          </a:prstGeom>
          <a:noFill/>
          <a:ln/>
        </p:spPr>
        <p:txBody>
          <a:bodyPr wrap="square" lIns="0" tIns="0" rIns="0" bIns="0" rtlCol="0" anchor="ctr"/>
          <a:lstStyle/>
          <a:p>
            <a:pPr indent="0" marL="0">
              <a:buNone/>
            </a:pPr>
            <a:r>
              <a:rPr lang="en-US" sz="1400" b="1" dirty="0">
                <a:solidFill>
                  <a:schemeClr val="tx2"/>
                </a:solidFill>
              </a:rPr>
              <a:t>MEC services</a:t>
            </a:r>
            <a:endParaRPr lang="en-US" sz="1400" dirty="0"/>
          </a:p>
          <a:p>
            <a:pPr indent="0" marL="0">
              <a:buNone/>
            </a:pPr>
            <a:r>
              <a:rPr lang="en-US" sz="1100" dirty="0">
                <a:solidFill>
                  <a:schemeClr val="accent6"/>
                </a:solidFill>
              </a:rPr>
              <a:t>Location 013 · RNIS 012</a:t>
            </a:r>
            <a:endParaRPr lang="en-US" sz="1400" dirty="0"/>
          </a:p>
        </p:txBody>
      </p:sp>
      <p:sp>
        <p:nvSpPr>
          <p:cNvPr id="30" name="node MEC platform"/>
          <p:cNvSpPr/>
          <p:nvPr/>
        </p:nvSpPr>
        <p:spPr>
          <a:xfrm>
            <a:off x="9326880" y="2880360"/>
            <a:ext cx="2148840" cy="3200400"/>
          </a:xfrm>
          <a:prstGeom prst="roundRect">
            <a:avLst>
              <a:gd name="adj" fmla="val 3404"/>
            </a:avLst>
          </a:prstGeom>
          <a:solidFill>
            <a:schemeClr val="bg1"/>
          </a:solidFill>
          <a:ln w="12700">
            <a:solidFill>
              <a:srgbClr val="C9D0D8"/>
            </a:solidFill>
            <a:prstDash val="solid"/>
          </a:ln>
        </p:spPr>
      </p:sp>
      <p:sp>
        <p:nvSpPr>
          <p:cNvPr id="31" name="node text MEC platform"/>
          <p:cNvSpPr txBox="1"/>
          <p:nvPr/>
        </p:nvSpPr>
        <p:spPr>
          <a:xfrm>
            <a:off x="9436608" y="2880360"/>
            <a:ext cx="1929384" cy="3200400"/>
          </a:xfrm>
          <a:prstGeom prst="rect">
            <a:avLst/>
          </a:prstGeom>
          <a:noFill/>
          <a:ln/>
        </p:spPr>
        <p:txBody>
          <a:bodyPr wrap="square" lIns="0" tIns="0" rIns="0" bIns="0" rtlCol="0" anchor="ctr"/>
          <a:lstStyle/>
          <a:p>
            <a:pPr indent="0" marL="0">
              <a:buNone/>
            </a:pPr>
            <a:r>
              <a:rPr lang="en-US" sz="1400" b="1" dirty="0">
                <a:solidFill>
                  <a:schemeClr val="tx2"/>
                </a:solidFill>
              </a:rPr>
              <a:t>MEC platform</a:t>
            </a:r>
            <a:endParaRPr lang="en-US" sz="1400" dirty="0"/>
          </a:p>
          <a:p>
            <a:pPr indent="0" marL="0">
              <a:buNone/>
            </a:pPr>
            <a:r>
              <a:rPr lang="en-US" sz="1100" dirty="0">
                <a:solidFill>
                  <a:schemeClr val="accent6"/>
                </a:solidFill>
              </a:rPr>
              <a:t>app lifecycle, Mp1</a:t>
            </a:r>
            <a:endParaRPr lang="en-US" sz="1400" dirty="0"/>
          </a:p>
          <a:p>
            <a:pPr indent="0" marL="0">
              <a:buNone/>
            </a:pPr>
            <a:r>
              <a:rPr lang="en-US" sz="1100" dirty="0">
                <a:solidFill>
                  <a:schemeClr val="accent6"/>
                </a:solidFill>
              </a:rPr>
              <a:t>AdvantEDGE /</a:t>
            </a:r>
            <a:endParaRPr lang="en-US" sz="1400" dirty="0"/>
          </a:p>
          <a:p>
            <a:pPr indent="0" marL="0">
              <a:buNone/>
            </a:pPr>
            <a:r>
              <a:rPr lang="en-US" sz="1100" dirty="0">
                <a:solidFill>
                  <a:schemeClr val="accent6"/>
                </a:solidFill>
              </a:rPr>
              <a:t>ETSI MEC Sandbox</a:t>
            </a:r>
            <a:endParaRPr lang="en-US" sz="1400" dirty="0"/>
          </a:p>
        </p:txBody>
      </p:sp>
      <p:sp>
        <p:nvSpPr>
          <p:cNvPr id="32" name="mca arrow 0"/>
          <p:cNvSpPr/>
          <p:nvPr/>
        </p:nvSpPr>
        <p:spPr>
          <a:xfrm>
            <a:off x="3200400" y="3246120"/>
            <a:ext cx="640080" cy="0"/>
          </a:xfrm>
          <a:prstGeom prst="line">
            <a:avLst/>
          </a:prstGeom>
          <a:noFill/>
          <a:ln w="25400">
            <a:solidFill>
              <a:schemeClr val="accent6"/>
            </a:solidFill>
            <a:prstDash val="solid"/>
            <a:headEnd type="triangle"/>
            <a:tailEnd type="triangle"/>
          </a:ln>
        </p:spPr>
      </p:sp>
      <p:sp>
        <p:nvSpPr>
          <p:cNvPr id="33" name="mca arrow 1"/>
          <p:cNvSpPr/>
          <p:nvPr/>
        </p:nvSpPr>
        <p:spPr>
          <a:xfrm>
            <a:off x="3200400" y="4114800"/>
            <a:ext cx="640080" cy="0"/>
          </a:xfrm>
          <a:prstGeom prst="line">
            <a:avLst/>
          </a:prstGeom>
          <a:noFill/>
          <a:ln w="25400">
            <a:solidFill>
              <a:schemeClr val="accent6"/>
            </a:solidFill>
            <a:prstDash val="solid"/>
            <a:headEnd type="triangle"/>
            <a:tailEnd type="triangle"/>
          </a:ln>
        </p:spPr>
      </p:sp>
      <p:sp>
        <p:nvSpPr>
          <p:cNvPr id="34" name="mca arrow 2"/>
          <p:cNvSpPr/>
          <p:nvPr/>
        </p:nvSpPr>
        <p:spPr>
          <a:xfrm>
            <a:off x="3200400" y="4983480"/>
            <a:ext cx="640080" cy="0"/>
          </a:xfrm>
          <a:prstGeom prst="line">
            <a:avLst/>
          </a:prstGeom>
          <a:noFill/>
          <a:ln w="25400">
            <a:solidFill>
              <a:schemeClr val="accent6"/>
            </a:solidFill>
            <a:prstDash val="solid"/>
            <a:headEnd type="triangle"/>
            <a:tailEnd type="triangle"/>
          </a:ln>
        </p:spPr>
      </p:sp>
      <p:sp>
        <p:nvSpPr>
          <p:cNvPr id="35" name="mca label"/>
          <p:cNvSpPr txBox="1"/>
          <p:nvPr/>
        </p:nvSpPr>
        <p:spPr>
          <a:xfrm>
            <a:off x="3154680" y="2926080"/>
            <a:ext cx="731520" cy="274320"/>
          </a:xfrm>
          <a:prstGeom prst="rect">
            <a:avLst/>
          </a:prstGeom>
          <a:noFill/>
          <a:ln/>
        </p:spPr>
        <p:txBody>
          <a:bodyPr wrap="square" lIns="0" tIns="0" rIns="0" bIns="0" rtlCol="0" anchor="ctr"/>
          <a:lstStyle/>
          <a:p>
            <a:pPr algn="ctr" indent="0" marL="0">
              <a:buNone/>
            </a:pPr>
            <a:r>
              <a:rPr lang="en-US" sz="1000" dirty="0">
                <a:solidFill>
                  <a:schemeClr val="accent6"/>
                </a:solidFill>
              </a:rPr>
              <a:t>Mca (HTTP)</a:t>
            </a:r>
            <a:endParaRPr lang="en-US" sz="1000" dirty="0"/>
          </a:p>
        </p:txBody>
      </p:sp>
      <p:sp>
        <p:nvSpPr>
          <p:cNvPr id="36" name="notify arrow"/>
          <p:cNvSpPr/>
          <p:nvPr/>
        </p:nvSpPr>
        <p:spPr>
          <a:xfrm>
            <a:off x="5760720" y="3657600"/>
            <a:ext cx="640080" cy="0"/>
          </a:xfrm>
          <a:prstGeom prst="line">
            <a:avLst/>
          </a:prstGeom>
          <a:noFill/>
          <a:ln w="25400">
            <a:solidFill>
              <a:schemeClr val="accent2"/>
            </a:solidFill>
            <a:prstDash val="solid"/>
            <a:tailEnd type="triangle"/>
          </a:ln>
        </p:spPr>
      </p:sp>
      <p:sp>
        <p:nvSpPr>
          <p:cNvPr id="37" name="notify label"/>
          <p:cNvSpPr txBox="1"/>
          <p:nvPr/>
        </p:nvSpPr>
        <p:spPr>
          <a:xfrm>
            <a:off x="5760720" y="3337560"/>
            <a:ext cx="640080" cy="274320"/>
          </a:xfrm>
          <a:prstGeom prst="rect">
            <a:avLst/>
          </a:prstGeom>
          <a:noFill/>
          <a:ln/>
        </p:spPr>
        <p:txBody>
          <a:bodyPr wrap="square" lIns="0" tIns="0" rIns="0" bIns="0" rtlCol="0" anchor="ctr"/>
          <a:lstStyle/>
          <a:p>
            <a:pPr algn="ctr" indent="0" marL="0">
              <a:buNone/>
            </a:pPr>
            <a:r>
              <a:rPr lang="en-US" sz="1000" dirty="0">
                <a:solidFill>
                  <a:schemeClr val="accent2"/>
                </a:solidFill>
              </a:rPr>
              <a:t>Notify</a:t>
            </a:r>
            <a:endParaRPr lang="en-US" sz="1000" dirty="0"/>
          </a:p>
        </p:txBody>
      </p:sp>
      <p:sp>
        <p:nvSpPr>
          <p:cNvPr id="38" name="alert arrow"/>
          <p:cNvSpPr/>
          <p:nvPr/>
        </p:nvSpPr>
        <p:spPr>
          <a:xfrm flipH="1">
            <a:off x="5760720" y="4572000"/>
            <a:ext cx="640080" cy="0"/>
          </a:xfrm>
          <a:prstGeom prst="line">
            <a:avLst/>
          </a:prstGeom>
          <a:noFill/>
          <a:ln w="25400">
            <a:solidFill>
              <a:schemeClr val="accent3"/>
            </a:solidFill>
            <a:prstDash val="solid"/>
            <a:tailEnd type="triangle"/>
          </a:ln>
        </p:spPr>
      </p:sp>
      <p:sp>
        <p:nvSpPr>
          <p:cNvPr id="39" name="alert label"/>
          <p:cNvSpPr txBox="1"/>
          <p:nvPr/>
        </p:nvSpPr>
        <p:spPr>
          <a:xfrm>
            <a:off x="5760720" y="4617720"/>
            <a:ext cx="640080" cy="274320"/>
          </a:xfrm>
          <a:prstGeom prst="rect">
            <a:avLst/>
          </a:prstGeom>
          <a:noFill/>
          <a:ln/>
        </p:spPr>
        <p:txBody>
          <a:bodyPr wrap="square" lIns="0" tIns="0" rIns="0" bIns="0" rtlCol="0" anchor="ctr"/>
          <a:lstStyle/>
          <a:p>
            <a:pPr algn="ctr" indent="0" marL="0">
              <a:buNone/>
            </a:pPr>
            <a:r>
              <a:rPr lang="en-US" sz="1000" dirty="0">
                <a:solidFill>
                  <a:schemeClr val="accent3"/>
                </a:solidFill>
              </a:rPr>
              <a:t>alert</a:t>
            </a:r>
            <a:endParaRPr lang="en-US" sz="1000" dirty="0"/>
          </a:p>
        </p:txBody>
      </p:sp>
      <p:sp>
        <p:nvSpPr>
          <p:cNvPr id="40" name="mec to ipe"/>
          <p:cNvSpPr/>
          <p:nvPr/>
        </p:nvSpPr>
        <p:spPr>
          <a:xfrm flipH="1">
            <a:off x="5760720" y="5779008"/>
            <a:ext cx="640080" cy="0"/>
          </a:xfrm>
          <a:prstGeom prst="line">
            <a:avLst/>
          </a:prstGeom>
          <a:noFill/>
          <a:ln w="25400">
            <a:solidFill>
              <a:schemeClr val="accent6"/>
            </a:solidFill>
            <a:prstDash val="solid"/>
            <a:tailEnd type="triangle"/>
          </a:ln>
        </p:spPr>
      </p:sp>
      <p:sp>
        <p:nvSpPr>
          <p:cNvPr id="41" name="ipe to cse"/>
          <p:cNvSpPr/>
          <p:nvPr/>
        </p:nvSpPr>
        <p:spPr>
          <a:xfrm flipV="1">
            <a:off x="4800600" y="5349240"/>
            <a:ext cx="0" cy="137160"/>
          </a:xfrm>
          <a:prstGeom prst="line">
            <a:avLst/>
          </a:prstGeom>
          <a:noFill/>
          <a:ln w="25400">
            <a:solidFill>
              <a:schemeClr val="accent6"/>
            </a:solidFill>
            <a:prstDash val="solid"/>
            <a:tailEnd type="triangle"/>
          </a:ln>
        </p:spPr>
      </p:sp>
      <p:sp>
        <p:nvSpPr>
          <p:cNvPr id="42" name="mcc arrow"/>
          <p:cNvSpPr/>
          <p:nvPr/>
        </p:nvSpPr>
        <p:spPr>
          <a:xfrm>
            <a:off x="4800600" y="2057400"/>
            <a:ext cx="0" cy="822960"/>
          </a:xfrm>
          <a:prstGeom prst="line">
            <a:avLst/>
          </a:prstGeom>
          <a:noFill/>
          <a:ln w="25400">
            <a:solidFill>
              <a:schemeClr val="accent2"/>
            </a:solidFill>
            <a:prstDash val="solid"/>
            <a:headEnd type="triangle"/>
            <a:tailEnd type="triangle"/>
          </a:ln>
        </p:spPr>
      </p:sp>
      <p:sp>
        <p:nvSpPr>
          <p:cNvPr id="43" name="mcc label"/>
          <p:cNvSpPr txBox="1"/>
          <p:nvPr/>
        </p:nvSpPr>
        <p:spPr>
          <a:xfrm>
            <a:off x="4892040" y="2331720"/>
            <a:ext cx="548640" cy="274320"/>
          </a:xfrm>
          <a:prstGeom prst="rect">
            <a:avLst/>
          </a:prstGeom>
          <a:noFill/>
          <a:ln/>
        </p:spPr>
        <p:txBody>
          <a:bodyPr wrap="square" lIns="0" tIns="0" rIns="0" bIns="0" rtlCol="0" anchor="ctr"/>
          <a:lstStyle/>
          <a:p>
            <a:pPr indent="0" marL="0">
              <a:buNone/>
            </a:pPr>
            <a:r>
              <a:rPr lang="en-US" sz="1000" dirty="0">
                <a:solidFill>
                  <a:schemeClr val="accent2"/>
                </a:solidFill>
              </a:rPr>
              <a:t>Mcc</a:t>
            </a:r>
            <a:endParaRPr lang="en-US" sz="1000" dirty="0"/>
          </a:p>
        </p:txBody>
      </p:sp>
      <p:sp>
        <p:nvSpPr>
          <p:cNvPr id="44" name="cloud apps arrow"/>
          <p:cNvSpPr/>
          <p:nvPr/>
        </p:nvSpPr>
        <p:spPr>
          <a:xfrm>
            <a:off x="5760720" y="1691640"/>
            <a:ext cx="640080" cy="0"/>
          </a:xfrm>
          <a:prstGeom prst="line">
            <a:avLst/>
          </a:prstGeom>
          <a:noFill/>
          <a:ln w="25400">
            <a:solidFill>
              <a:schemeClr val="accent6"/>
            </a:solidFill>
            <a:prstDash val="solid"/>
            <a:tailEnd type="triangle"/>
          </a:ln>
        </p:spPr>
      </p:sp>
      <p:sp>
        <p:nvSpPr>
          <p:cNvPr id="45" name="mp1 arrow"/>
          <p:cNvSpPr/>
          <p:nvPr/>
        </p:nvSpPr>
        <p:spPr>
          <a:xfrm>
            <a:off x="8778240" y="4114800"/>
            <a:ext cx="548640" cy="0"/>
          </a:xfrm>
          <a:prstGeom prst="line">
            <a:avLst/>
          </a:prstGeom>
          <a:noFill/>
          <a:ln w="25400">
            <a:solidFill>
              <a:schemeClr val="accent6"/>
            </a:solidFill>
            <a:prstDash val="solid"/>
            <a:headEnd type="triangle"/>
            <a:tailEnd type="triangle"/>
          </a:ln>
        </p:spPr>
      </p:sp>
      <p:sp>
        <p:nvSpPr>
          <p:cNvPr id="46" name="mp1 label"/>
          <p:cNvSpPr txBox="1"/>
          <p:nvPr/>
        </p:nvSpPr>
        <p:spPr>
          <a:xfrm>
            <a:off x="8778240" y="3794760"/>
            <a:ext cx="548640" cy="274320"/>
          </a:xfrm>
          <a:prstGeom prst="rect">
            <a:avLst/>
          </a:prstGeom>
          <a:noFill/>
          <a:ln/>
        </p:spPr>
        <p:txBody>
          <a:bodyPr wrap="square" lIns="0" tIns="0" rIns="0" bIns="0" rtlCol="0" anchor="ctr"/>
          <a:lstStyle/>
          <a:p>
            <a:pPr algn="ctr" indent="0" marL="0">
              <a:buNone/>
            </a:pPr>
            <a:r>
              <a:rPr lang="en-US" sz="1000" dirty="0">
                <a:solidFill>
                  <a:schemeClr val="accent6"/>
                </a:solidFill>
              </a:rPr>
              <a:t>Mp1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Zones, cloud and continuity: the full picture</a:t>
            </a:r>
            <a:endParaRPr lang="en-US" sz="3000" dirty="0"/>
          </a:p>
        </p:txBody>
      </p:sp>
      <p:pic>
        <p:nvPicPr>
          <p:cNvPr id="3" name="architecture diagram" descr="EdgeGuard architecture: zone MEC hosts with MN-CSEs and MEC apps, IN-CSE with home records, federated learning coordinator and AI agent, field devices with D2D fallback">    </p:cNvPr>
          <p:cNvPicPr>
            <a:picLocks noChangeAspect="1"/>
          </p:cNvPicPr>
          <p:nvPr/>
        </p:nvPicPr>
        <p:blipFill>
          <a:blip r:embed="rId1"/>
          <a:stretch>
            <a:fillRect/>
          </a:stretch>
        </p:blipFill>
        <p:spPr>
          <a:xfrm>
            <a:off x="1527048" y="1188720"/>
            <a:ext cx="9144000" cy="51435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oneM2M resource design and access control</a:t>
            </a:r>
            <a:endParaRPr lang="en-US" sz="3000" dirty="0"/>
          </a:p>
        </p:txBody>
      </p:sp>
      <p:sp>
        <p:nvSpPr>
          <p:cNvPr id="3" name="tree panel"/>
          <p:cNvSpPr/>
          <p:nvPr/>
        </p:nvSpPr>
        <p:spPr>
          <a:xfrm>
            <a:off x="548640" y="1280160"/>
            <a:ext cx="5852160" cy="4846320"/>
          </a:xfrm>
          <a:prstGeom prst="roundRect">
            <a:avLst>
              <a:gd name="adj" fmla="val 1509"/>
            </a:avLst>
          </a:prstGeom>
          <a:solidFill>
            <a:schemeClr val="tx2"/>
          </a:solidFill>
          <a:ln w="12700">
            <a:solidFill>
              <a:schemeClr val="tx2"/>
            </a:solidFill>
            <a:prstDash val="solid"/>
          </a:ln>
        </p:spPr>
      </p:sp>
      <p:sp>
        <p:nvSpPr>
          <p:cNvPr id="4" name="resource tree"/>
          <p:cNvSpPr txBox="1"/>
          <p:nvPr/>
        </p:nvSpPr>
        <p:spPr>
          <a:xfrm>
            <a:off x="777240" y="1463040"/>
            <a:ext cx="5486400" cy="448056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/cse-mn-a (zone MN-CSE on the MEC host)</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worker_01      AE SWorker01, lbl egs:role/worker</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 tag        flexContainer egs:wrkTg</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   ├─ kinematics  egs:kinSt (mni 100)</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   ├─ cue · battery (cod:bat)</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   └─ smd    SAREF semanticDescriptor</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 relay · status   CNT</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 acp_worker_01    ACP</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forklift_01    AE: module egs:frkMe</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kinematics · speedLimit</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EdgeGuard      AE (MEC app)</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 risk · alert · control  CNT</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    └─ nearmiss (mni 2000) · mec_lease</a:t>
            </a:r>
            <a:endParaRPr lang="en-US" sz="1300" dirty="0"/>
          </a:p>
          <a:p>
            <a:pPr indent="0" marL="0">
              <a:buNone/>
            </a:pPr>
            <a:r>
              <a:rPr lang="en-US" sz="1300" dirty="0">
                <a:solidFill>
                  <a:srgbClr val="DCE3EA"/>
                </a:solidFill>
                <a:latin typeface="Courier New" pitchFamily="34" charset="0"/>
                <a:ea typeface="Courier New" pitchFamily="34" charset="-122"/>
                <a:cs typeface="Courier New" pitchFamily="34" charset="-120"/>
              </a:rPr>
              <a:t>SUB kinematics (net=update) → MEC app</a:t>
            </a:r>
            <a:endParaRPr lang="en-US" sz="1300" dirty="0"/>
          </a:p>
          <a:p>
            <a:pPr indent="0" marL="0">
              <a:buNone/>
            </a:pPr>
            <a:r>
              <a:rPr lang="en-US" sz="1300" dirty="0">
                <a:solidFill>
                  <a:schemeClr val="accent1"/>
                </a:solidFill>
                <a:latin typeface="Courier New" pitchFamily="34" charset="0"/>
                <a:ea typeface="Courier New" pitchFamily="34" charset="-122"/>
                <a:cs typeface="Courier New" pitchFamily="34" charset="-120"/>
              </a:rPr>
              <a:t>found by lbl egs:module/kinematics</a:t>
            </a:r>
            <a:endParaRPr lang="en-US" sz="1300" dirty="0"/>
          </a:p>
        </p:txBody>
      </p:sp>
      <p:graphicFrame>
        <p:nvGraphicFramePr>
          <p:cNvPr id="9" name="acp table"/>
          <p:cNvGraphicFramePr>
            <a:graphicFrameLocks noGrp="1"/>
          </p:cNvGraphicFramePr>
          <p:nvPr>
            <p:extLst>
              <p:ext uri="{D42A27DB-BD31-4B8C-83A1-F6EECF244321}">
                <p14:modId xmlns:p14="http://schemas.microsoft.com/office/powerpoint/2010/main" val="1579011935"/>
              </p:ext>
            </p:extLst>
          </p:nvPr>
        </p:nvGraphicFramePr>
        <p:xfrm>
          <a:off x="6675120" y="1280160"/>
          <a:ext cx="4965192" cy="914400"/>
        </p:xfrm>
        <a:graphic>
          <a:graphicData uri="http://schemas.openxmlformats.org/drawingml/2006/table">
            <a:tbl>
              <a:tblPr/>
              <a:tblGrid>
                <a:gridCol w="1463040"/>
                <a:gridCol w="1234440"/>
                <a:gridCol w="1097280"/>
                <a:gridCol w="1170432"/>
              </a:tblGrid>
              <a:tr h="0">
                <a:tc>
                  <a:txBody>
                    <a:bodyPr/>
                    <a:lstStyle/>
                    <a:p>
                      <a:pPr indent="0" marL="0">
                        <a:buNone/>
                      </a:pPr>
                      <a:r>
                        <a:rPr lang="en-US" sz="1200" b="1" dirty="0">
                          <a:solidFill>
                            <a:schemeClr val="bg1"/>
                          </a:solidFill>
                        </a:rPr>
                        <a:t>Who</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Own device AE</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Other device AEs</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MEC app AE</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tx1"/>
                          </a:solidFill>
                        </a:rPr>
                        <a:t>Device (e.g. SWorker01)</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all</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none</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retrieve, subscribe</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0">
                <a:tc>
                  <a:txBody>
                    <a:bodyPr/>
                    <a:lstStyle/>
                    <a:p>
                      <a:pPr indent="0" marL="0">
                        <a:buNone/>
                      </a:pPr>
                      <a:r>
                        <a:rPr lang="en-US" sz="1200" dirty="0">
                          <a:solidFill>
                            <a:schemeClr val="tx1"/>
                          </a:solidFill>
                        </a:rPr>
                        <a:t>MEC app (SEdgeGuard)</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retrieve, discover, create SUB only (chty 23)</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same</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all</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0">
                <a:tc>
                  <a:txBody>
                    <a:bodyPr/>
                    <a:lstStyle/>
                    <a:p>
                      <a:pPr indent="0" marL="0">
                        <a:buNone/>
                      </a:pPr>
                      <a:r>
                        <a:rPr lang="en-US" sz="1200" dirty="0">
                          <a:solidFill>
                            <a:schemeClr val="tx1"/>
                          </a:solidFill>
                        </a:rPr>
                        <a:t>MEC-IPE</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retrieve, discover</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same</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none</a:t>
                      </a:r>
                      <a:endParaRPr lang="en-US" sz="1200" dirty="0"/>
                    </a:p>
                  </a:txBody>
                  <a:tcPr marL="73152" marR="73152"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6" name="resource notes"/>
          <p:cNvSpPr txBox="1"/>
          <p:nvPr/>
        </p:nvSpPr>
        <p:spPr>
          <a:xfrm>
            <a:off x="6675120" y="3794760"/>
            <a:ext cx="4965192" cy="2331720"/>
          </a:xfrm>
          <a:prstGeom prst="rect">
            <a:avLst/>
          </a:prstGeom>
          <a:noFill/>
          <a:ln/>
        </p:spPr>
        <p:txBody>
          <a:bodyPr wrap="square" lIns="0" tIns="0" rIns="0" bIns="0" rtlCol="0" anchor="t"/>
          <a:lstStyle/>
          <a:p>
            <a:pPr indent="0" marL="0">
              <a:buNone/>
            </a:pPr>
            <a:r>
              <a:rPr lang="en-US" sz="1400" b="1" dirty="0">
                <a:solidFill>
                  <a:schemeClr val="tx2"/>
                </a:solidFill>
              </a:rPr>
              <a:t>Verified in CI on every commit </a:t>
            </a:r>
            <a:endParaRPr lang="en-US" sz="1400" dirty="0"/>
          </a:p>
          <a:p>
            <a:pPr indent="0" marL="0">
              <a:buNone/>
            </a:pPr>
            <a:r>
              <a:rPr lang="en-US" sz="1400" dirty="0">
                <a:solidFill>
                  <a:schemeClr val="tx1"/>
                </a:solidFill>
              </a:rPr>
              <a:t>Real Mobius: 8 of 8 checks pass, including a forged write from another device rejected with 403. The same tree runs on ACME.</a:t>
            </a:r>
            <a:endParaRPr lang="en-US" sz="1400" dirty="0"/>
          </a:p>
          <a:p>
            <a:pPr indent="0" marL="0">
              <a:buNone/>
            </a:pPr>
            <a:r>
              <a:rPr lang="en-US" sz="1400" dirty="0">
                <a:solidFill>
                  <a:schemeClr val="tx1"/>
                </a:solidFill>
              </a:rPr>
              <a:t> </a:t>
            </a:r>
            <a:endParaRPr lang="en-US" sz="1400" dirty="0"/>
          </a:p>
          <a:p>
            <a:pPr indent="0" marL="0">
              <a:buNone/>
            </a:pPr>
            <a:r>
              <a:rPr lang="en-US" sz="1400" b="1" dirty="0">
                <a:solidFill>
                  <a:schemeClr val="accent2"/>
                </a:solidFill>
              </a:rPr>
              <a:t>Data model (in use) </a:t>
            </a:r>
            <a:endParaRPr lang="en-US" sz="1400" dirty="0"/>
          </a:p>
          <a:p>
            <a:pPr indent="0" marL="0">
              <a:buNone/>
            </a:pPr>
            <a:r>
              <a:rPr lang="en-US" sz="1400" dirty="0">
                <a:solidFill>
                  <a:schemeClr val="tx1"/>
                </a:solidFill>
              </a:rPr>
              <a:t>SDT flexContainers (own domain org.edgeguard.safety + standard cod:bat), labels for discovery-based onboarding, SAREF semantic query. Next: &lt;group&gt;, &lt;pollingChannel&gt;.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ETSI MEC integration</a:t>
            </a:r>
            <a:endParaRPr lang="en-US" sz="3000" dirty="0"/>
          </a:p>
        </p:txBody>
      </p:sp>
      <p:sp>
        <p:nvSpPr>
          <p:cNvPr id="3" name="mec row 0"/>
          <p:cNvSpPr/>
          <p:nvPr/>
        </p:nvSpPr>
        <p:spPr>
          <a:xfrm>
            <a:off x="548640" y="1280160"/>
            <a:ext cx="11064240" cy="1463040"/>
          </a:xfrm>
          <a:prstGeom prst="roundRect">
            <a:avLst>
              <a:gd name="adj" fmla="val 5000"/>
            </a:avLst>
          </a:prstGeom>
          <a:solidFill>
            <a:schemeClr val="bg2"/>
          </a:solidFill>
          <a:ln w="12700">
            <a:solidFill>
              <a:schemeClr val="bg2"/>
            </a:solidFill>
            <a:prstDash val="solid"/>
          </a:ln>
        </p:spPr>
      </p:sp>
      <p:sp>
        <p:nvSpPr>
          <p:cNvPr id="4" name="mec head 0"/>
          <p:cNvSpPr txBox="1"/>
          <p:nvPr/>
        </p:nvSpPr>
        <p:spPr>
          <a:xfrm>
            <a:off x="822960" y="1463040"/>
            <a:ext cx="2743200" cy="1097280"/>
          </a:xfrm>
          <a:prstGeom prst="rect">
            <a:avLst/>
          </a:prstGeom>
          <a:noFill/>
          <a:ln/>
        </p:spPr>
        <p:txBody>
          <a:bodyPr wrap="square" lIns="0" tIns="0" rIns="0" bIns="0" rtlCol="0" anchor="t"/>
          <a:lstStyle/>
          <a:p>
            <a:pPr indent="0" marL="0">
              <a:buNone/>
            </a:pPr>
            <a:r>
              <a:rPr lang="en-US" sz="1800" b="1" dirty="0">
                <a:solidFill>
                  <a:schemeClr val="tx2"/>
                </a:solidFill>
              </a:rPr>
              <a:t>MEC services through oneM2M</a:t>
            </a:r>
            <a:endParaRPr lang="en-US" sz="1800" dirty="0"/>
          </a:p>
        </p:txBody>
      </p:sp>
      <p:sp>
        <p:nvSpPr>
          <p:cNvPr id="5" name="mec body 0"/>
          <p:cNvSpPr txBox="1"/>
          <p:nvPr/>
        </p:nvSpPr>
        <p:spPr>
          <a:xfrm>
            <a:off x="3657600" y="1463040"/>
            <a:ext cx="4297680" cy="1097280"/>
          </a:xfrm>
          <a:prstGeom prst="rect">
            <a:avLst/>
          </a:prstGeom>
          <a:noFill/>
          <a:ln/>
        </p:spPr>
        <p:txBody>
          <a:bodyPr wrap="square" lIns="0" tIns="0" rIns="0" bIns="0" rtlCol="0" anchor="t"/>
          <a:lstStyle/>
          <a:p>
            <a:pPr indent="0" marL="0">
              <a:buNone/>
            </a:pPr>
            <a:r>
              <a:rPr lang="en-US" sz="1400" dirty="0">
                <a:solidFill>
                  <a:schemeClr val="tx1"/>
                </a:solidFill>
              </a:rPr>
              <a:t>The MEC-IPE polls MEC 013 Location and MEC 012 RNIS and writes them as oneM2M resources (location/&lt;ue&gt;, rnis/&lt;cell&gt;), so the MEC app reads MEC data like any other device data.</a:t>
            </a:r>
            <a:endParaRPr lang="en-US" sz="1400" dirty="0"/>
          </a:p>
        </p:txBody>
      </p:sp>
      <p:sp>
        <p:nvSpPr>
          <p:cNvPr id="6" name="mec evidence 0"/>
          <p:cNvSpPr txBox="1"/>
          <p:nvPr/>
        </p:nvSpPr>
        <p:spPr>
          <a:xfrm>
            <a:off x="8138160" y="1463040"/>
            <a:ext cx="3291840" cy="1097280"/>
          </a:xfrm>
          <a:prstGeom prst="rect">
            <a:avLst/>
          </a:prstGeom>
          <a:noFill/>
          <a:ln/>
        </p:spPr>
        <p:txBody>
          <a:bodyPr wrap="square" lIns="0" tIns="0" rIns="0" bIns="0" rtlCol="0" anchor="t"/>
          <a:lstStyle/>
          <a:p>
            <a:pPr indent="0" marL="0">
              <a:buNone/>
            </a:pPr>
            <a:r>
              <a:rPr lang="en-US" sz="1400" dirty="0">
                <a:solidFill>
                  <a:schemeClr val="accent2"/>
                </a:solidFill>
              </a:rPr>
              <a:t>Location: positions for people without a UWB fix</a:t>
            </a:r>
            <a:endParaRPr lang="en-US" sz="1400" dirty="0"/>
          </a:p>
          <a:p>
            <a:pPr indent="0" marL="0">
              <a:buNone/>
            </a:pPr>
            <a:r>
              <a:rPr lang="en-US" sz="1400" dirty="0">
                <a:solidFill>
                  <a:schemeClr val="accent2"/>
                </a:solidFill>
              </a:rPr>
              <a:t>RNIS: cell load → adaptive reporting rate, alert priority</a:t>
            </a:r>
            <a:endParaRPr lang="en-US" sz="1400" dirty="0"/>
          </a:p>
        </p:txBody>
      </p:sp>
      <p:sp>
        <p:nvSpPr>
          <p:cNvPr id="7" name="mec row 1"/>
          <p:cNvSpPr/>
          <p:nvPr/>
        </p:nvSpPr>
        <p:spPr>
          <a:xfrm>
            <a:off x="548640" y="2926080"/>
            <a:ext cx="11064240" cy="1463040"/>
          </a:xfrm>
          <a:prstGeom prst="roundRect">
            <a:avLst>
              <a:gd name="adj" fmla="val 5000"/>
            </a:avLst>
          </a:prstGeom>
          <a:solidFill>
            <a:schemeClr val="bg2"/>
          </a:solidFill>
          <a:ln w="12700">
            <a:solidFill>
              <a:schemeClr val="bg2"/>
            </a:solidFill>
            <a:prstDash val="solid"/>
          </a:ln>
        </p:spPr>
      </p:sp>
      <p:sp>
        <p:nvSpPr>
          <p:cNvPr id="8" name="mec head 1"/>
          <p:cNvSpPr txBox="1"/>
          <p:nvPr/>
        </p:nvSpPr>
        <p:spPr>
          <a:xfrm>
            <a:off x="822960" y="3108960"/>
            <a:ext cx="2743200" cy="1097280"/>
          </a:xfrm>
          <a:prstGeom prst="rect">
            <a:avLst/>
          </a:prstGeom>
          <a:noFill/>
          <a:ln/>
        </p:spPr>
        <p:txBody>
          <a:bodyPr wrap="square" lIns="0" tIns="0" rIns="0" bIns="0" rtlCol="0" anchor="t"/>
          <a:lstStyle/>
          <a:p>
            <a:pPr indent="0" marL="0">
              <a:buNone/>
            </a:pPr>
            <a:r>
              <a:rPr lang="en-US" sz="1800" b="1" dirty="0">
                <a:solidFill>
                  <a:schemeClr val="tx2"/>
                </a:solidFill>
              </a:rPr>
              <a:t>MEC application deployment</a:t>
            </a:r>
            <a:endParaRPr lang="en-US" sz="1800" dirty="0"/>
          </a:p>
        </p:txBody>
      </p:sp>
      <p:sp>
        <p:nvSpPr>
          <p:cNvPr id="9" name="mec body 1"/>
          <p:cNvSpPr txBox="1"/>
          <p:nvPr/>
        </p:nvSpPr>
        <p:spPr>
          <a:xfrm>
            <a:off x="3657600" y="3108960"/>
            <a:ext cx="4297680" cy="1097280"/>
          </a:xfrm>
          <a:prstGeom prst="rect">
            <a:avLst/>
          </a:prstGeom>
          <a:noFill/>
          <a:ln/>
        </p:spPr>
        <p:txBody>
          <a:bodyPr wrap="square" lIns="0" tIns="0" rIns="0" bIns="0" rtlCol="0" anchor="t"/>
          <a:lstStyle/>
          <a:p>
            <a:pPr indent="0" marL="0">
              <a:buNone/>
            </a:pPr>
            <a:r>
              <a:rPr lang="en-US" sz="1400" dirty="0">
                <a:solidFill>
                  <a:schemeClr val="tx1"/>
                </a:solidFill>
              </a:rPr>
              <a:t>The EdgeGuard MEC app runs as a Docker container on the MEC host, next to the edge CSE; an active-standby pair shares a lease container in oneM2M.</a:t>
            </a:r>
            <a:endParaRPr lang="en-US" sz="1400" dirty="0"/>
          </a:p>
        </p:txBody>
      </p:sp>
      <p:sp>
        <p:nvSpPr>
          <p:cNvPr id="10" name="mec evidence 1"/>
          <p:cNvSpPr txBox="1"/>
          <p:nvPr/>
        </p:nvSpPr>
        <p:spPr>
          <a:xfrm>
            <a:off x="8138160" y="3108960"/>
            <a:ext cx="3291840" cy="1097280"/>
          </a:xfrm>
          <a:prstGeom prst="rect">
            <a:avLst/>
          </a:prstGeom>
          <a:noFill/>
          <a:ln/>
        </p:spPr>
        <p:txBody>
          <a:bodyPr wrap="square" lIns="0" tIns="0" rIns="0" bIns="0" rtlCol="0" anchor="t"/>
          <a:lstStyle/>
          <a:p>
            <a:pPr indent="0" marL="0">
              <a:buNone/>
            </a:pPr>
            <a:r>
              <a:rPr lang="en-US" sz="1400" dirty="0">
                <a:solidFill>
                  <a:schemeClr val="accent2"/>
                </a:solidFill>
              </a:rPr>
              <a:t>Self-hosted AdvantEDGE with a custom warehouse scenario: 70 alerts in 2 minutes</a:t>
            </a:r>
            <a:endParaRPr lang="en-US" sz="1400" dirty="0"/>
          </a:p>
        </p:txBody>
      </p:sp>
      <p:sp>
        <p:nvSpPr>
          <p:cNvPr id="11" name="mec row 2"/>
          <p:cNvSpPr/>
          <p:nvPr/>
        </p:nvSpPr>
        <p:spPr>
          <a:xfrm>
            <a:off x="548640" y="4572000"/>
            <a:ext cx="11064240" cy="1463040"/>
          </a:xfrm>
          <a:prstGeom prst="roundRect">
            <a:avLst>
              <a:gd name="adj" fmla="val 5000"/>
            </a:avLst>
          </a:prstGeom>
          <a:solidFill>
            <a:schemeClr val="bg2"/>
          </a:solidFill>
          <a:ln w="12700">
            <a:solidFill>
              <a:schemeClr val="bg2"/>
            </a:solidFill>
            <a:prstDash val="solid"/>
          </a:ln>
        </p:spPr>
      </p:sp>
      <p:sp>
        <p:nvSpPr>
          <p:cNvPr id="12" name="mec head 2"/>
          <p:cNvSpPr txBox="1"/>
          <p:nvPr/>
        </p:nvSpPr>
        <p:spPr>
          <a:xfrm>
            <a:off x="822960" y="4754880"/>
            <a:ext cx="2743200" cy="1097280"/>
          </a:xfrm>
          <a:prstGeom prst="rect">
            <a:avLst/>
          </a:prstGeom>
          <a:noFill/>
          <a:ln/>
        </p:spPr>
        <p:txBody>
          <a:bodyPr wrap="square" lIns="0" tIns="0" rIns="0" bIns="0" rtlCol="0" anchor="t"/>
          <a:lstStyle/>
          <a:p>
            <a:pPr indent="0" marL="0">
              <a:buNone/>
            </a:pPr>
            <a:r>
              <a:rPr lang="en-US" sz="1800" b="1" dirty="0">
                <a:solidFill>
                  <a:schemeClr val="tx2"/>
                </a:solidFill>
              </a:rPr>
              <a:t>Live ETSI MEC Sandbox</a:t>
            </a:r>
            <a:endParaRPr lang="en-US" sz="1800" dirty="0"/>
          </a:p>
        </p:txBody>
      </p:sp>
      <p:sp>
        <p:nvSpPr>
          <p:cNvPr id="13" name="mec body 2"/>
          <p:cNvSpPr txBox="1"/>
          <p:nvPr/>
        </p:nvSpPr>
        <p:spPr>
          <a:xfrm>
            <a:off x="3657600" y="4754880"/>
            <a:ext cx="4297680" cy="1097280"/>
          </a:xfrm>
          <a:prstGeom prst="rect">
            <a:avLst/>
          </a:prstGeom>
          <a:noFill/>
          <a:ln/>
        </p:spPr>
        <p:txBody>
          <a:bodyPr wrap="square" lIns="0" tIns="0" rIns="0" bIns="0" rtlCol="0" anchor="t"/>
          <a:lstStyle/>
          <a:p>
            <a:pPr indent="0" marL="0">
              <a:buNone/>
            </a:pPr>
            <a:r>
              <a:rPr lang="en-US" sz="1400" dirty="0">
                <a:solidFill>
                  <a:schemeClr val="tx1"/>
                </a:solidFill>
              </a:rPr>
              <a:t>Connected to the public Sandbox (try-mec.etsi.org): Location and RNIS queries feed the same pipeline as the local mock.</a:t>
            </a:r>
            <a:endParaRPr lang="en-US" sz="1400" dirty="0"/>
          </a:p>
        </p:txBody>
      </p:sp>
      <p:sp>
        <p:nvSpPr>
          <p:cNvPr id="14" name="mec evidence 2"/>
          <p:cNvSpPr txBox="1"/>
          <p:nvPr/>
        </p:nvSpPr>
        <p:spPr>
          <a:xfrm>
            <a:off x="8138160" y="4754880"/>
            <a:ext cx="3291840" cy="1097280"/>
          </a:xfrm>
          <a:prstGeom prst="rect">
            <a:avLst/>
          </a:prstGeom>
          <a:noFill/>
          <a:ln/>
        </p:spPr>
        <p:txBody>
          <a:bodyPr wrap="square" lIns="0" tIns="0" rIns="0" bIns="0" rtlCol="0" anchor="t"/>
          <a:lstStyle/>
          <a:p>
            <a:pPr indent="0" marL="0">
              <a:buNone/>
            </a:pPr>
            <a:r>
              <a:rPr lang="en-US" sz="1400" dirty="0">
                <a:solidFill>
                  <a:schemeClr val="accent2"/>
                </a:solidFill>
              </a:rPr>
              <a:t>Planned: Location zone subscriptions → geofencing events into oneM2M (bidirectional)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End-to-end flow: from a position to a cue</a:t>
            </a:r>
            <a:endParaRPr lang="en-US" sz="3000" dirty="0"/>
          </a:p>
        </p:txBody>
      </p:sp>
      <p:sp>
        <p:nvSpPr>
          <p:cNvPr id="3" name="step dot 1"/>
          <p:cNvSpPr/>
          <p:nvPr/>
        </p:nvSpPr>
        <p:spPr>
          <a:xfrm>
            <a:off x="1143000" y="1417320"/>
            <a:ext cx="548640" cy="548640"/>
          </a:xfrm>
          <a:prstGeom prst="ellipse">
            <a:avLst/>
          </a:prstGeom>
          <a:solidFill>
            <a:schemeClr val="tx2"/>
          </a:solidFill>
          <a:ln w="12700">
            <a:solidFill>
              <a:schemeClr val="tx2"/>
            </a:solidFill>
            <a:prstDash val="solid"/>
          </a:ln>
        </p:spPr>
      </p:sp>
      <p:sp>
        <p:nvSpPr>
          <p:cNvPr id="4" name="step num 1"/>
          <p:cNvSpPr txBox="1"/>
          <p:nvPr/>
        </p:nvSpPr>
        <p:spPr>
          <a:xfrm>
            <a:off x="1143000" y="14173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step link 1"/>
          <p:cNvSpPr/>
          <p:nvPr/>
        </p:nvSpPr>
        <p:spPr>
          <a:xfrm>
            <a:off x="1783080" y="1691640"/>
            <a:ext cx="1600200" cy="0"/>
          </a:xfrm>
          <a:prstGeom prst="line">
            <a:avLst/>
          </a:prstGeom>
          <a:noFill/>
          <a:ln w="19050">
            <a:solidFill>
              <a:srgbClr val="C9D0D8"/>
            </a:solidFill>
            <a:prstDash val="solid"/>
          </a:ln>
        </p:spPr>
      </p:sp>
      <p:sp>
        <p:nvSpPr>
          <p:cNvPr id="6" name="step head 1"/>
          <p:cNvSpPr txBox="1"/>
          <p:nvPr/>
        </p:nvSpPr>
        <p:spPr>
          <a:xfrm>
            <a:off x="548640" y="2148840"/>
            <a:ext cx="1737360" cy="365760"/>
          </a:xfrm>
          <a:prstGeom prst="rect">
            <a:avLst/>
          </a:prstGeom>
          <a:noFill/>
          <a:ln/>
        </p:spPr>
        <p:txBody>
          <a:bodyPr wrap="square" lIns="0" tIns="0" rIns="0" bIns="0" rtlCol="0" anchor="ctr"/>
          <a:lstStyle/>
          <a:p>
            <a:pPr algn="ctr" indent="0" marL="0">
              <a:buNone/>
            </a:pPr>
            <a:r>
              <a:rPr lang="en-US" sz="1600" b="1" dirty="0">
                <a:solidFill>
                  <a:schemeClr val="tx2"/>
                </a:solidFill>
              </a:rPr>
              <a:t>Sense</a:t>
            </a:r>
            <a:endParaRPr lang="en-US" sz="1600" dirty="0"/>
          </a:p>
        </p:txBody>
      </p:sp>
      <p:sp>
        <p:nvSpPr>
          <p:cNvPr id="7" name="step body 1"/>
          <p:cNvSpPr txBox="1"/>
          <p:nvPr/>
        </p:nvSpPr>
        <p:spPr>
          <a:xfrm>
            <a:off x="548640" y="2560320"/>
            <a:ext cx="1737360" cy="1005840"/>
          </a:xfrm>
          <a:prstGeom prst="rect">
            <a:avLst/>
          </a:prstGeom>
          <a:noFill/>
          <a:ln/>
        </p:spPr>
        <p:txBody>
          <a:bodyPr wrap="square" lIns="0" tIns="0" rIns="0" bIns="0" rtlCol="0" anchor="t"/>
          <a:lstStyle/>
          <a:p>
            <a:pPr algn="ctr" indent="0" marL="0">
              <a:buNone/>
            </a:pPr>
            <a:r>
              <a:rPr lang="en-US" sz="1300" dirty="0">
                <a:solidFill>
                  <a:schemeClr val="tx1"/>
                </a:solidFill>
              </a:rPr>
              <a:t>Tag / module updates its kinematics flexContainer</a:t>
            </a:r>
            <a:endParaRPr lang="en-US" sz="1300" dirty="0"/>
          </a:p>
        </p:txBody>
      </p:sp>
      <p:sp>
        <p:nvSpPr>
          <p:cNvPr id="8" name="step dot 2"/>
          <p:cNvSpPr/>
          <p:nvPr/>
        </p:nvSpPr>
        <p:spPr>
          <a:xfrm>
            <a:off x="3017520" y="1417320"/>
            <a:ext cx="548640" cy="548640"/>
          </a:xfrm>
          <a:prstGeom prst="ellipse">
            <a:avLst/>
          </a:prstGeom>
          <a:solidFill>
            <a:schemeClr val="tx2"/>
          </a:solidFill>
          <a:ln w="12700">
            <a:solidFill>
              <a:schemeClr val="tx2"/>
            </a:solidFill>
            <a:prstDash val="solid"/>
          </a:ln>
        </p:spPr>
      </p:sp>
      <p:sp>
        <p:nvSpPr>
          <p:cNvPr id="9" name="step num 2"/>
          <p:cNvSpPr txBox="1"/>
          <p:nvPr/>
        </p:nvSpPr>
        <p:spPr>
          <a:xfrm>
            <a:off x="3017520" y="14173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step link 2"/>
          <p:cNvSpPr/>
          <p:nvPr/>
        </p:nvSpPr>
        <p:spPr>
          <a:xfrm>
            <a:off x="3657600" y="1691640"/>
            <a:ext cx="1600200" cy="0"/>
          </a:xfrm>
          <a:prstGeom prst="line">
            <a:avLst/>
          </a:prstGeom>
          <a:noFill/>
          <a:ln w="19050">
            <a:solidFill>
              <a:srgbClr val="C9D0D8"/>
            </a:solidFill>
            <a:prstDash val="solid"/>
          </a:ln>
        </p:spPr>
      </p:sp>
      <p:sp>
        <p:nvSpPr>
          <p:cNvPr id="11" name="step head 2"/>
          <p:cNvSpPr txBox="1"/>
          <p:nvPr/>
        </p:nvSpPr>
        <p:spPr>
          <a:xfrm>
            <a:off x="2423160" y="2148840"/>
            <a:ext cx="1737360" cy="365760"/>
          </a:xfrm>
          <a:prstGeom prst="rect">
            <a:avLst/>
          </a:prstGeom>
          <a:noFill/>
          <a:ln/>
        </p:spPr>
        <p:txBody>
          <a:bodyPr wrap="square" lIns="0" tIns="0" rIns="0" bIns="0" rtlCol="0" anchor="ctr"/>
          <a:lstStyle/>
          <a:p>
            <a:pPr algn="ctr" indent="0" marL="0">
              <a:buNone/>
            </a:pPr>
            <a:r>
              <a:rPr lang="en-US" sz="1600" b="1" dirty="0">
                <a:solidFill>
                  <a:schemeClr val="tx2"/>
                </a:solidFill>
              </a:rPr>
              <a:t>Notify</a:t>
            </a:r>
            <a:endParaRPr lang="en-US" sz="1600" dirty="0"/>
          </a:p>
        </p:txBody>
      </p:sp>
      <p:sp>
        <p:nvSpPr>
          <p:cNvPr id="12" name="step body 2"/>
          <p:cNvSpPr txBox="1"/>
          <p:nvPr/>
        </p:nvSpPr>
        <p:spPr>
          <a:xfrm>
            <a:off x="2423160" y="2560320"/>
            <a:ext cx="1737360" cy="1005840"/>
          </a:xfrm>
          <a:prstGeom prst="rect">
            <a:avLst/>
          </a:prstGeom>
          <a:noFill/>
          <a:ln/>
        </p:spPr>
        <p:txBody>
          <a:bodyPr wrap="square" lIns="0" tIns="0" rIns="0" bIns="0" rtlCol="0" anchor="t"/>
          <a:lstStyle/>
          <a:p>
            <a:pPr algn="ctr" indent="0" marL="0">
              <a:buNone/>
            </a:pPr>
            <a:r>
              <a:rPr lang="en-US" sz="1300" dirty="0">
                <a:solidFill>
                  <a:schemeClr val="tx1"/>
                </a:solidFill>
              </a:rPr>
              <a:t>zone MN-CSE notifies the MEC app (subscription)</a:t>
            </a:r>
            <a:endParaRPr lang="en-US" sz="1300" dirty="0"/>
          </a:p>
        </p:txBody>
      </p:sp>
      <p:sp>
        <p:nvSpPr>
          <p:cNvPr id="13" name="step dot 3"/>
          <p:cNvSpPr/>
          <p:nvPr/>
        </p:nvSpPr>
        <p:spPr>
          <a:xfrm>
            <a:off x="4892040" y="1417320"/>
            <a:ext cx="548640" cy="548640"/>
          </a:xfrm>
          <a:prstGeom prst="ellipse">
            <a:avLst/>
          </a:prstGeom>
          <a:solidFill>
            <a:schemeClr val="tx2"/>
          </a:solidFill>
          <a:ln w="12700">
            <a:solidFill>
              <a:schemeClr val="tx2"/>
            </a:solidFill>
            <a:prstDash val="solid"/>
          </a:ln>
        </p:spPr>
      </p:sp>
      <p:sp>
        <p:nvSpPr>
          <p:cNvPr id="14" name="step num 3"/>
          <p:cNvSpPr txBox="1"/>
          <p:nvPr/>
        </p:nvSpPr>
        <p:spPr>
          <a:xfrm>
            <a:off x="4892040" y="14173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step link 3"/>
          <p:cNvSpPr/>
          <p:nvPr/>
        </p:nvSpPr>
        <p:spPr>
          <a:xfrm>
            <a:off x="5532120" y="1691640"/>
            <a:ext cx="1600200" cy="0"/>
          </a:xfrm>
          <a:prstGeom prst="line">
            <a:avLst/>
          </a:prstGeom>
          <a:noFill/>
          <a:ln w="19050">
            <a:solidFill>
              <a:srgbClr val="C9D0D8"/>
            </a:solidFill>
            <a:prstDash val="solid"/>
          </a:ln>
        </p:spPr>
      </p:sp>
      <p:sp>
        <p:nvSpPr>
          <p:cNvPr id="16" name="step head 3"/>
          <p:cNvSpPr txBox="1"/>
          <p:nvPr/>
        </p:nvSpPr>
        <p:spPr>
          <a:xfrm>
            <a:off x="4297680" y="2148840"/>
            <a:ext cx="1737360" cy="365760"/>
          </a:xfrm>
          <a:prstGeom prst="rect">
            <a:avLst/>
          </a:prstGeom>
          <a:noFill/>
          <a:ln/>
        </p:spPr>
        <p:txBody>
          <a:bodyPr wrap="square" lIns="0" tIns="0" rIns="0" bIns="0" rtlCol="0" anchor="ctr"/>
          <a:lstStyle/>
          <a:p>
            <a:pPr algn="ctr" indent="0" marL="0">
              <a:buNone/>
            </a:pPr>
            <a:r>
              <a:rPr lang="en-US" sz="1600" b="1" dirty="0">
                <a:solidFill>
                  <a:schemeClr val="tx2"/>
                </a:solidFill>
              </a:rPr>
              <a:t>Predict</a:t>
            </a:r>
            <a:endParaRPr lang="en-US" sz="1600" dirty="0"/>
          </a:p>
        </p:txBody>
      </p:sp>
      <p:sp>
        <p:nvSpPr>
          <p:cNvPr id="17" name="step body 3"/>
          <p:cNvSpPr txBox="1"/>
          <p:nvPr/>
        </p:nvSpPr>
        <p:spPr>
          <a:xfrm>
            <a:off x="4297680" y="2560320"/>
            <a:ext cx="1737360" cy="1005840"/>
          </a:xfrm>
          <a:prstGeom prst="rect">
            <a:avLst/>
          </a:prstGeom>
          <a:noFill/>
          <a:ln/>
        </p:spPr>
        <p:txBody>
          <a:bodyPr wrap="square" lIns="0" tIns="0" rIns="0" bIns="0" rtlCol="0" anchor="t"/>
          <a:lstStyle/>
          <a:p>
            <a:pPr algn="ctr" indent="0" marL="0">
              <a:buNone/>
            </a:pPr>
            <a:r>
              <a:rPr lang="en-US" sz="1300" dirty="0">
                <a:solidFill>
                  <a:schemeClr val="tx1"/>
                </a:solidFill>
              </a:rPr>
              <a:t>Kalman tracking, forklift turn model or shared route</a:t>
            </a:r>
            <a:endParaRPr lang="en-US" sz="1300" dirty="0"/>
          </a:p>
        </p:txBody>
      </p:sp>
      <p:sp>
        <p:nvSpPr>
          <p:cNvPr id="18" name="step dot 4"/>
          <p:cNvSpPr/>
          <p:nvPr/>
        </p:nvSpPr>
        <p:spPr>
          <a:xfrm>
            <a:off x="6766560" y="1417320"/>
            <a:ext cx="548640" cy="548640"/>
          </a:xfrm>
          <a:prstGeom prst="ellipse">
            <a:avLst/>
          </a:prstGeom>
          <a:solidFill>
            <a:schemeClr val="tx2"/>
          </a:solidFill>
          <a:ln w="12700">
            <a:solidFill>
              <a:schemeClr val="tx2"/>
            </a:solidFill>
            <a:prstDash val="solid"/>
          </a:ln>
        </p:spPr>
      </p:sp>
      <p:sp>
        <p:nvSpPr>
          <p:cNvPr id="19" name="step num 4"/>
          <p:cNvSpPr txBox="1"/>
          <p:nvPr/>
        </p:nvSpPr>
        <p:spPr>
          <a:xfrm>
            <a:off x="6766560" y="14173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step link 4"/>
          <p:cNvSpPr/>
          <p:nvPr/>
        </p:nvSpPr>
        <p:spPr>
          <a:xfrm>
            <a:off x="7406640" y="1691640"/>
            <a:ext cx="1600200" cy="0"/>
          </a:xfrm>
          <a:prstGeom prst="line">
            <a:avLst/>
          </a:prstGeom>
          <a:noFill/>
          <a:ln w="19050">
            <a:solidFill>
              <a:srgbClr val="C9D0D8"/>
            </a:solidFill>
            <a:prstDash val="solid"/>
          </a:ln>
        </p:spPr>
      </p:sp>
      <p:sp>
        <p:nvSpPr>
          <p:cNvPr id="21" name="step head 4"/>
          <p:cNvSpPr txBox="1"/>
          <p:nvPr/>
        </p:nvSpPr>
        <p:spPr>
          <a:xfrm>
            <a:off x="6172200" y="2148840"/>
            <a:ext cx="1737360" cy="365760"/>
          </a:xfrm>
          <a:prstGeom prst="rect">
            <a:avLst/>
          </a:prstGeom>
          <a:noFill/>
          <a:ln/>
        </p:spPr>
        <p:txBody>
          <a:bodyPr wrap="square" lIns="0" tIns="0" rIns="0" bIns="0" rtlCol="0" anchor="ctr"/>
          <a:lstStyle/>
          <a:p>
            <a:pPr algn="ctr" indent="0" marL="0">
              <a:buNone/>
            </a:pPr>
            <a:r>
              <a:rPr lang="en-US" sz="1600" b="1" dirty="0">
                <a:solidFill>
                  <a:schemeClr val="tx2"/>
                </a:solidFill>
              </a:rPr>
              <a:t>Decide</a:t>
            </a:r>
            <a:endParaRPr lang="en-US" sz="1600" dirty="0"/>
          </a:p>
        </p:txBody>
      </p:sp>
      <p:sp>
        <p:nvSpPr>
          <p:cNvPr id="22" name="step body 4"/>
          <p:cNvSpPr txBox="1"/>
          <p:nvPr/>
        </p:nvSpPr>
        <p:spPr>
          <a:xfrm>
            <a:off x="6172200" y="2560320"/>
            <a:ext cx="1737360" cy="1005840"/>
          </a:xfrm>
          <a:prstGeom prst="rect">
            <a:avLst/>
          </a:prstGeom>
          <a:noFill/>
          <a:ln/>
        </p:spPr>
        <p:txBody>
          <a:bodyPr wrap="square" lIns="0" tIns="0" rIns="0" bIns="0" rtlCol="0" anchor="t"/>
          <a:lstStyle/>
          <a:p>
            <a:pPr algn="ctr" indent="0" marL="0">
              <a:buNone/>
            </a:pPr>
            <a:r>
              <a:rPr lang="en-US" sz="1300" dirty="0">
                <a:solidFill>
                  <a:schemeClr val="tx1"/>
                </a:solidFill>
              </a:rPr>
              <a:t>Collision course: LOS rate + closest approach</a:t>
            </a:r>
            <a:endParaRPr lang="en-US" sz="1300" dirty="0"/>
          </a:p>
        </p:txBody>
      </p:sp>
      <p:sp>
        <p:nvSpPr>
          <p:cNvPr id="23" name="step dot 5"/>
          <p:cNvSpPr/>
          <p:nvPr/>
        </p:nvSpPr>
        <p:spPr>
          <a:xfrm>
            <a:off x="8641080" y="1417320"/>
            <a:ext cx="548640" cy="548640"/>
          </a:xfrm>
          <a:prstGeom prst="ellipse">
            <a:avLst/>
          </a:prstGeom>
          <a:solidFill>
            <a:schemeClr val="accent1"/>
          </a:solidFill>
          <a:ln w="12700">
            <a:solidFill>
              <a:schemeClr val="accent1"/>
            </a:solidFill>
            <a:prstDash val="solid"/>
          </a:ln>
        </p:spPr>
      </p:sp>
      <p:sp>
        <p:nvSpPr>
          <p:cNvPr id="24" name="step num 5"/>
          <p:cNvSpPr txBox="1"/>
          <p:nvPr/>
        </p:nvSpPr>
        <p:spPr>
          <a:xfrm>
            <a:off x="8641080" y="141732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25" name="step link 5"/>
          <p:cNvSpPr/>
          <p:nvPr/>
        </p:nvSpPr>
        <p:spPr>
          <a:xfrm>
            <a:off x="9281160" y="1691640"/>
            <a:ext cx="1600200" cy="0"/>
          </a:xfrm>
          <a:prstGeom prst="line">
            <a:avLst/>
          </a:prstGeom>
          <a:noFill/>
          <a:ln w="19050">
            <a:solidFill>
              <a:srgbClr val="C9D0D8"/>
            </a:solidFill>
            <a:prstDash val="solid"/>
          </a:ln>
        </p:spPr>
      </p:sp>
      <p:sp>
        <p:nvSpPr>
          <p:cNvPr id="26" name="step head 5"/>
          <p:cNvSpPr txBox="1"/>
          <p:nvPr/>
        </p:nvSpPr>
        <p:spPr>
          <a:xfrm>
            <a:off x="8046720" y="2148840"/>
            <a:ext cx="1737360" cy="365760"/>
          </a:xfrm>
          <a:prstGeom prst="rect">
            <a:avLst/>
          </a:prstGeom>
          <a:noFill/>
          <a:ln/>
        </p:spPr>
        <p:txBody>
          <a:bodyPr wrap="square" lIns="0" tIns="0" rIns="0" bIns="0" rtlCol="0" anchor="ctr"/>
          <a:lstStyle/>
          <a:p>
            <a:pPr algn="ctr" indent="0" marL="0">
              <a:buNone/>
            </a:pPr>
            <a:r>
              <a:rPr lang="en-US" sz="1600" b="1" dirty="0">
                <a:solidFill>
                  <a:schemeClr val="tx2"/>
                </a:solidFill>
              </a:rPr>
              <a:t>Cue</a:t>
            </a:r>
            <a:endParaRPr lang="en-US" sz="1600" dirty="0"/>
          </a:p>
        </p:txBody>
      </p:sp>
      <p:sp>
        <p:nvSpPr>
          <p:cNvPr id="27" name="step body 5"/>
          <p:cNvSpPr txBox="1"/>
          <p:nvPr/>
        </p:nvSpPr>
        <p:spPr>
          <a:xfrm>
            <a:off x="8046720" y="2560320"/>
            <a:ext cx="1737360" cy="1005840"/>
          </a:xfrm>
          <a:prstGeom prst="rect">
            <a:avLst/>
          </a:prstGeom>
          <a:noFill/>
          <a:ln/>
        </p:spPr>
        <p:txBody>
          <a:bodyPr wrap="square" lIns="0" tIns="0" rIns="0" bIns="0" rtlCol="0" anchor="t"/>
          <a:lstStyle/>
          <a:p>
            <a:pPr algn="ctr" indent="0" marL="0">
              <a:buNone/>
            </a:pPr>
            <a:r>
              <a:rPr lang="en-US" sz="1300" dirty="0">
                <a:solidFill>
                  <a:schemeClr val="tx1"/>
                </a:solidFill>
              </a:rPr>
              <a:t>Alert CIN → tag WAIT / STEP ASIDE / GO, forklift limit</a:t>
            </a:r>
            <a:endParaRPr lang="en-US" sz="1300" dirty="0"/>
          </a:p>
        </p:txBody>
      </p:sp>
      <p:sp>
        <p:nvSpPr>
          <p:cNvPr id="28" name="step dot 6"/>
          <p:cNvSpPr/>
          <p:nvPr/>
        </p:nvSpPr>
        <p:spPr>
          <a:xfrm>
            <a:off x="10515600" y="1417320"/>
            <a:ext cx="548640" cy="548640"/>
          </a:xfrm>
          <a:prstGeom prst="ellipse">
            <a:avLst/>
          </a:prstGeom>
          <a:solidFill>
            <a:schemeClr val="tx2"/>
          </a:solidFill>
          <a:ln w="12700">
            <a:solidFill>
              <a:schemeClr val="tx2"/>
            </a:solidFill>
            <a:prstDash val="solid"/>
          </a:ln>
        </p:spPr>
      </p:sp>
      <p:sp>
        <p:nvSpPr>
          <p:cNvPr id="29" name="step num 6"/>
          <p:cNvSpPr txBox="1"/>
          <p:nvPr/>
        </p:nvSpPr>
        <p:spPr>
          <a:xfrm>
            <a:off x="10515600" y="14173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0" name="step head 6"/>
          <p:cNvSpPr txBox="1"/>
          <p:nvPr/>
        </p:nvSpPr>
        <p:spPr>
          <a:xfrm>
            <a:off x="9921240" y="2148840"/>
            <a:ext cx="1737360" cy="365760"/>
          </a:xfrm>
          <a:prstGeom prst="rect">
            <a:avLst/>
          </a:prstGeom>
          <a:noFill/>
          <a:ln/>
        </p:spPr>
        <p:txBody>
          <a:bodyPr wrap="square" lIns="0" tIns="0" rIns="0" bIns="0" rtlCol="0" anchor="ctr"/>
          <a:lstStyle/>
          <a:p>
            <a:pPr algn="ctr" indent="0" marL="0">
              <a:buNone/>
            </a:pPr>
            <a:r>
              <a:rPr lang="en-US" sz="1600" b="1" dirty="0">
                <a:solidFill>
                  <a:schemeClr val="tx2"/>
                </a:solidFill>
              </a:rPr>
              <a:t>Confirm</a:t>
            </a:r>
            <a:endParaRPr lang="en-US" sz="1600" dirty="0"/>
          </a:p>
        </p:txBody>
      </p:sp>
      <p:sp>
        <p:nvSpPr>
          <p:cNvPr id="31" name="step body 6"/>
          <p:cNvSpPr txBox="1"/>
          <p:nvPr/>
        </p:nvSpPr>
        <p:spPr>
          <a:xfrm>
            <a:off x="9921240" y="2560320"/>
            <a:ext cx="1737360" cy="1005840"/>
          </a:xfrm>
          <a:prstGeom prst="rect">
            <a:avLst/>
          </a:prstGeom>
          <a:noFill/>
          <a:ln/>
        </p:spPr>
        <p:txBody>
          <a:bodyPr wrap="square" lIns="0" tIns="0" rIns="0" bIns="0" rtlCol="0" anchor="t"/>
          <a:lstStyle/>
          <a:p>
            <a:pPr algn="ctr" indent="0" marL="0">
              <a:buNone/>
            </a:pPr>
            <a:r>
              <a:rPr lang="en-US" sz="1300" dirty="0">
                <a:solidFill>
                  <a:schemeClr val="tx1"/>
                </a:solidFill>
              </a:rPr>
              <a:t>Device reports its cue / speed limit in its twin</a:t>
            </a:r>
            <a:endParaRPr lang="en-US" sz="1300" dirty="0"/>
          </a:p>
        </p:txBody>
      </p:sp>
      <p:sp>
        <p:nvSpPr>
          <p:cNvPr id="32" name="kpi 0"/>
          <p:cNvSpPr/>
          <p:nvPr/>
        </p:nvSpPr>
        <p:spPr>
          <a:xfrm>
            <a:off x="548640" y="3931920"/>
            <a:ext cx="3566160" cy="1371600"/>
          </a:xfrm>
          <a:prstGeom prst="roundRect">
            <a:avLst>
              <a:gd name="adj" fmla="val 5333"/>
            </a:avLst>
          </a:prstGeom>
          <a:solidFill>
            <a:schemeClr val="bg2"/>
          </a:solidFill>
          <a:ln w="12700">
            <a:solidFill>
              <a:schemeClr val="bg2"/>
            </a:solidFill>
            <a:prstDash val="solid"/>
          </a:ln>
        </p:spPr>
      </p:sp>
      <p:sp>
        <p:nvSpPr>
          <p:cNvPr id="33" name="kpi number 0"/>
          <p:cNvSpPr txBox="1"/>
          <p:nvPr/>
        </p:nvSpPr>
        <p:spPr>
          <a:xfrm>
            <a:off x="822960" y="4069080"/>
            <a:ext cx="3017520" cy="59436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25 ms</a:t>
            </a:r>
            <a:endParaRPr lang="en-US" sz="3000" dirty="0"/>
          </a:p>
        </p:txBody>
      </p:sp>
      <p:sp>
        <p:nvSpPr>
          <p:cNvPr id="34" name="kpi label 0"/>
          <p:cNvSpPr txBox="1"/>
          <p:nvPr/>
        </p:nvSpPr>
        <p:spPr>
          <a:xfrm>
            <a:off x="822960" y="4663440"/>
            <a:ext cx="3017520" cy="548640"/>
          </a:xfrm>
          <a:prstGeom prst="rect">
            <a:avLst/>
          </a:prstGeom>
          <a:noFill/>
          <a:ln/>
        </p:spPr>
        <p:txBody>
          <a:bodyPr wrap="square" lIns="0" tIns="0" rIns="0" bIns="0" rtlCol="0" anchor="t"/>
          <a:lstStyle/>
          <a:p>
            <a:pPr indent="0" marL="0">
              <a:buNone/>
            </a:pPr>
            <a:r>
              <a:rPr lang="en-US" sz="1300" dirty="0">
                <a:solidFill>
                  <a:schemeClr val="tx1"/>
                </a:solidFill>
              </a:rPr>
              <a:t>median alert latency on the edge (cloud only: 85 ms)</a:t>
            </a:r>
            <a:endParaRPr lang="en-US" sz="1300" dirty="0"/>
          </a:p>
        </p:txBody>
      </p:sp>
      <p:sp>
        <p:nvSpPr>
          <p:cNvPr id="35" name="kpi 1"/>
          <p:cNvSpPr/>
          <p:nvPr/>
        </p:nvSpPr>
        <p:spPr>
          <a:xfrm>
            <a:off x="4297680" y="3931920"/>
            <a:ext cx="3566160" cy="1371600"/>
          </a:xfrm>
          <a:prstGeom prst="roundRect">
            <a:avLst>
              <a:gd name="adj" fmla="val 5333"/>
            </a:avLst>
          </a:prstGeom>
          <a:solidFill>
            <a:schemeClr val="bg2"/>
          </a:solidFill>
          <a:ln w="12700">
            <a:solidFill>
              <a:schemeClr val="bg2"/>
            </a:solidFill>
            <a:prstDash val="solid"/>
          </a:ln>
        </p:spPr>
      </p:sp>
      <p:sp>
        <p:nvSpPr>
          <p:cNvPr id="36" name="kpi number 1"/>
          <p:cNvSpPr txBox="1"/>
          <p:nvPr/>
        </p:nvSpPr>
        <p:spPr>
          <a:xfrm>
            <a:off x="4572000" y="4069080"/>
            <a:ext cx="3017520" cy="59436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2.4 s</a:t>
            </a:r>
            <a:endParaRPr lang="en-US" sz="3000" dirty="0"/>
          </a:p>
        </p:txBody>
      </p:sp>
      <p:sp>
        <p:nvSpPr>
          <p:cNvPr id="37" name="kpi label 1"/>
          <p:cNvSpPr txBox="1"/>
          <p:nvPr/>
        </p:nvSpPr>
        <p:spPr>
          <a:xfrm>
            <a:off x="4572000" y="4663440"/>
            <a:ext cx="3017520" cy="548640"/>
          </a:xfrm>
          <a:prstGeom prst="rect">
            <a:avLst/>
          </a:prstGeom>
          <a:noFill/>
          <a:ln/>
        </p:spPr>
        <p:txBody>
          <a:bodyPr wrap="square" lIns="0" tIns="0" rIns="0" bIns="0" rtlCol="0" anchor="t"/>
          <a:lstStyle/>
          <a:p>
            <a:pPr indent="0" marL="0">
              <a:buNone/>
            </a:pPr>
            <a:r>
              <a:rPr lang="en-US" sz="1300" dirty="0">
                <a:solidFill>
                  <a:schemeClr val="tx1"/>
                </a:solidFill>
              </a:rPr>
              <a:t>median warning lead time; 100 % detected ≥ 1 s before contact</a:t>
            </a:r>
            <a:endParaRPr lang="en-US" sz="1300" dirty="0"/>
          </a:p>
        </p:txBody>
      </p:sp>
      <p:sp>
        <p:nvSpPr>
          <p:cNvPr id="38" name="kpi 2"/>
          <p:cNvSpPr/>
          <p:nvPr/>
        </p:nvSpPr>
        <p:spPr>
          <a:xfrm>
            <a:off x="8046720" y="3931920"/>
            <a:ext cx="3566160" cy="1371600"/>
          </a:xfrm>
          <a:prstGeom prst="roundRect">
            <a:avLst>
              <a:gd name="adj" fmla="val 5333"/>
            </a:avLst>
          </a:prstGeom>
          <a:solidFill>
            <a:schemeClr val="bg2"/>
          </a:solidFill>
          <a:ln w="12700">
            <a:solidFill>
              <a:schemeClr val="bg2"/>
            </a:solidFill>
            <a:prstDash val="solid"/>
          </a:ln>
        </p:spPr>
      </p:sp>
      <p:sp>
        <p:nvSpPr>
          <p:cNvPr id="39" name="kpi number 2"/>
          <p:cNvSpPr txBox="1"/>
          <p:nvPr/>
        </p:nvSpPr>
        <p:spPr>
          <a:xfrm>
            <a:off x="8321040" y="4069080"/>
            <a:ext cx="3017520" cy="59436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0.73 s</a:t>
            </a:r>
            <a:endParaRPr lang="en-US" sz="3000" dirty="0"/>
          </a:p>
        </p:txBody>
      </p:sp>
      <p:sp>
        <p:nvSpPr>
          <p:cNvPr id="40" name="kpi label 2"/>
          <p:cNvSpPr txBox="1"/>
          <p:nvPr/>
        </p:nvSpPr>
        <p:spPr>
          <a:xfrm>
            <a:off x="8321040" y="4663440"/>
            <a:ext cx="3017520" cy="548640"/>
          </a:xfrm>
          <a:prstGeom prst="rect">
            <a:avLst/>
          </a:prstGeom>
          <a:noFill/>
          <a:ln/>
        </p:spPr>
        <p:txBody>
          <a:bodyPr wrap="square" lIns="0" tIns="0" rIns="0" bIns="0" rtlCol="0" anchor="t"/>
          <a:lstStyle/>
          <a:p>
            <a:pPr indent="0" marL="0">
              <a:buNone/>
            </a:pPr>
            <a:r>
              <a:rPr lang="en-US" sz="1300" dirty="0">
                <a:solidFill>
                  <a:schemeClr val="tx1"/>
                </a:solidFill>
              </a:rPr>
              <a:t>standby MEC app takeover</a:t>
            </a:r>
            <a:endParaRPr lang="en-US" sz="1300" dirty="0"/>
          </a:p>
        </p:txBody>
      </p:sp>
      <p:sp>
        <p:nvSpPr>
          <p:cNvPr id="41" name="failure path"/>
          <p:cNvSpPr txBox="1"/>
          <p:nvPr/>
        </p:nvSpPr>
        <p:spPr>
          <a:xfrm>
            <a:off x="548640" y="5532120"/>
            <a:ext cx="11064240" cy="640080"/>
          </a:xfrm>
          <a:prstGeom prst="rect">
            <a:avLst/>
          </a:prstGeom>
          <a:noFill/>
          <a:ln/>
        </p:spPr>
        <p:txBody>
          <a:bodyPr wrap="square" lIns="0" tIns="0" rIns="0" bIns="0" rtlCol="0" anchor="t"/>
          <a:lstStyle/>
          <a:p>
            <a:pPr indent="0" marL="0">
              <a:buNone/>
            </a:pPr>
            <a:r>
              <a:rPr lang="en-US" sz="1400" b="1" dirty="0">
                <a:solidFill>
                  <a:schemeClr val="accent3"/>
                </a:solidFill>
              </a:rPr>
              <a:t>Failure path: </a:t>
            </a:r>
            <a:pPr indent="0" marL="0">
              <a:buNone/>
            </a:pPr>
            <a:r>
              <a:rPr lang="en-US" sz="1400" dirty="0">
                <a:solidFill>
                  <a:schemeClr val="tx1"/>
                </a:solidFill>
              </a:rPr>
              <a:t>no heartbeat from the MEC app for 2 s → devices switch to UWB ranging and D2D state exchange; neighbours relay alerts to devices in coverage holes; stop only when nothing else is known.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Status today: working end to end</a:t>
            </a:r>
            <a:endParaRPr lang="en-US" sz="3000" dirty="0"/>
          </a:p>
        </p:txBody>
      </p:sp>
      <p:pic>
        <p:nvPicPr>
          <p:cNvPr id="3" name="done icon 0" descr="preencoded.png">    </p:cNvPr>
          <p:cNvPicPr>
            <a:picLocks noChangeAspect="1"/>
          </p:cNvPicPr>
          <p:nvPr/>
        </p:nvPicPr>
        <p:blipFill>
          <a:blip r:embed="rId1"/>
          <a:stretch>
            <a:fillRect/>
          </a:stretch>
        </p:blipFill>
        <p:spPr>
          <a:xfrm>
            <a:off x="548640" y="1399032"/>
            <a:ext cx="329184" cy="329184"/>
          </a:xfrm>
          <a:prstGeom prst="rect">
            <a:avLst/>
          </a:prstGeom>
        </p:spPr>
      </p:pic>
      <p:sp>
        <p:nvSpPr>
          <p:cNvPr id="4" name="done item 0"/>
          <p:cNvSpPr txBox="1"/>
          <p:nvPr/>
        </p:nvSpPr>
        <p:spPr>
          <a:xfrm>
            <a:off x="1005840" y="1325880"/>
            <a:ext cx="5120640" cy="594360"/>
          </a:xfrm>
          <a:prstGeom prst="rect">
            <a:avLst/>
          </a:prstGeom>
          <a:noFill/>
          <a:ln/>
        </p:spPr>
        <p:txBody>
          <a:bodyPr wrap="square" lIns="0" tIns="0" rIns="0" bIns="0" rtlCol="0" anchor="ctr"/>
          <a:lstStyle/>
          <a:p>
            <a:pPr indent="0" marL="0">
              <a:buNone/>
            </a:pPr>
            <a:r>
              <a:rPr lang="en-US" sz="1400" dirty="0">
                <a:solidFill>
                  <a:schemeClr val="tx1"/>
                </a:solidFill>
              </a:rPr>
              <a:t>Per-device AEs and ACPs (CREATE limited to subscriptions); access checks in CI</a:t>
            </a:r>
            <a:endParaRPr lang="en-US" sz="1400" dirty="0"/>
          </a:p>
        </p:txBody>
      </p:sp>
      <p:pic>
        <p:nvPicPr>
          <p:cNvPr id="5" name="done icon 1" descr="preencoded.png">    </p:cNvPr>
          <p:cNvPicPr>
            <a:picLocks noChangeAspect="1"/>
          </p:cNvPicPr>
          <p:nvPr/>
        </p:nvPicPr>
        <p:blipFill>
          <a:blip r:embed="rId2"/>
          <a:stretch>
            <a:fillRect/>
          </a:stretch>
        </p:blipFill>
        <p:spPr>
          <a:xfrm>
            <a:off x="548640" y="2148840"/>
            <a:ext cx="329184" cy="329184"/>
          </a:xfrm>
          <a:prstGeom prst="rect">
            <a:avLst/>
          </a:prstGeom>
        </p:spPr>
      </p:pic>
      <p:sp>
        <p:nvSpPr>
          <p:cNvPr id="6" name="done item 1"/>
          <p:cNvSpPr txBox="1"/>
          <p:nvPr/>
        </p:nvSpPr>
        <p:spPr>
          <a:xfrm>
            <a:off x="1005840" y="2075688"/>
            <a:ext cx="5120640" cy="594360"/>
          </a:xfrm>
          <a:prstGeom prst="rect">
            <a:avLst/>
          </a:prstGeom>
          <a:noFill/>
          <a:ln/>
        </p:spPr>
        <p:txBody>
          <a:bodyPr wrap="square" lIns="0" tIns="0" rIns="0" bIns="0" rtlCol="0" anchor="ctr"/>
          <a:lstStyle/>
          <a:p>
            <a:pPr indent="0" marL="0">
              <a:buNone/>
            </a:pPr>
            <a:r>
              <a:rPr lang="en-US" sz="1400" dirty="0">
                <a:solidFill>
                  <a:schemeClr val="tx1"/>
                </a:solidFill>
              </a:rPr>
              <a:t>SDT flexContainer twins, labels, discovery onboarding, SAREF semantic query</a:t>
            </a:r>
            <a:endParaRPr lang="en-US" sz="1400" dirty="0"/>
          </a:p>
        </p:txBody>
      </p:sp>
      <p:pic>
        <p:nvPicPr>
          <p:cNvPr id="7" name="done icon 2" descr="preencoded.png">    </p:cNvPr>
          <p:cNvPicPr>
            <a:picLocks noChangeAspect="1"/>
          </p:cNvPicPr>
          <p:nvPr/>
        </p:nvPicPr>
        <p:blipFill>
          <a:blip r:embed="rId3"/>
          <a:stretch>
            <a:fillRect/>
          </a:stretch>
        </p:blipFill>
        <p:spPr>
          <a:xfrm>
            <a:off x="548640" y="2898648"/>
            <a:ext cx="329184" cy="329184"/>
          </a:xfrm>
          <a:prstGeom prst="rect">
            <a:avLst/>
          </a:prstGeom>
        </p:spPr>
      </p:pic>
      <p:sp>
        <p:nvSpPr>
          <p:cNvPr id="8" name="done item 2"/>
          <p:cNvSpPr txBox="1"/>
          <p:nvPr/>
        </p:nvSpPr>
        <p:spPr>
          <a:xfrm>
            <a:off x="1005840" y="2825496"/>
            <a:ext cx="5120640" cy="594360"/>
          </a:xfrm>
          <a:prstGeom prst="rect">
            <a:avLst/>
          </a:prstGeom>
          <a:noFill/>
          <a:ln/>
        </p:spPr>
        <p:txBody>
          <a:bodyPr wrap="square" lIns="0" tIns="0" rIns="0" bIns="0" rtlCol="0" anchor="ctr"/>
          <a:lstStyle/>
          <a:p>
            <a:pPr indent="0" marL="0">
              <a:buNone/>
            </a:pPr>
            <a:r>
              <a:rPr lang="en-US" sz="1400" dirty="0">
                <a:solidFill>
                  <a:schemeClr val="tx1"/>
                </a:solidFill>
              </a:rPr>
              <a:t>CSE handover between zone MN-CSEs with announcement and home records</a:t>
            </a:r>
            <a:endParaRPr lang="en-US" sz="1400" dirty="0"/>
          </a:p>
        </p:txBody>
      </p:sp>
      <p:pic>
        <p:nvPicPr>
          <p:cNvPr id="9" name="done icon 3" descr="preencoded.png">    </p:cNvPr>
          <p:cNvPicPr>
            <a:picLocks noChangeAspect="1"/>
          </p:cNvPicPr>
          <p:nvPr/>
        </p:nvPicPr>
        <p:blipFill>
          <a:blip r:embed="rId4"/>
          <a:stretch>
            <a:fillRect/>
          </a:stretch>
        </p:blipFill>
        <p:spPr>
          <a:xfrm>
            <a:off x="548640" y="3648456"/>
            <a:ext cx="329184" cy="329184"/>
          </a:xfrm>
          <a:prstGeom prst="rect">
            <a:avLst/>
          </a:prstGeom>
        </p:spPr>
      </p:pic>
      <p:sp>
        <p:nvSpPr>
          <p:cNvPr id="10" name="done item 3"/>
          <p:cNvSpPr txBox="1"/>
          <p:nvPr/>
        </p:nvSpPr>
        <p:spPr>
          <a:xfrm>
            <a:off x="1005840" y="3575304"/>
            <a:ext cx="5120640" cy="594360"/>
          </a:xfrm>
          <a:prstGeom prst="rect">
            <a:avLst/>
          </a:prstGeom>
          <a:noFill/>
          <a:ln/>
        </p:spPr>
        <p:txBody>
          <a:bodyPr wrap="square" lIns="0" tIns="0" rIns="0" bIns="0" rtlCol="0" anchor="ctr"/>
          <a:lstStyle/>
          <a:p>
            <a:pPr indent="0" marL="0">
              <a:buNone/>
            </a:pPr>
            <a:r>
              <a:rPr lang="en-US" sz="1400" dirty="0">
                <a:solidFill>
                  <a:schemeClr val="tx1"/>
                </a:solidFill>
              </a:rPr>
              <a:t>Federated learning through oneM2M; AI safety agent over 4 MCP servers</a:t>
            </a:r>
            <a:endParaRPr lang="en-US" sz="1400" dirty="0"/>
          </a:p>
        </p:txBody>
      </p:sp>
      <p:pic>
        <p:nvPicPr>
          <p:cNvPr id="11" name="done icon 4" descr="preencoded.png">    </p:cNvPr>
          <p:cNvPicPr>
            <a:picLocks noChangeAspect="1"/>
          </p:cNvPicPr>
          <p:nvPr/>
        </p:nvPicPr>
        <p:blipFill>
          <a:blip r:embed="rId5"/>
          <a:stretch>
            <a:fillRect/>
          </a:stretch>
        </p:blipFill>
        <p:spPr>
          <a:xfrm>
            <a:off x="548640" y="4398264"/>
            <a:ext cx="329184" cy="329184"/>
          </a:xfrm>
          <a:prstGeom prst="rect">
            <a:avLst/>
          </a:prstGeom>
        </p:spPr>
      </p:pic>
      <p:sp>
        <p:nvSpPr>
          <p:cNvPr id="12" name="done item 4"/>
          <p:cNvSpPr txBox="1"/>
          <p:nvPr/>
        </p:nvSpPr>
        <p:spPr>
          <a:xfrm>
            <a:off x="1005840" y="4325112"/>
            <a:ext cx="5120640" cy="594360"/>
          </a:xfrm>
          <a:prstGeom prst="rect">
            <a:avLst/>
          </a:prstGeom>
          <a:noFill/>
          <a:ln/>
        </p:spPr>
        <p:txBody>
          <a:bodyPr wrap="square" lIns="0" tIns="0" rIns="0" bIns="0" rtlCol="0" anchor="ctr"/>
          <a:lstStyle/>
          <a:p>
            <a:pPr indent="0" marL="0">
              <a:buNone/>
            </a:pPr>
            <a:r>
              <a:rPr lang="en-US" sz="1400" dirty="0">
                <a:solidFill>
                  <a:schemeClr val="tx1"/>
                </a:solidFill>
              </a:rPr>
              <a:t>ETSI MEC Sandbox and AdvantEDGE; MEC app with HA, monitoring, dashboard</a:t>
            </a:r>
            <a:endParaRPr lang="en-US" sz="1400" dirty="0"/>
          </a:p>
        </p:txBody>
      </p:sp>
      <p:pic>
        <p:nvPicPr>
          <p:cNvPr id="13" name="done icon 5" descr="preencoded.png">    </p:cNvPr>
          <p:cNvPicPr>
            <a:picLocks noChangeAspect="1"/>
          </p:cNvPicPr>
          <p:nvPr/>
        </p:nvPicPr>
        <p:blipFill>
          <a:blip r:embed="rId6"/>
          <a:stretch>
            <a:fillRect/>
          </a:stretch>
        </p:blipFill>
        <p:spPr>
          <a:xfrm>
            <a:off x="548640" y="5148072"/>
            <a:ext cx="329184" cy="329184"/>
          </a:xfrm>
          <a:prstGeom prst="rect">
            <a:avLst/>
          </a:prstGeom>
        </p:spPr>
      </p:pic>
      <p:sp>
        <p:nvSpPr>
          <p:cNvPr id="14" name="done item 5"/>
          <p:cNvSpPr txBox="1"/>
          <p:nvPr/>
        </p:nvSpPr>
        <p:spPr>
          <a:xfrm>
            <a:off x="1005840" y="5074920"/>
            <a:ext cx="5120640" cy="594360"/>
          </a:xfrm>
          <a:prstGeom prst="rect">
            <a:avLst/>
          </a:prstGeom>
          <a:noFill/>
          <a:ln/>
        </p:spPr>
        <p:txBody>
          <a:bodyPr wrap="square" lIns="0" tIns="0" rIns="0" bIns="0" rtlCol="0" anchor="ctr"/>
          <a:lstStyle/>
          <a:p>
            <a:pPr indent="0" marL="0">
              <a:buNone/>
            </a:pPr>
            <a:r>
              <a:rPr lang="en-US" sz="1400" dirty="0">
                <a:solidFill>
                  <a:schemeClr val="tx1"/>
                </a:solidFill>
              </a:rPr>
              <a:t>ESP32 firmware run unmodified against a real CSE in CI; hackster.io draft</a:t>
            </a:r>
            <a:endParaRPr lang="en-US" sz="1400" dirty="0"/>
          </a:p>
        </p:txBody>
      </p:sp>
      <p:sp>
        <p:nvSpPr>
          <p:cNvPr id="15" name="result 0"/>
          <p:cNvSpPr/>
          <p:nvPr/>
        </p:nvSpPr>
        <p:spPr>
          <a:xfrm>
            <a:off x="6583680" y="1325880"/>
            <a:ext cx="5029200" cy="1325880"/>
          </a:xfrm>
          <a:prstGeom prst="roundRect">
            <a:avLst>
              <a:gd name="adj" fmla="val 5517"/>
            </a:avLst>
          </a:prstGeom>
          <a:solidFill>
            <a:schemeClr val="bg2"/>
          </a:solidFill>
          <a:ln w="12700">
            <a:solidFill>
              <a:schemeClr val="bg2"/>
            </a:solidFill>
            <a:prstDash val="solid"/>
          </a:ln>
        </p:spPr>
      </p:sp>
      <p:sp>
        <p:nvSpPr>
          <p:cNvPr id="16" name="result number 0"/>
          <p:cNvSpPr txBox="1"/>
          <p:nvPr/>
        </p:nvSpPr>
        <p:spPr>
          <a:xfrm>
            <a:off x="6858000" y="1463040"/>
            <a:ext cx="4480560" cy="594360"/>
          </a:xfrm>
          <a:prstGeom prst="rect">
            <a:avLst/>
          </a:prstGeom>
          <a:noFill/>
          <a:ln/>
        </p:spPr>
        <p:txBody>
          <a:bodyPr wrap="square" lIns="0" tIns="0" rIns="0" bIns="0" rtlCol="0" anchor="ctr"/>
          <a:lstStyle/>
          <a:p>
            <a:pPr indent="0" marL="0">
              <a:buNone/>
            </a:pPr>
            <a:r>
              <a:rPr lang="en-US" sz="3000" b="1" dirty="0">
                <a:solidFill>
                  <a:schemeClr val="tx2"/>
                </a:solidFill>
                <a:latin typeface="Arial" pitchFamily="34" charset="0"/>
                <a:ea typeface="Arial" pitchFamily="34" charset="-122"/>
                <a:cs typeface="Arial" pitchFamily="34" charset="-120"/>
              </a:rPr>
              <a:t>100 → 4</a:t>
            </a:r>
            <a:endParaRPr lang="en-US" sz="3000" dirty="0"/>
          </a:p>
        </p:txBody>
      </p:sp>
      <p:sp>
        <p:nvSpPr>
          <p:cNvPr id="17" name="result label 0"/>
          <p:cNvSpPr txBox="1"/>
          <p:nvPr/>
        </p:nvSpPr>
        <p:spPr>
          <a:xfrm>
            <a:off x="6858000" y="2057400"/>
            <a:ext cx="4480560" cy="457200"/>
          </a:xfrm>
          <a:prstGeom prst="rect">
            <a:avLst/>
          </a:prstGeom>
          <a:noFill/>
          <a:ln/>
        </p:spPr>
        <p:txBody>
          <a:bodyPr wrap="square" lIns="0" tIns="0" rIns="0" bIns="0" rtlCol="0" anchor="ctr"/>
          <a:lstStyle/>
          <a:p>
            <a:pPr indent="0" marL="0">
              <a:buNone/>
            </a:pPr>
            <a:r>
              <a:rPr lang="en-US" sz="1300" dirty="0">
                <a:solidFill>
                  <a:schemeClr val="accent6"/>
                </a:solidFill>
              </a:rPr>
              <a:t>collisions, many-to-many site (8 workers, 4 forklifts, 750 conflicts)</a:t>
            </a:r>
            <a:endParaRPr lang="en-US" sz="1300" dirty="0"/>
          </a:p>
        </p:txBody>
      </p:sp>
      <p:sp>
        <p:nvSpPr>
          <p:cNvPr id="18" name="result 1"/>
          <p:cNvSpPr/>
          <p:nvPr/>
        </p:nvSpPr>
        <p:spPr>
          <a:xfrm>
            <a:off x="6583680" y="2834640"/>
            <a:ext cx="5029200" cy="1325880"/>
          </a:xfrm>
          <a:prstGeom prst="roundRect">
            <a:avLst>
              <a:gd name="adj" fmla="val 5517"/>
            </a:avLst>
          </a:prstGeom>
          <a:solidFill>
            <a:schemeClr val="bg2"/>
          </a:solidFill>
          <a:ln w="12700">
            <a:solidFill>
              <a:schemeClr val="bg2"/>
            </a:solidFill>
            <a:prstDash val="solid"/>
          </a:ln>
        </p:spPr>
      </p:sp>
      <p:sp>
        <p:nvSpPr>
          <p:cNvPr id="19" name="result number 1"/>
          <p:cNvSpPr txBox="1"/>
          <p:nvPr/>
        </p:nvSpPr>
        <p:spPr>
          <a:xfrm>
            <a:off x="6858000" y="2971800"/>
            <a:ext cx="4480560" cy="594360"/>
          </a:xfrm>
          <a:prstGeom prst="rect">
            <a:avLst/>
          </a:prstGeom>
          <a:noFill/>
          <a:ln/>
        </p:spPr>
        <p:txBody>
          <a:bodyPr wrap="square" lIns="0" tIns="0" rIns="0" bIns="0" rtlCol="0" anchor="ctr"/>
          <a:lstStyle/>
          <a:p>
            <a:pPr indent="0" marL="0">
              <a:buNone/>
            </a:pPr>
            <a:r>
              <a:rPr lang="en-US" sz="3000" b="1" dirty="0">
                <a:solidFill>
                  <a:schemeClr val="tx2"/>
                </a:solidFill>
                <a:latin typeface="Arial" pitchFamily="34" charset="0"/>
                <a:ea typeface="Arial" pitchFamily="34" charset="-122"/>
                <a:cs typeface="Arial" pitchFamily="34" charset="-120"/>
              </a:rPr>
              <a:t>61.7 → 86.0 %</a:t>
            </a:r>
            <a:endParaRPr lang="en-US" sz="3000" dirty="0"/>
          </a:p>
        </p:txBody>
      </p:sp>
      <p:sp>
        <p:nvSpPr>
          <p:cNvPr id="20" name="result label 1"/>
          <p:cNvSpPr txBox="1"/>
          <p:nvPr/>
        </p:nvSpPr>
        <p:spPr>
          <a:xfrm>
            <a:off x="6858000" y="3566160"/>
            <a:ext cx="4480560" cy="457200"/>
          </a:xfrm>
          <a:prstGeom prst="rect">
            <a:avLst/>
          </a:prstGeom>
          <a:noFill/>
          <a:ln/>
        </p:spPr>
        <p:txBody>
          <a:bodyPr wrap="square" lIns="0" tIns="0" rIns="0" bIns="0" rtlCol="0" anchor="ctr"/>
          <a:lstStyle/>
          <a:p>
            <a:pPr indent="0" marL="0">
              <a:buNone/>
            </a:pPr>
            <a:r>
              <a:rPr lang="en-US" sz="1300" dirty="0">
                <a:solidFill>
                  <a:schemeClr val="accent6"/>
                </a:solidFill>
              </a:rPr>
              <a:t>forklift throughput on the same site</a:t>
            </a:r>
            <a:endParaRPr lang="en-US" sz="1300" dirty="0"/>
          </a:p>
        </p:txBody>
      </p:sp>
      <p:sp>
        <p:nvSpPr>
          <p:cNvPr id="21" name="result 2"/>
          <p:cNvSpPr/>
          <p:nvPr/>
        </p:nvSpPr>
        <p:spPr>
          <a:xfrm>
            <a:off x="6583680" y="4343400"/>
            <a:ext cx="5029200" cy="1325880"/>
          </a:xfrm>
          <a:prstGeom prst="roundRect">
            <a:avLst>
              <a:gd name="adj" fmla="val 5517"/>
            </a:avLst>
          </a:prstGeom>
          <a:solidFill>
            <a:schemeClr val="bg2"/>
          </a:solidFill>
          <a:ln w="12700">
            <a:solidFill>
              <a:schemeClr val="bg2"/>
            </a:solidFill>
            <a:prstDash val="solid"/>
          </a:ln>
        </p:spPr>
      </p:sp>
      <p:sp>
        <p:nvSpPr>
          <p:cNvPr id="22" name="result number 2"/>
          <p:cNvSpPr txBox="1"/>
          <p:nvPr/>
        </p:nvSpPr>
        <p:spPr>
          <a:xfrm>
            <a:off x="6858000" y="4480560"/>
            <a:ext cx="4480560" cy="594360"/>
          </a:xfrm>
          <a:prstGeom prst="rect">
            <a:avLst/>
          </a:prstGeom>
          <a:noFill/>
          <a:ln/>
        </p:spPr>
        <p:txBody>
          <a:bodyPr wrap="square" lIns="0" tIns="0" rIns="0" bIns="0" rtlCol="0" anchor="ctr"/>
          <a:lstStyle/>
          <a:p>
            <a:pPr indent="0" marL="0">
              <a:buNone/>
            </a:pPr>
            <a:r>
              <a:rPr lang="en-US" sz="3000" b="1" dirty="0">
                <a:solidFill>
                  <a:schemeClr val="tx2"/>
                </a:solidFill>
                <a:latin typeface="Arial" pitchFamily="34" charset="0"/>
                <a:ea typeface="Arial" pitchFamily="34" charset="-122"/>
                <a:cs typeface="Arial" pitchFamily="34" charset="-120"/>
              </a:rPr>
              <a:t>180 → 2</a:t>
            </a:r>
            <a:endParaRPr lang="en-US" sz="3000" dirty="0"/>
          </a:p>
        </p:txBody>
      </p:sp>
      <p:sp>
        <p:nvSpPr>
          <p:cNvPr id="23" name="result label 2"/>
          <p:cNvSpPr txBox="1"/>
          <p:nvPr/>
        </p:nvSpPr>
        <p:spPr>
          <a:xfrm>
            <a:off x="6858000" y="5074920"/>
            <a:ext cx="4480560" cy="457200"/>
          </a:xfrm>
          <a:prstGeom prst="rect">
            <a:avLst/>
          </a:prstGeom>
          <a:noFill/>
          <a:ln/>
        </p:spPr>
        <p:txBody>
          <a:bodyPr wrap="square" lIns="0" tIns="0" rIns="0" bIns="0" rtlCol="0" anchor="ctr"/>
          <a:lstStyle/>
          <a:p>
            <a:pPr indent="0" marL="0">
              <a:buNone/>
            </a:pPr>
            <a:r>
              <a:rPr lang="en-US" sz="1300" dirty="0">
                <a:solidFill>
                  <a:schemeClr val="accent6"/>
                </a:solidFill>
              </a:rPr>
              <a:t>collisions during a total network outage</a:t>
            </a:r>
            <a:endParaRPr lang="en-US" sz="1300" dirty="0"/>
          </a:p>
        </p:txBody>
      </p:sp>
      <p:sp>
        <p:nvSpPr>
          <p:cNvPr id="24" name="result note"/>
          <p:cNvSpPr txBox="1"/>
          <p:nvPr/>
        </p:nvSpPr>
        <p:spPr>
          <a:xfrm>
            <a:off x="6583680" y="5897880"/>
            <a:ext cx="5029200" cy="320040"/>
          </a:xfrm>
          <a:prstGeom prst="rect">
            <a:avLst/>
          </a:prstGeom>
          <a:noFill/>
          <a:ln/>
        </p:spPr>
        <p:txBody>
          <a:bodyPr wrap="square" lIns="0" tIns="0" rIns="0" bIns="0" rtlCol="0" anchor="ctr"/>
          <a:lstStyle/>
          <a:p>
            <a:pPr indent="0" marL="0">
              <a:buNone/>
            </a:pPr>
            <a:r>
              <a:rPr lang="en-US" sz="1100" dirty="0">
                <a:solidFill>
                  <a:schemeClr val="accent6"/>
                </a:solidFill>
              </a:rPr>
              <a:t>Closed-loop simulation; baseline = our v1.0 vibration-only alert, same simulator.</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Built ahead of plan: measured in CI on every commit</a:t>
            </a:r>
            <a:endParaRPr lang="en-US" sz="3000" dirty="0"/>
          </a:p>
        </p:txBody>
      </p:sp>
      <p:sp>
        <p:nvSpPr>
          <p:cNvPr id="3" name="ahead card Data model"/>
          <p:cNvSpPr/>
          <p:nvPr/>
        </p:nvSpPr>
        <p:spPr>
          <a:xfrm>
            <a:off x="548640" y="1325880"/>
            <a:ext cx="5440680" cy="2286000"/>
          </a:xfrm>
          <a:prstGeom prst="roundRect">
            <a:avLst>
              <a:gd name="adj" fmla="val 3200"/>
            </a:avLst>
          </a:prstGeom>
          <a:solidFill>
            <a:schemeClr val="bg2"/>
          </a:solidFill>
          <a:ln w="12700">
            <a:solidFill>
              <a:schemeClr val="bg2"/>
            </a:solidFill>
            <a:prstDash val="solid"/>
          </a:ln>
        </p:spPr>
      </p:sp>
      <p:sp>
        <p:nvSpPr>
          <p:cNvPr id="4" name="ahead head Data model"/>
          <p:cNvSpPr txBox="1"/>
          <p:nvPr/>
        </p:nvSpPr>
        <p:spPr>
          <a:xfrm>
            <a:off x="822960" y="1554480"/>
            <a:ext cx="4892040" cy="411480"/>
          </a:xfrm>
          <a:prstGeom prst="rect">
            <a:avLst/>
          </a:prstGeom>
          <a:noFill/>
          <a:ln/>
        </p:spPr>
        <p:txBody>
          <a:bodyPr wrap="square" lIns="0" tIns="0" rIns="0" bIns="0" rtlCol="0" anchor="ctr"/>
          <a:lstStyle/>
          <a:p>
            <a:pPr indent="0" marL="0">
              <a:buNone/>
            </a:pPr>
            <a:r>
              <a:rPr lang="en-US" sz="2000" b="1" dirty="0">
                <a:solidFill>
                  <a:schemeClr val="tx2"/>
                </a:solidFill>
              </a:rPr>
              <a:t>Data model</a:t>
            </a:r>
            <a:endParaRPr lang="en-US" sz="2000" dirty="0"/>
          </a:p>
        </p:txBody>
      </p:sp>
      <p:sp>
        <p:nvSpPr>
          <p:cNvPr id="5" name="ahead body Data model"/>
          <p:cNvSpPr txBox="1"/>
          <p:nvPr/>
        </p:nvSpPr>
        <p:spPr>
          <a:xfrm>
            <a:off x="822960" y="2057400"/>
            <a:ext cx="4892040" cy="868680"/>
          </a:xfrm>
          <a:prstGeom prst="rect">
            <a:avLst/>
          </a:prstGeom>
          <a:noFill/>
          <a:ln/>
        </p:spPr>
        <p:txBody>
          <a:bodyPr wrap="square" lIns="0" tIns="0" rIns="0" bIns="0" rtlCol="0" anchor="t"/>
          <a:lstStyle/>
          <a:p>
            <a:pPr indent="0" marL="0">
              <a:buNone/>
            </a:pPr>
            <a:r>
              <a:rPr lang="en-US" sz="1400" dirty="0">
                <a:solidFill>
                  <a:schemeClr val="tx1"/>
                </a:solidFill>
              </a:rPr>
              <a:t>SDT flexContainer twins (own domain + standard cod:bat), labels, SAREF semantic query</a:t>
            </a:r>
            <a:endParaRPr lang="en-US" sz="1400" dirty="0"/>
          </a:p>
        </p:txBody>
      </p:sp>
      <p:sp>
        <p:nvSpPr>
          <p:cNvPr id="6" name="ahead metric Data model"/>
          <p:cNvSpPr txBox="1"/>
          <p:nvPr/>
        </p:nvSpPr>
        <p:spPr>
          <a:xfrm>
            <a:off x="822960" y="2971800"/>
            <a:ext cx="4892040" cy="457200"/>
          </a:xfrm>
          <a:prstGeom prst="rect">
            <a:avLst/>
          </a:prstGeom>
          <a:noFill/>
          <a:ln/>
        </p:spPr>
        <p:txBody>
          <a:bodyPr wrap="square" lIns="0" tIns="0" rIns="0" bIns="0" rtlCol="0" anchor="t"/>
          <a:lstStyle/>
          <a:p>
            <a:pPr indent="0" marL="0">
              <a:buNone/>
            </a:pPr>
            <a:r>
              <a:rPr lang="en-US" sz="1400" b="1" dirty="0">
                <a:solidFill>
                  <a:schemeClr val="accent2"/>
                </a:solidFill>
              </a:rPr>
              <a:t>self-registered device onboarded in ≈ 9 s · 6/6 checks</a:t>
            </a:r>
            <a:endParaRPr lang="en-US" sz="1400" dirty="0"/>
          </a:p>
        </p:txBody>
      </p:sp>
      <p:sp>
        <p:nvSpPr>
          <p:cNvPr id="7" name="ahead card CSE handover"/>
          <p:cNvSpPr/>
          <p:nvPr/>
        </p:nvSpPr>
        <p:spPr>
          <a:xfrm>
            <a:off x="6172200" y="1325880"/>
            <a:ext cx="5440680" cy="2286000"/>
          </a:xfrm>
          <a:prstGeom prst="roundRect">
            <a:avLst>
              <a:gd name="adj" fmla="val 3200"/>
            </a:avLst>
          </a:prstGeom>
          <a:solidFill>
            <a:schemeClr val="bg2"/>
          </a:solidFill>
          <a:ln w="12700">
            <a:solidFill>
              <a:schemeClr val="bg2"/>
            </a:solidFill>
            <a:prstDash val="solid"/>
          </a:ln>
        </p:spPr>
      </p:sp>
      <p:sp>
        <p:nvSpPr>
          <p:cNvPr id="8" name="ahead head CSE handover"/>
          <p:cNvSpPr txBox="1"/>
          <p:nvPr/>
        </p:nvSpPr>
        <p:spPr>
          <a:xfrm>
            <a:off x="6446520" y="1554480"/>
            <a:ext cx="4892040" cy="411480"/>
          </a:xfrm>
          <a:prstGeom prst="rect">
            <a:avLst/>
          </a:prstGeom>
          <a:noFill/>
          <a:ln/>
        </p:spPr>
        <p:txBody>
          <a:bodyPr wrap="square" lIns="0" tIns="0" rIns="0" bIns="0" rtlCol="0" anchor="ctr"/>
          <a:lstStyle/>
          <a:p>
            <a:pPr indent="0" marL="0">
              <a:buNone/>
            </a:pPr>
            <a:r>
              <a:rPr lang="en-US" sz="2000" b="1" dirty="0">
                <a:solidFill>
                  <a:schemeClr val="tx2"/>
                </a:solidFill>
              </a:rPr>
              <a:t>CSE handover</a:t>
            </a:r>
            <a:endParaRPr lang="en-US" sz="2000" dirty="0"/>
          </a:p>
        </p:txBody>
      </p:sp>
      <p:sp>
        <p:nvSpPr>
          <p:cNvPr id="9" name="ahead body CSE handover"/>
          <p:cNvSpPr txBox="1"/>
          <p:nvPr/>
        </p:nvSpPr>
        <p:spPr>
          <a:xfrm>
            <a:off x="6446520" y="2057400"/>
            <a:ext cx="4892040" cy="868680"/>
          </a:xfrm>
          <a:prstGeom prst="rect">
            <a:avLst/>
          </a:prstGeom>
          <a:noFill/>
          <a:ln/>
        </p:spPr>
        <p:txBody>
          <a:bodyPr wrap="square" lIns="0" tIns="0" rIns="0" bIns="0" rtlCol="0" anchor="t"/>
          <a:lstStyle/>
          <a:p>
            <a:pPr indent="0" marL="0">
              <a:buNone/>
            </a:pPr>
            <a:r>
              <a:rPr lang="en-US" sz="1400" dirty="0">
                <a:solidFill>
                  <a:schemeClr val="tx1"/>
                </a:solidFill>
              </a:rPr>
              <a:t>forklift AE moves between zone MN-CSEs with state, ACP, subscriptions; announcement + home record</a:t>
            </a:r>
            <a:endParaRPr lang="en-US" sz="1400" dirty="0"/>
          </a:p>
        </p:txBody>
      </p:sp>
      <p:sp>
        <p:nvSpPr>
          <p:cNvPr id="10" name="ahead metric CSE handover"/>
          <p:cNvSpPr txBox="1"/>
          <p:nvPr/>
        </p:nvSpPr>
        <p:spPr>
          <a:xfrm>
            <a:off x="6446520" y="2971800"/>
            <a:ext cx="4892040" cy="457200"/>
          </a:xfrm>
          <a:prstGeom prst="rect">
            <a:avLst/>
          </a:prstGeom>
          <a:noFill/>
          <a:ln/>
        </p:spPr>
        <p:txBody>
          <a:bodyPr wrap="square" lIns="0" tIns="0" rIns="0" bIns="0" rtlCol="0" anchor="t"/>
          <a:lstStyle/>
          <a:p>
            <a:pPr indent="0" marL="0">
              <a:buNone/>
            </a:pPr>
            <a:r>
              <a:rPr lang="en-US" sz="1400" b="1" dirty="0">
                <a:solidFill>
                  <a:schemeClr val="accent2"/>
                </a:solidFill>
              </a:rPr>
              <a:t>3–9 ms interruption, 0 samples lost · failover ≈ 0.3 s</a:t>
            </a:r>
            <a:endParaRPr lang="en-US" sz="1400" dirty="0"/>
          </a:p>
        </p:txBody>
      </p:sp>
      <p:sp>
        <p:nvSpPr>
          <p:cNvPr id="11" name="ahead card Federated learning"/>
          <p:cNvSpPr/>
          <p:nvPr/>
        </p:nvSpPr>
        <p:spPr>
          <a:xfrm>
            <a:off x="548640" y="3794760"/>
            <a:ext cx="5440680" cy="2286000"/>
          </a:xfrm>
          <a:prstGeom prst="roundRect">
            <a:avLst>
              <a:gd name="adj" fmla="val 3200"/>
            </a:avLst>
          </a:prstGeom>
          <a:solidFill>
            <a:schemeClr val="bg2"/>
          </a:solidFill>
          <a:ln w="12700">
            <a:solidFill>
              <a:schemeClr val="bg2"/>
            </a:solidFill>
            <a:prstDash val="solid"/>
          </a:ln>
        </p:spPr>
      </p:sp>
      <p:sp>
        <p:nvSpPr>
          <p:cNvPr id="12" name="ahead head Federated learning"/>
          <p:cNvSpPr txBox="1"/>
          <p:nvPr/>
        </p:nvSpPr>
        <p:spPr>
          <a:xfrm>
            <a:off x="822960" y="4023360"/>
            <a:ext cx="4892040" cy="411480"/>
          </a:xfrm>
          <a:prstGeom prst="rect">
            <a:avLst/>
          </a:prstGeom>
          <a:noFill/>
          <a:ln/>
        </p:spPr>
        <p:txBody>
          <a:bodyPr wrap="square" lIns="0" tIns="0" rIns="0" bIns="0" rtlCol="0" anchor="ctr"/>
          <a:lstStyle/>
          <a:p>
            <a:pPr indent="0" marL="0">
              <a:buNone/>
            </a:pPr>
            <a:r>
              <a:rPr lang="en-US" sz="2000" b="1" dirty="0">
                <a:solidFill>
                  <a:schemeClr val="tx2"/>
                </a:solidFill>
              </a:rPr>
              <a:t>Federated learning</a:t>
            </a:r>
            <a:endParaRPr lang="en-US" sz="2000" dirty="0"/>
          </a:p>
        </p:txBody>
      </p:sp>
      <p:sp>
        <p:nvSpPr>
          <p:cNvPr id="13" name="ahead body Federated learning"/>
          <p:cNvSpPr txBox="1"/>
          <p:nvPr/>
        </p:nvSpPr>
        <p:spPr>
          <a:xfrm>
            <a:off x="822960" y="4526280"/>
            <a:ext cx="4892040" cy="868680"/>
          </a:xfrm>
          <a:prstGeom prst="rect">
            <a:avLst/>
          </a:prstGeom>
          <a:noFill/>
          <a:ln/>
        </p:spPr>
        <p:txBody>
          <a:bodyPr wrap="square" lIns="0" tIns="0" rIns="0" bIns="0" rtlCol="0" anchor="t"/>
          <a:lstStyle/>
          <a:p>
            <a:pPr indent="0" marL="0">
              <a:buNone/>
            </a:pPr>
            <a:r>
              <a:rPr lang="en-US" sz="1400" dirty="0">
                <a:solidFill>
                  <a:schemeClr val="tx1"/>
                </a:solidFill>
              </a:rPr>
              <a:t>TR-0084 roles as oneM2M resources: task, participants, rounds, model lineage; dropout, late join</a:t>
            </a:r>
            <a:endParaRPr lang="en-US" sz="1400" dirty="0"/>
          </a:p>
        </p:txBody>
      </p:sp>
      <p:sp>
        <p:nvSpPr>
          <p:cNvPr id="14" name="ahead metric Federated learning"/>
          <p:cNvSpPr txBox="1"/>
          <p:nvPr/>
        </p:nvSpPr>
        <p:spPr>
          <a:xfrm>
            <a:off x="822960" y="5440680"/>
            <a:ext cx="4892040" cy="457200"/>
          </a:xfrm>
          <a:prstGeom prst="rect">
            <a:avLst/>
          </a:prstGeom>
          <a:noFill/>
          <a:ln/>
        </p:spPr>
        <p:txBody>
          <a:bodyPr wrap="square" lIns="0" tIns="0" rIns="0" bIns="0" rtlCol="0" anchor="t"/>
          <a:lstStyle/>
          <a:p>
            <a:pPr indent="0" marL="0">
              <a:buNone/>
            </a:pPr>
            <a:r>
              <a:rPr lang="en-US" sz="1400" b="1" dirty="0">
                <a:solidFill>
                  <a:schemeClr val="accent2"/>
                </a:solidFill>
              </a:rPr>
              <a:t>2 s prediction error 0.604 → 0.486 m · 8/8 checks</a:t>
            </a:r>
            <a:endParaRPr lang="en-US" sz="1400" dirty="0"/>
          </a:p>
        </p:txBody>
      </p:sp>
      <p:sp>
        <p:nvSpPr>
          <p:cNvPr id="15" name="ahead card AI safety agent"/>
          <p:cNvSpPr/>
          <p:nvPr/>
        </p:nvSpPr>
        <p:spPr>
          <a:xfrm>
            <a:off x="6172200" y="3794760"/>
            <a:ext cx="5440680" cy="2286000"/>
          </a:xfrm>
          <a:prstGeom prst="roundRect">
            <a:avLst>
              <a:gd name="adj" fmla="val 3200"/>
            </a:avLst>
          </a:prstGeom>
          <a:solidFill>
            <a:schemeClr val="bg2"/>
          </a:solidFill>
          <a:ln w="12700">
            <a:solidFill>
              <a:schemeClr val="bg2"/>
            </a:solidFill>
            <a:prstDash val="solid"/>
          </a:ln>
        </p:spPr>
      </p:sp>
      <p:sp>
        <p:nvSpPr>
          <p:cNvPr id="16" name="ahead head AI safety agent"/>
          <p:cNvSpPr txBox="1"/>
          <p:nvPr/>
        </p:nvSpPr>
        <p:spPr>
          <a:xfrm>
            <a:off x="6446520" y="4023360"/>
            <a:ext cx="4892040" cy="411480"/>
          </a:xfrm>
          <a:prstGeom prst="rect">
            <a:avLst/>
          </a:prstGeom>
          <a:noFill/>
          <a:ln/>
        </p:spPr>
        <p:txBody>
          <a:bodyPr wrap="square" lIns="0" tIns="0" rIns="0" bIns="0" rtlCol="0" anchor="ctr"/>
          <a:lstStyle/>
          <a:p>
            <a:pPr indent="0" marL="0">
              <a:buNone/>
            </a:pPr>
            <a:r>
              <a:rPr lang="en-US" sz="2000" b="1" dirty="0">
                <a:solidFill>
                  <a:schemeClr val="tx2"/>
                </a:solidFill>
              </a:rPr>
              <a:t>AI safety agent</a:t>
            </a:r>
            <a:endParaRPr lang="en-US" sz="2000" dirty="0"/>
          </a:p>
        </p:txBody>
      </p:sp>
      <p:sp>
        <p:nvSpPr>
          <p:cNvPr id="17" name="ahead body AI safety agent"/>
          <p:cNvSpPr txBox="1"/>
          <p:nvPr/>
        </p:nvSpPr>
        <p:spPr>
          <a:xfrm>
            <a:off x="6446520" y="4526280"/>
            <a:ext cx="4892040" cy="868680"/>
          </a:xfrm>
          <a:prstGeom prst="rect">
            <a:avLst/>
          </a:prstGeom>
          <a:noFill/>
          <a:ln/>
        </p:spPr>
        <p:txBody>
          <a:bodyPr wrap="square" lIns="0" tIns="0" rIns="0" bIns="0" rtlCol="0" anchor="t"/>
          <a:lstStyle/>
          <a:p>
            <a:pPr indent="0" marL="0">
              <a:buNone/>
            </a:pPr>
            <a:r>
              <a:rPr lang="en-US" sz="1400" dirty="0">
                <a:solidFill>
                  <a:schemeClr val="tx1"/>
                </a:solidFill>
              </a:rPr>
              <a:t>MCP servers for IN-CSE, zone A, zone B and ETSI MEC; state in oneM2M; routing to the serving CSE</a:t>
            </a:r>
            <a:endParaRPr lang="en-US" sz="1400" dirty="0"/>
          </a:p>
        </p:txBody>
      </p:sp>
      <p:sp>
        <p:nvSpPr>
          <p:cNvPr id="18" name="ahead metric AI safety agent"/>
          <p:cNvSpPr txBox="1"/>
          <p:nvPr/>
        </p:nvSpPr>
        <p:spPr>
          <a:xfrm>
            <a:off x="6446520" y="5440680"/>
            <a:ext cx="4892040" cy="457200"/>
          </a:xfrm>
          <a:prstGeom prst="rect">
            <a:avLst/>
          </a:prstGeom>
          <a:noFill/>
          <a:ln/>
        </p:spPr>
        <p:txBody>
          <a:bodyPr wrap="square" lIns="0" tIns="0" rIns="0" bIns="0" rtlCol="0" anchor="t"/>
          <a:lstStyle/>
          <a:p>
            <a:pPr indent="0" marL="0">
              <a:buNone/>
            </a:pPr>
            <a:r>
              <a:rPr lang="en-US" sz="1400" b="1" dirty="0">
                <a:solidFill>
                  <a:schemeClr val="accent2"/>
                </a:solidFill>
              </a:rPr>
              <a:t>shift report in 16 tool calls, validated · 9/9 checks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Development plan: Oct 12 – Nov 25</a:t>
            </a:r>
            <a:endParaRPr lang="en-US" sz="3000" dirty="0"/>
          </a:p>
        </p:txBody>
      </p:sp>
      <p:sp>
        <p:nvSpPr>
          <p:cNvPr id="3" name="week line 0"/>
          <p:cNvSpPr/>
          <p:nvPr/>
        </p:nvSpPr>
        <p:spPr>
          <a:xfrm>
            <a:off x="3566160" y="1600200"/>
            <a:ext cx="0" cy="4069080"/>
          </a:xfrm>
          <a:prstGeom prst="line">
            <a:avLst/>
          </a:prstGeom>
          <a:noFill/>
          <a:ln w="9525">
            <a:solidFill>
              <a:srgbClr val="D5DAE0"/>
            </a:solidFill>
            <a:prstDash val="solid"/>
          </a:ln>
        </p:spPr>
      </p:sp>
      <p:sp>
        <p:nvSpPr>
          <p:cNvPr id="4" name="week label 0"/>
          <p:cNvSpPr txBox="1"/>
          <p:nvPr/>
        </p:nvSpPr>
        <p:spPr>
          <a:xfrm>
            <a:off x="3200400" y="1234440"/>
            <a:ext cx="731520" cy="274320"/>
          </a:xfrm>
          <a:prstGeom prst="rect">
            <a:avLst/>
          </a:prstGeom>
          <a:noFill/>
          <a:ln/>
        </p:spPr>
        <p:txBody>
          <a:bodyPr wrap="square" lIns="0" tIns="0" rIns="0" bIns="0" rtlCol="0" anchor="ctr"/>
          <a:lstStyle/>
          <a:p>
            <a:pPr algn="ctr" indent="0" marL="0">
              <a:buNone/>
            </a:pPr>
            <a:r>
              <a:rPr lang="en-US" sz="1100" dirty="0">
                <a:solidFill>
                  <a:schemeClr val="accent6"/>
                </a:solidFill>
              </a:rPr>
              <a:t>Oct 12</a:t>
            </a:r>
            <a:endParaRPr lang="en-US" sz="1100" dirty="0"/>
          </a:p>
        </p:txBody>
      </p:sp>
      <p:sp>
        <p:nvSpPr>
          <p:cNvPr id="5" name="week line 1"/>
          <p:cNvSpPr/>
          <p:nvPr/>
        </p:nvSpPr>
        <p:spPr>
          <a:xfrm>
            <a:off x="4817872" y="1600200"/>
            <a:ext cx="0" cy="4069080"/>
          </a:xfrm>
          <a:prstGeom prst="line">
            <a:avLst/>
          </a:prstGeom>
          <a:noFill/>
          <a:ln w="9525">
            <a:solidFill>
              <a:srgbClr val="D5DAE0"/>
            </a:solidFill>
            <a:prstDash val="solid"/>
          </a:ln>
        </p:spPr>
      </p:sp>
      <p:sp>
        <p:nvSpPr>
          <p:cNvPr id="6" name="week label 1"/>
          <p:cNvSpPr txBox="1"/>
          <p:nvPr/>
        </p:nvSpPr>
        <p:spPr>
          <a:xfrm>
            <a:off x="4452112" y="1234440"/>
            <a:ext cx="731520" cy="274320"/>
          </a:xfrm>
          <a:prstGeom prst="rect">
            <a:avLst/>
          </a:prstGeom>
          <a:noFill/>
          <a:ln/>
        </p:spPr>
        <p:txBody>
          <a:bodyPr wrap="square" lIns="0" tIns="0" rIns="0" bIns="0" rtlCol="0" anchor="ctr"/>
          <a:lstStyle/>
          <a:p>
            <a:pPr algn="ctr" indent="0" marL="0">
              <a:buNone/>
            </a:pPr>
            <a:r>
              <a:rPr lang="en-US" sz="1100" dirty="0">
                <a:solidFill>
                  <a:schemeClr val="accent6"/>
                </a:solidFill>
              </a:rPr>
              <a:t>Oct 19</a:t>
            </a:r>
            <a:endParaRPr lang="en-US" sz="1100" dirty="0"/>
          </a:p>
        </p:txBody>
      </p:sp>
      <p:sp>
        <p:nvSpPr>
          <p:cNvPr id="7" name="week line 2"/>
          <p:cNvSpPr/>
          <p:nvPr/>
        </p:nvSpPr>
        <p:spPr>
          <a:xfrm>
            <a:off x="6069584" y="1600200"/>
            <a:ext cx="0" cy="4069080"/>
          </a:xfrm>
          <a:prstGeom prst="line">
            <a:avLst/>
          </a:prstGeom>
          <a:noFill/>
          <a:ln w="9525">
            <a:solidFill>
              <a:srgbClr val="D5DAE0"/>
            </a:solidFill>
            <a:prstDash val="solid"/>
          </a:ln>
        </p:spPr>
      </p:sp>
      <p:sp>
        <p:nvSpPr>
          <p:cNvPr id="8" name="week label 2"/>
          <p:cNvSpPr txBox="1"/>
          <p:nvPr/>
        </p:nvSpPr>
        <p:spPr>
          <a:xfrm>
            <a:off x="5703824" y="1234440"/>
            <a:ext cx="731520" cy="274320"/>
          </a:xfrm>
          <a:prstGeom prst="rect">
            <a:avLst/>
          </a:prstGeom>
          <a:noFill/>
          <a:ln/>
        </p:spPr>
        <p:txBody>
          <a:bodyPr wrap="square" lIns="0" tIns="0" rIns="0" bIns="0" rtlCol="0" anchor="ctr"/>
          <a:lstStyle/>
          <a:p>
            <a:pPr algn="ctr" indent="0" marL="0">
              <a:buNone/>
            </a:pPr>
            <a:r>
              <a:rPr lang="en-US" sz="1100" dirty="0">
                <a:solidFill>
                  <a:schemeClr val="accent6"/>
                </a:solidFill>
              </a:rPr>
              <a:t>Oct 26</a:t>
            </a:r>
            <a:endParaRPr lang="en-US" sz="1100" dirty="0"/>
          </a:p>
        </p:txBody>
      </p:sp>
      <p:sp>
        <p:nvSpPr>
          <p:cNvPr id="9" name="week line 3"/>
          <p:cNvSpPr/>
          <p:nvPr/>
        </p:nvSpPr>
        <p:spPr>
          <a:xfrm>
            <a:off x="7321296" y="1600200"/>
            <a:ext cx="0" cy="4069080"/>
          </a:xfrm>
          <a:prstGeom prst="line">
            <a:avLst/>
          </a:prstGeom>
          <a:noFill/>
          <a:ln w="9525">
            <a:solidFill>
              <a:srgbClr val="D5DAE0"/>
            </a:solidFill>
            <a:prstDash val="solid"/>
          </a:ln>
        </p:spPr>
      </p:sp>
      <p:sp>
        <p:nvSpPr>
          <p:cNvPr id="10" name="week label 3"/>
          <p:cNvSpPr txBox="1"/>
          <p:nvPr/>
        </p:nvSpPr>
        <p:spPr>
          <a:xfrm>
            <a:off x="6955536" y="1234440"/>
            <a:ext cx="731520" cy="274320"/>
          </a:xfrm>
          <a:prstGeom prst="rect">
            <a:avLst/>
          </a:prstGeom>
          <a:noFill/>
          <a:ln/>
        </p:spPr>
        <p:txBody>
          <a:bodyPr wrap="square" lIns="0" tIns="0" rIns="0" bIns="0" rtlCol="0" anchor="ctr"/>
          <a:lstStyle/>
          <a:p>
            <a:pPr algn="ctr" indent="0" marL="0">
              <a:buNone/>
            </a:pPr>
            <a:r>
              <a:rPr lang="en-US" sz="1100" dirty="0">
                <a:solidFill>
                  <a:schemeClr val="accent6"/>
                </a:solidFill>
              </a:rPr>
              <a:t>Nov 2</a:t>
            </a:r>
            <a:endParaRPr lang="en-US" sz="1100" dirty="0"/>
          </a:p>
        </p:txBody>
      </p:sp>
      <p:sp>
        <p:nvSpPr>
          <p:cNvPr id="11" name="week line 4"/>
          <p:cNvSpPr/>
          <p:nvPr/>
        </p:nvSpPr>
        <p:spPr>
          <a:xfrm>
            <a:off x="8573008" y="1600200"/>
            <a:ext cx="0" cy="4069080"/>
          </a:xfrm>
          <a:prstGeom prst="line">
            <a:avLst/>
          </a:prstGeom>
          <a:noFill/>
          <a:ln w="9525">
            <a:solidFill>
              <a:srgbClr val="D5DAE0"/>
            </a:solidFill>
            <a:prstDash val="solid"/>
          </a:ln>
        </p:spPr>
      </p:sp>
      <p:sp>
        <p:nvSpPr>
          <p:cNvPr id="12" name="week label 4"/>
          <p:cNvSpPr txBox="1"/>
          <p:nvPr/>
        </p:nvSpPr>
        <p:spPr>
          <a:xfrm>
            <a:off x="8207248" y="1234440"/>
            <a:ext cx="731520" cy="274320"/>
          </a:xfrm>
          <a:prstGeom prst="rect">
            <a:avLst/>
          </a:prstGeom>
          <a:noFill/>
          <a:ln/>
        </p:spPr>
        <p:txBody>
          <a:bodyPr wrap="square" lIns="0" tIns="0" rIns="0" bIns="0" rtlCol="0" anchor="ctr"/>
          <a:lstStyle/>
          <a:p>
            <a:pPr algn="ctr" indent="0" marL="0">
              <a:buNone/>
            </a:pPr>
            <a:r>
              <a:rPr lang="en-US" sz="1100" dirty="0">
                <a:solidFill>
                  <a:schemeClr val="accent6"/>
                </a:solidFill>
              </a:rPr>
              <a:t>Nov 9</a:t>
            </a:r>
            <a:endParaRPr lang="en-US" sz="1100" dirty="0"/>
          </a:p>
        </p:txBody>
      </p:sp>
      <p:sp>
        <p:nvSpPr>
          <p:cNvPr id="13" name="week line 5"/>
          <p:cNvSpPr/>
          <p:nvPr/>
        </p:nvSpPr>
        <p:spPr>
          <a:xfrm>
            <a:off x="9824720" y="1600200"/>
            <a:ext cx="0" cy="4069080"/>
          </a:xfrm>
          <a:prstGeom prst="line">
            <a:avLst/>
          </a:prstGeom>
          <a:noFill/>
          <a:ln w="9525">
            <a:solidFill>
              <a:srgbClr val="D5DAE0"/>
            </a:solidFill>
            <a:prstDash val="solid"/>
          </a:ln>
        </p:spPr>
      </p:sp>
      <p:sp>
        <p:nvSpPr>
          <p:cNvPr id="14" name="week label 5"/>
          <p:cNvSpPr txBox="1"/>
          <p:nvPr/>
        </p:nvSpPr>
        <p:spPr>
          <a:xfrm>
            <a:off x="9458960" y="1234440"/>
            <a:ext cx="731520" cy="274320"/>
          </a:xfrm>
          <a:prstGeom prst="rect">
            <a:avLst/>
          </a:prstGeom>
          <a:noFill/>
          <a:ln/>
        </p:spPr>
        <p:txBody>
          <a:bodyPr wrap="square" lIns="0" tIns="0" rIns="0" bIns="0" rtlCol="0" anchor="ctr"/>
          <a:lstStyle/>
          <a:p>
            <a:pPr algn="ctr" indent="0" marL="0">
              <a:buNone/>
            </a:pPr>
            <a:r>
              <a:rPr lang="en-US" sz="1100" dirty="0">
                <a:solidFill>
                  <a:schemeClr val="accent6"/>
                </a:solidFill>
              </a:rPr>
              <a:t>Nov 16</a:t>
            </a:r>
            <a:endParaRPr lang="en-US" sz="1100" dirty="0"/>
          </a:p>
        </p:txBody>
      </p:sp>
      <p:sp>
        <p:nvSpPr>
          <p:cNvPr id="15" name="week line 6"/>
          <p:cNvSpPr/>
          <p:nvPr/>
        </p:nvSpPr>
        <p:spPr>
          <a:xfrm>
            <a:off x="11076432" y="1600200"/>
            <a:ext cx="0" cy="4069080"/>
          </a:xfrm>
          <a:prstGeom prst="line">
            <a:avLst/>
          </a:prstGeom>
          <a:noFill/>
          <a:ln w="9525">
            <a:solidFill>
              <a:srgbClr val="D5DAE0"/>
            </a:solidFill>
            <a:prstDash val="solid"/>
          </a:ln>
        </p:spPr>
      </p:sp>
      <p:sp>
        <p:nvSpPr>
          <p:cNvPr id="16" name="week label 6"/>
          <p:cNvSpPr txBox="1"/>
          <p:nvPr/>
        </p:nvSpPr>
        <p:spPr>
          <a:xfrm>
            <a:off x="10710672" y="1234440"/>
            <a:ext cx="731520" cy="274320"/>
          </a:xfrm>
          <a:prstGeom prst="rect">
            <a:avLst/>
          </a:prstGeom>
          <a:noFill/>
          <a:ln/>
        </p:spPr>
        <p:txBody>
          <a:bodyPr wrap="square" lIns="0" tIns="0" rIns="0" bIns="0" rtlCol="0" anchor="ctr"/>
          <a:lstStyle/>
          <a:p>
            <a:pPr algn="ctr" indent="0" marL="0">
              <a:buNone/>
            </a:pPr>
            <a:r>
              <a:rPr lang="en-US" sz="1100" dirty="0">
                <a:solidFill>
                  <a:schemeClr val="accent6"/>
                </a:solidFill>
              </a:rPr>
              <a:t>Nov 23</a:t>
            </a:r>
            <a:endParaRPr lang="en-US" sz="1100" dirty="0"/>
          </a:p>
        </p:txBody>
      </p:sp>
      <p:sp>
        <p:nvSpPr>
          <p:cNvPr id="17" name="bar label 0"/>
          <p:cNvSpPr txBox="1"/>
          <p:nvPr/>
        </p:nvSpPr>
        <p:spPr>
          <a:xfrm>
            <a:off x="548640" y="1737360"/>
            <a:ext cx="2926080" cy="502920"/>
          </a:xfrm>
          <a:prstGeom prst="rect">
            <a:avLst/>
          </a:prstGeom>
          <a:noFill/>
          <a:ln/>
        </p:spPr>
        <p:txBody>
          <a:bodyPr wrap="square" lIns="0" tIns="0" rIns="0" bIns="0" rtlCol="0" anchor="ctr"/>
          <a:lstStyle/>
          <a:p>
            <a:pPr indent="0" marL="0">
              <a:buNone/>
            </a:pPr>
            <a:r>
              <a:rPr lang="en-US" sz="1200" dirty="0">
                <a:solidFill>
                  <a:schemeClr val="tx1"/>
                </a:solidFill>
              </a:rPr>
              <a:t>Done: data model, CSE handover, FL, MCP agent</a:t>
            </a:r>
            <a:endParaRPr lang="en-US" sz="1200" dirty="0"/>
          </a:p>
        </p:txBody>
      </p:sp>
      <p:sp>
        <p:nvSpPr>
          <p:cNvPr id="18" name="bar 0"/>
          <p:cNvSpPr/>
          <p:nvPr/>
        </p:nvSpPr>
        <p:spPr>
          <a:xfrm>
            <a:off x="3566160" y="1828800"/>
            <a:ext cx="178816" cy="329184"/>
          </a:xfrm>
          <a:prstGeom prst="roundRect">
            <a:avLst>
              <a:gd name="adj" fmla="val 30682"/>
            </a:avLst>
          </a:prstGeom>
          <a:solidFill>
            <a:schemeClr val="accent6"/>
          </a:solidFill>
          <a:ln w="12700">
            <a:solidFill>
              <a:schemeClr val="accent6"/>
            </a:solidFill>
            <a:prstDash val="solid"/>
          </a:ln>
        </p:spPr>
      </p:sp>
      <p:sp>
        <p:nvSpPr>
          <p:cNvPr id="19" name="bar label 1"/>
          <p:cNvSpPr txBox="1"/>
          <p:nvPr/>
        </p:nvSpPr>
        <p:spPr>
          <a:xfrm>
            <a:off x="548640" y="2395728"/>
            <a:ext cx="2926080" cy="502920"/>
          </a:xfrm>
          <a:prstGeom prst="rect">
            <a:avLst/>
          </a:prstGeom>
          <a:noFill/>
          <a:ln/>
        </p:spPr>
        <p:txBody>
          <a:bodyPr wrap="square" lIns="0" tIns="0" rIns="0" bIns="0" rtlCol="0" anchor="ctr"/>
          <a:lstStyle/>
          <a:p>
            <a:pPr indent="0" marL="0">
              <a:buNone/>
            </a:pPr>
            <a:r>
              <a:rPr lang="en-US" sz="1200" dirty="0">
                <a:solidFill>
                  <a:schemeClr val="tx1"/>
                </a:solidFill>
              </a:rPr>
              <a:t>M2  group, pollingChannel, MQTT for devices, TLS</a:t>
            </a:r>
            <a:endParaRPr lang="en-US" sz="1200" dirty="0"/>
          </a:p>
        </p:txBody>
      </p:sp>
      <p:sp>
        <p:nvSpPr>
          <p:cNvPr id="20" name="bar 1"/>
          <p:cNvSpPr/>
          <p:nvPr/>
        </p:nvSpPr>
        <p:spPr>
          <a:xfrm>
            <a:off x="5175504" y="2487168"/>
            <a:ext cx="1966976" cy="329184"/>
          </a:xfrm>
          <a:prstGeom prst="roundRect">
            <a:avLst>
              <a:gd name="adj" fmla="val 16667"/>
            </a:avLst>
          </a:prstGeom>
          <a:solidFill>
            <a:schemeClr val="accent2"/>
          </a:solidFill>
          <a:ln w="12700">
            <a:solidFill>
              <a:schemeClr val="accent2"/>
            </a:solidFill>
            <a:prstDash val="solid"/>
          </a:ln>
        </p:spPr>
      </p:sp>
      <p:sp>
        <p:nvSpPr>
          <p:cNvPr id="21" name="bar label 2"/>
          <p:cNvSpPr txBox="1"/>
          <p:nvPr/>
        </p:nvSpPr>
        <p:spPr>
          <a:xfrm>
            <a:off x="548640" y="3054096"/>
            <a:ext cx="2926080" cy="502920"/>
          </a:xfrm>
          <a:prstGeom prst="rect">
            <a:avLst/>
          </a:prstGeom>
          <a:noFill/>
          <a:ln/>
        </p:spPr>
        <p:txBody>
          <a:bodyPr wrap="square" lIns="0" tIns="0" rIns="0" bIns="0" rtlCol="0" anchor="ctr"/>
          <a:lstStyle/>
          <a:p>
            <a:pPr indent="0" marL="0">
              <a:buNone/>
            </a:pPr>
            <a:r>
              <a:rPr lang="en-US" sz="1200" dirty="0">
                <a:solidFill>
                  <a:schemeClr val="tx1"/>
                </a:solidFill>
              </a:rPr>
              <a:t>M3  MEC Location zones: geofencing, handover trigger, multi-host</a:t>
            </a:r>
            <a:endParaRPr lang="en-US" sz="1200" dirty="0"/>
          </a:p>
        </p:txBody>
      </p:sp>
      <p:sp>
        <p:nvSpPr>
          <p:cNvPr id="22" name="bar 2"/>
          <p:cNvSpPr/>
          <p:nvPr/>
        </p:nvSpPr>
        <p:spPr>
          <a:xfrm>
            <a:off x="7142480" y="3145536"/>
            <a:ext cx="1788160" cy="329184"/>
          </a:xfrm>
          <a:prstGeom prst="roundRect">
            <a:avLst>
              <a:gd name="adj" fmla="val 16667"/>
            </a:avLst>
          </a:prstGeom>
          <a:solidFill>
            <a:schemeClr val="accent4"/>
          </a:solidFill>
          <a:ln w="12700">
            <a:solidFill>
              <a:schemeClr val="accent4"/>
            </a:solidFill>
            <a:prstDash val="solid"/>
          </a:ln>
        </p:spPr>
      </p:sp>
      <p:sp>
        <p:nvSpPr>
          <p:cNvPr id="23" name="bar label 3"/>
          <p:cNvSpPr txBox="1"/>
          <p:nvPr/>
        </p:nvSpPr>
        <p:spPr>
          <a:xfrm>
            <a:off x="548640" y="3712464"/>
            <a:ext cx="2926080" cy="502920"/>
          </a:xfrm>
          <a:prstGeom prst="rect">
            <a:avLst/>
          </a:prstGeom>
          <a:noFill/>
          <a:ln/>
        </p:spPr>
        <p:txBody>
          <a:bodyPr wrap="square" lIns="0" tIns="0" rIns="0" bIns="0" rtlCol="0" anchor="ctr"/>
          <a:lstStyle/>
          <a:p>
            <a:pPr indent="0" marL="0">
              <a:buNone/>
            </a:pPr>
            <a:r>
              <a:rPr lang="en-US" sz="1200" dirty="0">
                <a:solidFill>
                  <a:schemeClr val="tx1"/>
                </a:solidFill>
              </a:rPr>
              <a:t>M4  Agent and FL polish; FL model used by the risk engine</a:t>
            </a:r>
            <a:endParaRPr lang="en-US" sz="1200" dirty="0"/>
          </a:p>
        </p:txBody>
      </p:sp>
      <p:sp>
        <p:nvSpPr>
          <p:cNvPr id="24" name="bar 3"/>
          <p:cNvSpPr/>
          <p:nvPr/>
        </p:nvSpPr>
        <p:spPr>
          <a:xfrm>
            <a:off x="8036560" y="3803904"/>
            <a:ext cx="2145792" cy="329184"/>
          </a:xfrm>
          <a:prstGeom prst="roundRect">
            <a:avLst>
              <a:gd name="adj" fmla="val 16667"/>
            </a:avLst>
          </a:prstGeom>
          <a:solidFill>
            <a:schemeClr val="accent5"/>
          </a:solidFill>
          <a:ln w="12700">
            <a:solidFill>
              <a:schemeClr val="accent5"/>
            </a:solidFill>
            <a:prstDash val="solid"/>
          </a:ln>
        </p:spPr>
      </p:sp>
      <p:sp>
        <p:nvSpPr>
          <p:cNvPr id="25" name="bar label 4"/>
          <p:cNvSpPr txBox="1"/>
          <p:nvPr/>
        </p:nvSpPr>
        <p:spPr>
          <a:xfrm>
            <a:off x="548640" y="4370832"/>
            <a:ext cx="2926080" cy="502920"/>
          </a:xfrm>
          <a:prstGeom prst="rect">
            <a:avLst/>
          </a:prstGeom>
          <a:noFill/>
          <a:ln/>
        </p:spPr>
        <p:txBody>
          <a:bodyPr wrap="square" lIns="0" tIns="0" rIns="0" bIns="0" rtlCol="0" anchor="ctr"/>
          <a:lstStyle/>
          <a:p>
            <a:pPr indent="0" marL="0">
              <a:buNone/>
            </a:pPr>
            <a:r>
              <a:rPr lang="en-US" sz="1200" dirty="0">
                <a:solidFill>
                  <a:schemeClr val="tx1"/>
                </a:solidFill>
              </a:rPr>
              <a:t>M5  ESP32 boards, user study, article, video, public repo</a:t>
            </a:r>
            <a:endParaRPr lang="en-US" sz="1200" dirty="0"/>
          </a:p>
        </p:txBody>
      </p:sp>
      <p:sp>
        <p:nvSpPr>
          <p:cNvPr id="26" name="bar 4"/>
          <p:cNvSpPr/>
          <p:nvPr/>
        </p:nvSpPr>
        <p:spPr>
          <a:xfrm>
            <a:off x="8751824" y="4462272"/>
            <a:ext cx="1966976" cy="329184"/>
          </a:xfrm>
          <a:prstGeom prst="roundRect">
            <a:avLst>
              <a:gd name="adj" fmla="val 16667"/>
            </a:avLst>
          </a:prstGeom>
          <a:solidFill>
            <a:schemeClr val="accent3"/>
          </a:solidFill>
          <a:ln w="12700">
            <a:solidFill>
              <a:schemeClr val="accent3"/>
            </a:solidFill>
            <a:prstDash val="solid"/>
          </a:ln>
        </p:spPr>
      </p:sp>
      <p:sp>
        <p:nvSpPr>
          <p:cNvPr id="27" name="bar label 5"/>
          <p:cNvSpPr txBox="1"/>
          <p:nvPr/>
        </p:nvSpPr>
        <p:spPr>
          <a:xfrm>
            <a:off x="548640" y="5029200"/>
            <a:ext cx="2926080" cy="502920"/>
          </a:xfrm>
          <a:prstGeom prst="rect">
            <a:avLst/>
          </a:prstGeom>
          <a:noFill/>
          <a:ln/>
        </p:spPr>
        <p:txBody>
          <a:bodyPr wrap="square" lIns="0" tIns="0" rIns="0" bIns="0" rtlCol="0" anchor="ctr"/>
          <a:lstStyle/>
          <a:p>
            <a:pPr indent="0" marL="0">
              <a:buNone/>
            </a:pPr>
            <a:r>
              <a:rPr lang="en-US" sz="1200" dirty="0">
                <a:solidFill>
                  <a:schemeClr val="tx1"/>
                </a:solidFill>
              </a:rPr>
              <a:t>Finals</a:t>
            </a:r>
            <a:endParaRPr lang="en-US" sz="1200" dirty="0"/>
          </a:p>
        </p:txBody>
      </p:sp>
      <p:sp>
        <p:nvSpPr>
          <p:cNvPr id="28" name="bar 5"/>
          <p:cNvSpPr/>
          <p:nvPr/>
        </p:nvSpPr>
        <p:spPr>
          <a:xfrm>
            <a:off x="11076432" y="5120640"/>
            <a:ext cx="536448" cy="329184"/>
          </a:xfrm>
          <a:prstGeom prst="roundRect">
            <a:avLst>
              <a:gd name="adj" fmla="val 16667"/>
            </a:avLst>
          </a:prstGeom>
          <a:solidFill>
            <a:schemeClr val="tx2"/>
          </a:solidFill>
          <a:ln w="12700">
            <a:solidFill>
              <a:schemeClr val="tx2"/>
            </a:solidFill>
            <a:prstDash val="solid"/>
          </a:ln>
        </p:spPr>
      </p:sp>
      <p:sp>
        <p:nvSpPr>
          <p:cNvPr id="29" name="deadline 0"/>
          <p:cNvSpPr/>
          <p:nvPr/>
        </p:nvSpPr>
        <p:spPr>
          <a:xfrm>
            <a:off x="5175504" y="1600200"/>
            <a:ext cx="0" cy="4069080"/>
          </a:xfrm>
          <a:prstGeom prst="line">
            <a:avLst/>
          </a:prstGeom>
          <a:noFill/>
          <a:ln w="19050">
            <a:solidFill>
              <a:schemeClr val="accent3"/>
            </a:solidFill>
            <a:prstDash val="dash"/>
          </a:ln>
        </p:spPr>
      </p:sp>
      <p:sp>
        <p:nvSpPr>
          <p:cNvPr id="30" name="deadline label 0"/>
          <p:cNvSpPr txBox="1"/>
          <p:nvPr/>
        </p:nvSpPr>
        <p:spPr>
          <a:xfrm>
            <a:off x="4352544" y="5715000"/>
            <a:ext cx="1645920" cy="274320"/>
          </a:xfrm>
          <a:prstGeom prst="rect">
            <a:avLst/>
          </a:prstGeom>
          <a:noFill/>
          <a:ln/>
        </p:spPr>
        <p:txBody>
          <a:bodyPr wrap="square" lIns="0" tIns="0" rIns="0" bIns="0" rtlCol="0" anchor="ctr"/>
          <a:lstStyle/>
          <a:p>
            <a:pPr algn="ctr" indent="0" marL="0">
              <a:buNone/>
            </a:pPr>
            <a:r>
              <a:rPr lang="en-US" sz="1100" b="1" dirty="0">
                <a:solidFill>
                  <a:schemeClr val="accent3"/>
                </a:solidFill>
              </a:rPr>
              <a:t>Oct 20 interim</a:t>
            </a:r>
            <a:endParaRPr lang="en-US" sz="1100" dirty="0"/>
          </a:p>
        </p:txBody>
      </p:sp>
      <p:sp>
        <p:nvSpPr>
          <p:cNvPr id="31" name="deadline 1"/>
          <p:cNvSpPr/>
          <p:nvPr/>
        </p:nvSpPr>
        <p:spPr>
          <a:xfrm>
            <a:off x="10718800" y="1600200"/>
            <a:ext cx="0" cy="4069080"/>
          </a:xfrm>
          <a:prstGeom prst="line">
            <a:avLst/>
          </a:prstGeom>
          <a:noFill/>
          <a:ln w="19050">
            <a:solidFill>
              <a:schemeClr val="accent3"/>
            </a:solidFill>
            <a:prstDash val="dash"/>
          </a:ln>
        </p:spPr>
      </p:sp>
      <p:sp>
        <p:nvSpPr>
          <p:cNvPr id="32" name="deadline label 1"/>
          <p:cNvSpPr txBox="1"/>
          <p:nvPr/>
        </p:nvSpPr>
        <p:spPr>
          <a:xfrm>
            <a:off x="9895840" y="5715000"/>
            <a:ext cx="1645920" cy="274320"/>
          </a:xfrm>
          <a:prstGeom prst="rect">
            <a:avLst/>
          </a:prstGeom>
          <a:noFill/>
          <a:ln/>
        </p:spPr>
        <p:txBody>
          <a:bodyPr wrap="square" lIns="0" tIns="0" rIns="0" bIns="0" rtlCol="0" anchor="ctr"/>
          <a:lstStyle/>
          <a:p>
            <a:pPr algn="ctr" indent="0" marL="0">
              <a:buNone/>
            </a:pPr>
            <a:r>
              <a:rPr lang="en-US" sz="1100" b="1" dirty="0">
                <a:solidFill>
                  <a:schemeClr val="accent3"/>
                </a:solidFill>
              </a:rPr>
              <a:t>Nov 20 code freeze</a:t>
            </a:r>
            <a:endParaRPr lang="en-US" sz="1100" dirty="0"/>
          </a:p>
        </p:txBody>
      </p:sp>
      <p:sp>
        <p:nvSpPr>
          <p:cNvPr id="33" name="legend"/>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100" dirty="0">
                <a:solidFill>
                  <a:schemeClr val="accent6"/>
                </a:solidFill>
              </a:rPr>
              <a:t>Built ahead of plan (Oct 11): SDT data model, CSE handover, federated learning, AI agent  ·  Blue: oneM2M depth  ·  Orange: MEC  ·  Green: AI  ·  Red: demo and communication</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Milestones, rubric criteria and acceptance checks</a:t>
            </a:r>
            <a:endParaRPr lang="en-US" sz="3000" dirty="0"/>
          </a:p>
        </p:txBody>
      </p:sp>
      <p:graphicFrame>
        <p:nvGraphicFramePr>
          <p:cNvPr id="15" name="milestone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371600"/>
                <a:gridCol w="4663440"/>
                <a:gridCol w="2377440"/>
                <a:gridCol w="2651760"/>
              </a:tblGrid>
              <a:tr h="0">
                <a:tc>
                  <a:txBody>
                    <a:bodyPr/>
                    <a:lstStyle/>
                    <a:p>
                      <a:pPr indent="0" marL="0">
                        <a:buNone/>
                      </a:pPr>
                      <a:r>
                        <a:rPr lang="en-US" sz="1200" b="1" dirty="0">
                          <a:solidFill>
                            <a:schemeClr val="bg1"/>
                          </a:solidFill>
                        </a:rPr>
                        <a:t>Milestone</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Deliverables</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Rubric criteria</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Done when</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tx1"/>
                          </a:solidFill>
                        </a:rPr>
                        <a:t>Done · Oct 11</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SDT flexContainers + SAREF; CSE handover (3–9 ms, 0 lost); FL through oneM2M (2 s error 0.60 → 0.49 m); safety agent over 4 MCP servers</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Data interop., CSE handover, FL, AI agents</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CI: check_sdt 6/6, handover 10/10 + 8/8, FL 8/8, agent 9/9</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0">
                <a:tc>
                  <a:txBody>
                    <a:bodyPr/>
                    <a:lstStyle/>
                    <a:p>
                      <a:pPr indent="0" marL="0">
                        <a:buNone/>
                      </a:pPr>
                      <a:r>
                        <a:rPr lang="en-US" sz="1200" dirty="0">
                          <a:solidFill>
                            <a:schemeClr val="tx1"/>
                          </a:solidFill>
                        </a:rPr>
                        <a:t>M2 · Oct 31</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&lt;group&gt; fan-out of alerts per zone; &lt;pollingChannel&gt; for tags; MQTT for devices, HTTP for apps; TLS</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Innovative use of oneM2M, Protocols, Security</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Same scenarios pass over MQTT; alerts reach tags behind NAT</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0">
                <a:tc>
                  <a:txBody>
                    <a:bodyPr/>
                    <a:lstStyle/>
                    <a:p>
                      <a:pPr indent="0" marL="0">
                        <a:buNone/>
                      </a:pPr>
                      <a:r>
                        <a:rPr lang="en-US" sz="1200" dirty="0">
                          <a:solidFill>
                            <a:schemeClr val="tx1"/>
                          </a:solidFill>
                        </a:rPr>
                        <a:t>M3 · Nov 10</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MEC Location zone subscriptions → geofence events in oneM2M and handover trigger; bidirectional MEC–oneM2M; multi-host</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Geolocation, MEC services, Deployment</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Zone event triggers a handover in a scripted run</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0">
                <a:tc>
                  <a:txBody>
                    <a:bodyPr/>
                    <a:lstStyle/>
                    <a:p>
                      <a:pPr indent="0" marL="0">
                        <a:buNone/>
                      </a:pPr>
                      <a:r>
                        <a:rPr lang="en-US" sz="1200" dirty="0">
                          <a:solidFill>
                            <a:schemeClr val="tx1"/>
                          </a:solidFill>
                        </a:rPr>
                        <a:t>M4 · Nov 17</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Learned worker-motion model delivered to the MEC apps; agent questions with Claude</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Federated learning, AI agents</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Risk engine uses the federated model; agent answers validated</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0">
                <a:tc>
                  <a:txBody>
                    <a:bodyPr/>
                    <a:lstStyle/>
                    <a:p>
                      <a:pPr indent="0" marL="0">
                        <a:buNone/>
                      </a:pPr>
                      <a:r>
                        <a:rPr lang="en-US" sz="1200" dirty="0">
                          <a:solidFill>
                            <a:schemeClr val="tx1"/>
                          </a:solidFill>
                        </a:rPr>
                        <a:t>M5 · Nov 20</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ESP32 board demo; user study (10+); hackster.io article; final video; public GitHub</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Article, Video, GitHub, Promotion</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200" dirty="0">
                          <a:solidFill>
                            <a:schemeClr val="tx1"/>
                          </a:solidFill>
                        </a:rPr>
                        <a:t>Article published; repo public; video under 3 min</a:t>
                      </a:r>
                      <a:endParaRPr lang="en-US" sz="1200" dirty="0"/>
                    </a:p>
                  </a:txBody>
                  <a:tcPr marL="91440" marR="91440"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Risks and mitigations</a:t>
            </a:r>
            <a:endParaRPr lang="en-US" sz="3000" dirty="0"/>
          </a:p>
        </p:txBody>
      </p:sp>
      <p:sp>
        <p:nvSpPr>
          <p:cNvPr id="3" name="risk row 0"/>
          <p:cNvSpPr/>
          <p:nvPr/>
        </p:nvSpPr>
        <p:spPr>
          <a:xfrm>
            <a:off x="548640" y="1280160"/>
            <a:ext cx="11064240" cy="822960"/>
          </a:xfrm>
          <a:prstGeom prst="roundRect">
            <a:avLst>
              <a:gd name="adj" fmla="val 8889"/>
            </a:avLst>
          </a:prstGeom>
          <a:solidFill>
            <a:schemeClr val="bg2"/>
          </a:solidFill>
          <a:ln w="12700">
            <a:solidFill>
              <a:schemeClr val="bg2"/>
            </a:solidFill>
            <a:prstDash val="solid"/>
          </a:ln>
        </p:spPr>
      </p:sp>
      <p:sp>
        <p:nvSpPr>
          <p:cNvPr id="4" name="risk 0"/>
          <p:cNvSpPr txBox="1"/>
          <p:nvPr/>
        </p:nvSpPr>
        <p:spPr>
          <a:xfrm>
            <a:off x="822960" y="1280160"/>
            <a:ext cx="4572000" cy="822960"/>
          </a:xfrm>
          <a:prstGeom prst="rect">
            <a:avLst/>
          </a:prstGeom>
          <a:noFill/>
          <a:ln/>
        </p:spPr>
        <p:txBody>
          <a:bodyPr wrap="square" lIns="0" tIns="0" rIns="0" bIns="0" rtlCol="0" anchor="ctr"/>
          <a:lstStyle/>
          <a:p>
            <a:pPr indent="0" marL="0">
              <a:buNone/>
            </a:pPr>
            <a:r>
              <a:rPr lang="en-US" sz="1500" b="1" dirty="0">
                <a:solidFill>
                  <a:schemeClr val="tx2"/>
                </a:solidFill>
              </a:rPr>
              <a:t>Scope: many features in five weeks</a:t>
            </a:r>
            <a:endParaRPr lang="en-US" sz="1500" dirty="0"/>
          </a:p>
        </p:txBody>
      </p:sp>
      <p:sp>
        <p:nvSpPr>
          <p:cNvPr id="5" name="mitigation 0"/>
          <p:cNvSpPr txBox="1"/>
          <p:nvPr/>
        </p:nvSpPr>
        <p:spPr>
          <a:xfrm>
            <a:off x="5577840" y="1280160"/>
            <a:ext cx="5852160" cy="822960"/>
          </a:xfrm>
          <a:prstGeom prst="rect">
            <a:avLst/>
          </a:prstGeom>
          <a:noFill/>
          <a:ln/>
        </p:spPr>
        <p:txBody>
          <a:bodyPr wrap="square" lIns="0" tIns="0" rIns="0" bIns="0" rtlCol="0" anchor="ctr"/>
          <a:lstStyle/>
          <a:p>
            <a:pPr indent="0" marL="0">
              <a:buNone/>
            </a:pPr>
            <a:r>
              <a:rPr lang="en-US" sz="1400" dirty="0">
                <a:solidFill>
                  <a:schemeClr val="tx1"/>
                </a:solidFill>
              </a:rPr>
              <a:t>Ordered by rubric impact; each feature lands with a CI test, so the working demo never breaks</a:t>
            </a:r>
            <a:endParaRPr lang="en-US" sz="1400" dirty="0"/>
          </a:p>
        </p:txBody>
      </p:sp>
      <p:sp>
        <p:nvSpPr>
          <p:cNvPr id="6" name="risk row 1"/>
          <p:cNvSpPr/>
          <p:nvPr/>
        </p:nvSpPr>
        <p:spPr>
          <a:xfrm>
            <a:off x="548640" y="2240280"/>
            <a:ext cx="11064240" cy="822960"/>
          </a:xfrm>
          <a:prstGeom prst="roundRect">
            <a:avLst>
              <a:gd name="adj" fmla="val 8889"/>
            </a:avLst>
          </a:prstGeom>
          <a:solidFill>
            <a:schemeClr val="bg2"/>
          </a:solidFill>
          <a:ln w="12700">
            <a:solidFill>
              <a:schemeClr val="bg2"/>
            </a:solidFill>
            <a:prstDash val="solid"/>
          </a:ln>
        </p:spPr>
      </p:sp>
      <p:sp>
        <p:nvSpPr>
          <p:cNvPr id="7" name="risk 1"/>
          <p:cNvSpPr txBox="1"/>
          <p:nvPr/>
        </p:nvSpPr>
        <p:spPr>
          <a:xfrm>
            <a:off x="822960" y="2240280"/>
            <a:ext cx="4572000" cy="822960"/>
          </a:xfrm>
          <a:prstGeom prst="rect">
            <a:avLst/>
          </a:prstGeom>
          <a:noFill/>
          <a:ln/>
        </p:spPr>
        <p:txBody>
          <a:bodyPr wrap="square" lIns="0" tIns="0" rIns="0" bIns="0" rtlCol="0" anchor="ctr"/>
          <a:lstStyle/>
          <a:p>
            <a:pPr indent="0" marL="0">
              <a:buNone/>
            </a:pPr>
            <a:r>
              <a:rPr lang="en-US" sz="1500" b="1" dirty="0">
                <a:solidFill>
                  <a:schemeClr val="tx2"/>
                </a:solidFill>
              </a:rPr>
              <a:t>CSE feature support differs (pollingChannel, FlexContainer, MQTT)</a:t>
            </a:r>
            <a:endParaRPr lang="en-US" sz="1500" dirty="0"/>
          </a:p>
        </p:txBody>
      </p:sp>
      <p:sp>
        <p:nvSpPr>
          <p:cNvPr id="8" name="mitigation 1"/>
          <p:cNvSpPr txBox="1"/>
          <p:nvPr/>
        </p:nvSpPr>
        <p:spPr>
          <a:xfrm>
            <a:off x="5577840" y="2240280"/>
            <a:ext cx="5852160" cy="822960"/>
          </a:xfrm>
          <a:prstGeom prst="rect">
            <a:avLst/>
          </a:prstGeom>
          <a:noFill/>
          <a:ln/>
        </p:spPr>
        <p:txBody>
          <a:bodyPr wrap="square" lIns="0" tIns="0" rIns="0" bIns="0" rtlCol="0" anchor="ctr"/>
          <a:lstStyle/>
          <a:p>
            <a:pPr indent="0" marL="0">
              <a:buNone/>
            </a:pPr>
            <a:r>
              <a:rPr lang="en-US" sz="1400" dirty="0">
                <a:solidFill>
                  <a:schemeClr val="tx1"/>
                </a:solidFill>
              </a:rPr>
              <a:t>Advanced features on ACME first; Mobius kept for the base flow; differences documented</a:t>
            </a:r>
            <a:endParaRPr lang="en-US" sz="1400" dirty="0"/>
          </a:p>
        </p:txBody>
      </p:sp>
      <p:sp>
        <p:nvSpPr>
          <p:cNvPr id="9" name="risk row 2"/>
          <p:cNvSpPr/>
          <p:nvPr/>
        </p:nvSpPr>
        <p:spPr>
          <a:xfrm>
            <a:off x="548640" y="3200400"/>
            <a:ext cx="11064240" cy="822960"/>
          </a:xfrm>
          <a:prstGeom prst="roundRect">
            <a:avLst>
              <a:gd name="adj" fmla="val 8889"/>
            </a:avLst>
          </a:prstGeom>
          <a:solidFill>
            <a:schemeClr val="bg2"/>
          </a:solidFill>
          <a:ln w="12700">
            <a:solidFill>
              <a:schemeClr val="bg2"/>
            </a:solidFill>
            <a:prstDash val="solid"/>
          </a:ln>
        </p:spPr>
      </p:sp>
      <p:sp>
        <p:nvSpPr>
          <p:cNvPr id="10" name="risk 2"/>
          <p:cNvSpPr txBox="1"/>
          <p:nvPr/>
        </p:nvSpPr>
        <p:spPr>
          <a:xfrm>
            <a:off x="822960" y="3200400"/>
            <a:ext cx="4572000" cy="822960"/>
          </a:xfrm>
          <a:prstGeom prst="rect">
            <a:avLst/>
          </a:prstGeom>
          <a:noFill/>
          <a:ln/>
        </p:spPr>
        <p:txBody>
          <a:bodyPr wrap="square" lIns="0" tIns="0" rIns="0" bIns="0" rtlCol="0" anchor="ctr"/>
          <a:lstStyle/>
          <a:p>
            <a:pPr indent="0" marL="0">
              <a:buNone/>
            </a:pPr>
            <a:r>
              <a:rPr lang="en-US" sz="1500" b="1" dirty="0">
                <a:solidFill>
                  <a:schemeClr val="tx2"/>
                </a:solidFill>
              </a:rPr>
              <a:t>Hardware delivery or wiring issues</a:t>
            </a:r>
            <a:endParaRPr lang="en-US" sz="1500" dirty="0"/>
          </a:p>
        </p:txBody>
      </p:sp>
      <p:sp>
        <p:nvSpPr>
          <p:cNvPr id="11" name="mitigation 2"/>
          <p:cNvSpPr txBox="1"/>
          <p:nvPr/>
        </p:nvSpPr>
        <p:spPr>
          <a:xfrm>
            <a:off x="5577840" y="3200400"/>
            <a:ext cx="5852160" cy="822960"/>
          </a:xfrm>
          <a:prstGeom prst="rect">
            <a:avLst/>
          </a:prstGeom>
          <a:noFill/>
          <a:ln/>
        </p:spPr>
        <p:txBody>
          <a:bodyPr wrap="square" lIns="0" tIns="0" rIns="0" bIns="0" rtlCol="0" anchor="ctr"/>
          <a:lstStyle/>
          <a:p>
            <a:pPr indent="0" marL="0">
              <a:buNone/>
            </a:pPr>
            <a:r>
              <a:rPr lang="en-US" sz="1400" dirty="0">
                <a:solidFill>
                  <a:schemeClr val="tx1"/>
                </a:solidFill>
              </a:rPr>
              <a:t>Firmware already verified against a real CSE in CI; boards only replace the PC runtime</a:t>
            </a:r>
            <a:endParaRPr lang="en-US" sz="1400" dirty="0"/>
          </a:p>
        </p:txBody>
      </p:sp>
      <p:sp>
        <p:nvSpPr>
          <p:cNvPr id="12" name="risk row 3"/>
          <p:cNvSpPr/>
          <p:nvPr/>
        </p:nvSpPr>
        <p:spPr>
          <a:xfrm>
            <a:off x="548640" y="4160520"/>
            <a:ext cx="11064240" cy="822960"/>
          </a:xfrm>
          <a:prstGeom prst="roundRect">
            <a:avLst>
              <a:gd name="adj" fmla="val 8889"/>
            </a:avLst>
          </a:prstGeom>
          <a:solidFill>
            <a:schemeClr val="bg2"/>
          </a:solidFill>
          <a:ln w="12700">
            <a:solidFill>
              <a:schemeClr val="bg2"/>
            </a:solidFill>
            <a:prstDash val="solid"/>
          </a:ln>
        </p:spPr>
      </p:sp>
      <p:sp>
        <p:nvSpPr>
          <p:cNvPr id="13" name="risk 3"/>
          <p:cNvSpPr txBox="1"/>
          <p:nvPr/>
        </p:nvSpPr>
        <p:spPr>
          <a:xfrm>
            <a:off x="822960" y="4160520"/>
            <a:ext cx="4572000" cy="822960"/>
          </a:xfrm>
          <a:prstGeom prst="rect">
            <a:avLst/>
          </a:prstGeom>
          <a:noFill/>
          <a:ln/>
        </p:spPr>
        <p:txBody>
          <a:bodyPr wrap="square" lIns="0" tIns="0" rIns="0" bIns="0" rtlCol="0" anchor="ctr"/>
          <a:lstStyle/>
          <a:p>
            <a:pPr indent="0" marL="0">
              <a:buNone/>
            </a:pPr>
            <a:r>
              <a:rPr lang="en-US" sz="1500" b="1" dirty="0">
                <a:solidFill>
                  <a:schemeClr val="tx2"/>
                </a:solidFill>
              </a:rPr>
              <a:t>Human behaviour is modelled, not measured</a:t>
            </a:r>
            <a:endParaRPr lang="en-US" sz="1500" dirty="0"/>
          </a:p>
        </p:txBody>
      </p:sp>
      <p:sp>
        <p:nvSpPr>
          <p:cNvPr id="14" name="mitigation 3"/>
          <p:cNvSpPr txBox="1"/>
          <p:nvPr/>
        </p:nvSpPr>
        <p:spPr>
          <a:xfrm>
            <a:off x="5577840" y="4160520"/>
            <a:ext cx="5852160" cy="822960"/>
          </a:xfrm>
          <a:prstGeom prst="rect">
            <a:avLst/>
          </a:prstGeom>
          <a:noFill/>
          <a:ln/>
        </p:spPr>
        <p:txBody>
          <a:bodyPr wrap="square" lIns="0" tIns="0" rIns="0" bIns="0" rtlCol="0" anchor="ctr"/>
          <a:lstStyle/>
          <a:p>
            <a:pPr indent="0" marL="0">
              <a:buNone/>
            </a:pPr>
            <a:r>
              <a:rPr lang="en-US" sz="1400" dirty="0">
                <a:solidFill>
                  <a:schemeClr val="tx1"/>
                </a:solidFill>
              </a:rPr>
              <a:t>User study with a phone tag; measured compliance fed back into the simulation</a:t>
            </a:r>
            <a:endParaRPr lang="en-US" sz="1400" dirty="0"/>
          </a:p>
        </p:txBody>
      </p:sp>
      <p:sp>
        <p:nvSpPr>
          <p:cNvPr id="15" name="risk row 4"/>
          <p:cNvSpPr/>
          <p:nvPr/>
        </p:nvSpPr>
        <p:spPr>
          <a:xfrm>
            <a:off x="548640" y="5120640"/>
            <a:ext cx="11064240" cy="822960"/>
          </a:xfrm>
          <a:prstGeom prst="roundRect">
            <a:avLst>
              <a:gd name="adj" fmla="val 8889"/>
            </a:avLst>
          </a:prstGeom>
          <a:solidFill>
            <a:schemeClr val="bg2"/>
          </a:solidFill>
          <a:ln w="12700">
            <a:solidFill>
              <a:schemeClr val="bg2"/>
            </a:solidFill>
            <a:prstDash val="solid"/>
          </a:ln>
        </p:spPr>
      </p:sp>
      <p:sp>
        <p:nvSpPr>
          <p:cNvPr id="16" name="risk 4"/>
          <p:cNvSpPr txBox="1"/>
          <p:nvPr/>
        </p:nvSpPr>
        <p:spPr>
          <a:xfrm>
            <a:off x="822960" y="5120640"/>
            <a:ext cx="4572000" cy="822960"/>
          </a:xfrm>
          <a:prstGeom prst="rect">
            <a:avLst/>
          </a:prstGeom>
          <a:noFill/>
          <a:ln/>
        </p:spPr>
        <p:txBody>
          <a:bodyPr wrap="square" lIns="0" tIns="0" rIns="0" bIns="0" rtlCol="0" anchor="ctr"/>
          <a:lstStyle/>
          <a:p>
            <a:pPr indent="0" marL="0">
              <a:buNone/>
            </a:pPr>
            <a:r>
              <a:rPr lang="en-US" sz="1500" b="1" dirty="0">
                <a:solidFill>
                  <a:schemeClr val="tx2"/>
                </a:solidFill>
              </a:rPr>
              <a:t>Sandbox availability</a:t>
            </a:r>
            <a:endParaRPr lang="en-US" sz="1500" dirty="0"/>
          </a:p>
        </p:txBody>
      </p:sp>
      <p:sp>
        <p:nvSpPr>
          <p:cNvPr id="17" name="mitigation 4"/>
          <p:cNvSpPr txBox="1"/>
          <p:nvPr/>
        </p:nvSpPr>
        <p:spPr>
          <a:xfrm>
            <a:off x="5577840" y="5120640"/>
            <a:ext cx="5852160" cy="822960"/>
          </a:xfrm>
          <a:prstGeom prst="rect">
            <a:avLst/>
          </a:prstGeom>
          <a:noFill/>
          <a:ln/>
        </p:spPr>
        <p:txBody>
          <a:bodyPr wrap="square" lIns="0" tIns="0" rIns="0" bIns="0" rtlCol="0" anchor="ctr"/>
          <a:lstStyle/>
          <a:p>
            <a:pPr indent="0" marL="0">
              <a:buNone/>
            </a:pPr>
            <a:r>
              <a:rPr lang="en-US" sz="1400" dirty="0">
                <a:solidFill>
                  <a:schemeClr val="tx1"/>
                </a:solidFill>
              </a:rPr>
              <a:t>Self-hosted AdvantEDGE and a local MEC mock run the same scenarios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8686800" cy="1463040"/>
          </a:xfrm>
          <a:prstGeom prst="rect">
            <a:avLst/>
          </a:prstGeom>
          <a:noFill/>
          <a:ln/>
        </p:spPr>
        <p:txBody>
          <a:bodyPr wrap="square" lIns="0" tIns="0" rIns="0" bIns="0" rtlCol="0" anchor="b"/>
          <a:lstStyle/>
          <a:p>
            <a:pPr algn="l" indent="0" marL="0">
              <a:buNone/>
            </a:pPr>
            <a:r>
              <a:rPr lang="en-US" sz="4800" b="1" dirty="0">
                <a:solidFill>
                  <a:schemeClr val="bg1"/>
                </a:solidFill>
              </a:rPr>
              <a:t>Next: deeper oneM2M, continuity across MEC zones, and a real-world demo</a:t>
            </a:r>
            <a:endParaRPr lang="en-US" sz="4800" dirty="0"/>
          </a:p>
        </p:txBody>
      </p:sp>
      <p:sp>
        <p:nvSpPr>
          <p:cNvPr id="3" name="Text 0"/>
          <p:cNvSpPr/>
          <p:nvPr>
            <p:ph idx="101" type="body" hasCustomPrompt="1"/>
          </p:nvPr>
        </p:nvSpPr>
        <p:spPr>
          <a:xfrm>
            <a:off x="731520" y="3657600"/>
            <a:ext cx="8686800" cy="1097280"/>
          </a:xfrm>
          <a:prstGeom prst="rect">
            <a:avLst/>
          </a:prstGeom>
          <a:noFill/>
          <a:ln/>
        </p:spPr>
        <p:txBody>
          <a:bodyPr wrap="square" lIns="0" tIns="0" rIns="0" bIns="0" rtlCol="0" anchor="t"/>
          <a:lstStyle/>
          <a:p>
            <a:pPr algn="l" indent="0" marL="0">
              <a:buNone/>
            </a:pPr>
            <a:r>
              <a:rPr lang="en-US" sz="2000" dirty="0">
                <a:solidFill>
                  <a:schemeClr val="bg2"/>
                </a:solidFill>
              </a:rPr>
              <a:t>Team EdgeGuard · Sejong University</a:t>
            </a:r>
            <a:endParaRPr lang="en-US" sz="2000" dirty="0"/>
          </a:p>
          <a:p>
            <a:pPr algn="l" indent="0" marL="0">
              <a:buNone/>
            </a:pPr>
            <a:r>
              <a:rPr lang="en-US" sz="2000" dirty="0">
                <a:solidFill>
                  <a:schemeClr val="bg2"/>
                </a:solidFill>
              </a:rPr>
              <a:t>Thank you</a:t>
            </a:r>
            <a:endParaRPr lang="en-US" sz="2000" dirty="0"/>
          </a:p>
        </p:txBody>
      </p:sp>
      <p:sp>
        <p:nvSpPr>
          <p:cNvPr id="4" name="end band WAIT"/>
          <p:cNvSpPr/>
          <p:nvPr/>
        </p:nvSpPr>
        <p:spPr>
          <a:xfrm>
            <a:off x="9784080" y="0"/>
            <a:ext cx="777240" cy="6858000"/>
          </a:xfrm>
          <a:prstGeom prst="rect">
            <a:avLst/>
          </a:prstGeom>
          <a:solidFill>
            <a:schemeClr val="accent3"/>
          </a:solidFill>
          <a:ln w="12700">
            <a:solidFill>
              <a:schemeClr val="accent3"/>
            </a:solidFill>
            <a:prstDash val="solid"/>
          </a:ln>
        </p:spPr>
      </p:sp>
      <p:sp>
        <p:nvSpPr>
          <p:cNvPr id="5" name="end band ASIDE"/>
          <p:cNvSpPr/>
          <p:nvPr/>
        </p:nvSpPr>
        <p:spPr>
          <a:xfrm>
            <a:off x="10561320" y="0"/>
            <a:ext cx="777240" cy="6858000"/>
          </a:xfrm>
          <a:prstGeom prst="rect">
            <a:avLst/>
          </a:prstGeom>
          <a:solidFill>
            <a:schemeClr val="accent4"/>
          </a:solidFill>
          <a:ln w="12700">
            <a:solidFill>
              <a:schemeClr val="accent4"/>
            </a:solidFill>
            <a:prstDash val="solid"/>
          </a:ln>
        </p:spPr>
      </p:sp>
      <p:sp>
        <p:nvSpPr>
          <p:cNvPr id="6" name="end band GO"/>
          <p:cNvSpPr/>
          <p:nvPr/>
        </p:nvSpPr>
        <p:spPr>
          <a:xfrm>
            <a:off x="11338560" y="0"/>
            <a:ext cx="777240" cy="6858000"/>
          </a:xfrm>
          <a:prstGeom prst="rect">
            <a:avLst/>
          </a:prstGeom>
          <a:solidFill>
            <a:schemeClr val="accent5"/>
          </a:solidFill>
          <a:ln w="12700">
            <a:solidFill>
              <a:schemeClr val="accent5"/>
            </a:solidFill>
            <a:prstDash val="solid"/>
          </a:ln>
        </p:spPr>
      </p:sp>
    </p:spTree>
  </p:cSld>
  <p:clrMapOvr>
    <a:masterClrMapping/>
  </p:clrMapOvr>
</p:sld>
</file>

<file path=ppt/theme/theme1.xml><?xml version="1.0" encoding="utf-8"?>
<a:theme xmlns:a="http://schemas.openxmlformats.org/drawingml/2006/main" name="EdgeGuard">
  <a:themeElements>
    <a:clrScheme name="EdgeGuard">
      <a:dk1>
        <a:srgbClr val="18212B"/>
      </a:dk1>
      <a:lt1>
        <a:srgbClr val="FFFFFF"/>
      </a:lt1>
      <a:dk2>
        <a:srgbClr val="121C26"/>
      </a:dk2>
      <a:lt2>
        <a:srgbClr val="EEF1F4"/>
      </a:lt2>
      <a:accent1>
        <a:srgbClr val="F2A900"/>
      </a:accent1>
      <a:accent2>
        <a:srgbClr val="2F6FD0"/>
      </a:accent2>
      <a:accent3>
        <a:srgbClr val="C62828"/>
      </a:accent3>
      <a:accent4>
        <a:srgbClr val="B84A06"/>
      </a:accent4>
      <a:accent5>
        <a:srgbClr val="2E7D32"/>
      </a:accent5>
      <a:accent6>
        <a:srgbClr val="5A6573"/>
      </a:accent6>
      <a:hlink>
        <a:srgbClr val="2F6FD0"/>
      </a:hlink>
      <a:folHlink>
        <a:srgbClr val="5A6573"/>
      </a:folHlink>
    </a:clrScheme>
    <a:fontScheme name="EdgeGua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EdgeGuard - Interim Use Case and Architecture Report</dc:title>
  <dc:subject>PptxGenJS Presentation</dc:subject>
  <dc:creator>Team EdgeGuard</dc:creator>
  <cp:lastModifiedBy>Team EdgeGuard</cp:lastModifiedBy>
  <cp:revision>1</cp:revision>
  <dcterms:created xsi:type="dcterms:W3CDTF">2026-10-11T00:00:50Z</dcterms:created>
  <dcterms:modified xsi:type="dcterms:W3CDTF">2026-10-11T00:00:50Z</dcterms:modified>
</cp:coreProperties>
</file>